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827"/>
    <p:restoredTop sz="94610"/>
  </p:normalViewPr>
  <p:slideViewPr>
    <p:cSldViewPr snapToGrid="0" snapToObjects="1">
      <p:cViewPr varScale="1">
        <p:scale>
          <a:sx n="95" d="100"/>
          <a:sy n="95" d="100"/>
        </p:scale>
        <p:origin x="720"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2428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7.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6.jp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8.jpg"/><Relationship Id="rId5" Type="http://schemas.openxmlformats.org/officeDocument/2006/relationships/image" Target="../media/image4.png"/><Relationship Id="rId4" Type="http://schemas.openxmlformats.org/officeDocument/2006/relationships/image" Target="../media/image17.jpg"/></Relationships>
</file>

<file path=ppt/slides/_rels/slide8.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0.jp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2.jpg"/></Relationships>
</file>

<file path=ppt/slides/_rels/slide10.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4.jp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2.jpg"/></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28.jp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0.jpg"/></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4.jpg"/><Relationship Id="rId5" Type="http://schemas.openxmlformats.org/officeDocument/2006/relationships/image" Target="../media/image33.png"/><Relationship Id="rId4" Type="http://schemas.openxmlformats.org/officeDocument/2006/relationships/image" Target="../media/image32.jpg"/></Relationships>
</file>

<file path=ppt/slides/_rels/slide1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6.jp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38.jpg"/><Relationship Id="rId4" Type="http://schemas.openxmlformats.org/officeDocument/2006/relationships/image" Target="../media/image37.jpg"/></Relationships>
</file>

<file path=ppt/slides/_rels/slide18.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41.jpg"/></Relationships>
</file>

<file path=ppt/slides/_rels/slide2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44.jpg"/><Relationship Id="rId4" Type="http://schemas.openxmlformats.org/officeDocument/2006/relationships/image" Target="../media/image43.jpg"/></Relationships>
</file>

<file path=ppt/slides/_rels/slide21.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45.jpg"/></Relationships>
</file>

<file path=ppt/slides/_rels/slide22.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47.jpg"/></Relationships>
</file>

<file path=ppt/slides/_rels/slide23.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49.jpg"/></Relationships>
</file>

<file path=ppt/slides/_rels/slide24.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51.jpg"/></Relationships>
</file>

<file path=ppt/slides/_rels/slide25.xml.rels><?xml version="1.0" encoding="UTF-8" standalone="yes"?>
<Relationships xmlns="http://schemas.openxmlformats.org/package/2006/relationships"><Relationship Id="rId3" Type="http://schemas.openxmlformats.org/officeDocument/2006/relationships/image" Target="../media/image52.png"/><Relationship Id="rId7"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21.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DE8D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6A085"/>
          </a:solidFill>
          <a:ln/>
        </p:spPr>
        <p:txBody>
          <a:bodyPr/>
          <a:lstStyle/>
          <a:p>
            <a:endParaRPr lang="en-US"/>
          </a:p>
        </p:txBody>
      </p:sp>
      <p:sp>
        <p:nvSpPr>
          <p:cNvPr id="3" name="Shape 1"/>
          <p:cNvSpPr/>
          <p:nvPr/>
        </p:nvSpPr>
        <p:spPr>
          <a:xfrm>
            <a:off x="5943600" y="-1371600"/>
            <a:ext cx="5486400" cy="5486400"/>
          </a:xfrm>
          <a:prstGeom prst="ellipse">
            <a:avLst/>
          </a:prstGeom>
          <a:solidFill>
            <a:srgbClr val="F8F4EC">
              <a:alpha val="50000"/>
            </a:srgbClr>
          </a:solidFill>
          <a:ln/>
        </p:spPr>
        <p:txBody>
          <a:bodyPr/>
          <a:lstStyle/>
          <a:p>
            <a:endParaRPr lang="en-US"/>
          </a:p>
        </p:txBody>
      </p:sp>
      <p:sp>
        <p:nvSpPr>
          <p:cNvPr id="4" name="Shape 2"/>
          <p:cNvSpPr/>
          <p:nvPr/>
        </p:nvSpPr>
        <p:spPr>
          <a:xfrm>
            <a:off x="6858000" y="914400"/>
            <a:ext cx="3657600" cy="3657600"/>
          </a:xfrm>
          <a:prstGeom prst="ellipse">
            <a:avLst/>
          </a:prstGeom>
          <a:solidFill>
            <a:srgbClr val="16A085">
              <a:alpha val="20000"/>
            </a:srgbClr>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731520" y="822960"/>
            <a:ext cx="548640" cy="548640"/>
          </a:xfrm>
          <a:prstGeom prst="rect">
            <a:avLst/>
          </a:prstGeom>
        </p:spPr>
      </p:pic>
      <p:sp>
        <p:nvSpPr>
          <p:cNvPr id="6" name="Text 3"/>
          <p:cNvSpPr/>
          <p:nvPr/>
        </p:nvSpPr>
        <p:spPr>
          <a:xfrm>
            <a:off x="1371600" y="640080"/>
            <a:ext cx="5486400" cy="914400"/>
          </a:xfrm>
          <a:prstGeom prst="rect">
            <a:avLst/>
          </a:prstGeom>
          <a:noFill/>
          <a:ln/>
        </p:spPr>
        <p:txBody>
          <a:bodyPr wrap="square" lIns="0" tIns="0" rIns="0" bIns="0" rtlCol="0" anchor="ctr"/>
          <a:lstStyle/>
          <a:p>
            <a:pPr marL="0" indent="0">
              <a:buNone/>
            </a:pPr>
            <a:r>
              <a:rPr lang="en-US" sz="4400" b="1" kern="0" spc="400" dirty="0">
                <a:solidFill>
                  <a:srgbClr val="1A2B4A"/>
                </a:solidFill>
                <a:latin typeface="Georgia" pitchFamily="34" charset="0"/>
                <a:ea typeface="Georgia" pitchFamily="34" charset="-122"/>
                <a:cs typeface="Georgia" pitchFamily="34" charset="-120"/>
              </a:rPr>
              <a:t>TASKMATCH</a:t>
            </a:r>
            <a:endParaRPr lang="en-US" sz="4400" dirty="0"/>
          </a:p>
        </p:txBody>
      </p:sp>
      <p:sp>
        <p:nvSpPr>
          <p:cNvPr id="7" name="Text 4"/>
          <p:cNvSpPr/>
          <p:nvPr/>
        </p:nvSpPr>
        <p:spPr>
          <a:xfrm>
            <a:off x="731520" y="1554480"/>
            <a:ext cx="5943600" cy="914400"/>
          </a:xfrm>
          <a:prstGeom prst="rect">
            <a:avLst/>
          </a:prstGeom>
          <a:noFill/>
          <a:ln/>
        </p:spPr>
        <p:txBody>
          <a:bodyPr wrap="square" lIns="0" tIns="0" rIns="0" bIns="0" rtlCol="0" anchor="ctr"/>
          <a:lstStyle/>
          <a:p>
            <a:pPr marL="0" indent="0">
              <a:lnSpc>
                <a:spcPct val="130000"/>
              </a:lnSpc>
              <a:buNone/>
            </a:pPr>
            <a:r>
              <a:rPr lang="en-US" sz="1600" dirty="0">
                <a:solidFill>
                  <a:srgbClr val="1A6B5A"/>
                </a:solidFill>
                <a:latin typeface="Calibri" pitchFamily="34" charset="0"/>
                <a:ea typeface="Calibri" pitchFamily="34" charset="-122"/>
                <a:cs typeface="Calibri" pitchFamily="34" charset="-120"/>
              </a:rPr>
              <a:t>Design &amp; Deployment of a Scalable, Highly Available</a:t>
            </a:r>
            <a:endParaRPr lang="en-US" sz="1600" dirty="0"/>
          </a:p>
          <a:p>
            <a:pPr marL="0" indent="0">
              <a:lnSpc>
                <a:spcPct val="130000"/>
              </a:lnSpc>
              <a:buNone/>
            </a:pPr>
            <a:r>
              <a:rPr lang="en-US" sz="1600" dirty="0">
                <a:solidFill>
                  <a:srgbClr val="1A6B5A"/>
                </a:solidFill>
                <a:latin typeface="Calibri" pitchFamily="34" charset="0"/>
                <a:ea typeface="Calibri" pitchFamily="34" charset="-122"/>
                <a:cs typeface="Calibri" pitchFamily="34" charset="-120"/>
              </a:rPr>
              <a:t>Web Application on AWS</a:t>
            </a:r>
            <a:endParaRPr lang="en-US" sz="1600" dirty="0"/>
          </a:p>
        </p:txBody>
      </p:sp>
      <p:sp>
        <p:nvSpPr>
          <p:cNvPr id="8" name="Shape 5"/>
          <p:cNvSpPr/>
          <p:nvPr/>
        </p:nvSpPr>
        <p:spPr>
          <a:xfrm>
            <a:off x="731520" y="2756648"/>
            <a:ext cx="1828800" cy="36576"/>
          </a:xfrm>
          <a:prstGeom prst="rect">
            <a:avLst/>
          </a:prstGeom>
          <a:solidFill>
            <a:srgbClr val="16A085"/>
          </a:solidFill>
          <a:ln/>
        </p:spPr>
        <p:txBody>
          <a:bodyPr/>
          <a:lstStyle/>
          <a:p>
            <a:endParaRPr lang="en-US"/>
          </a:p>
        </p:txBody>
      </p:sp>
      <p:sp>
        <p:nvSpPr>
          <p:cNvPr id="9" name="Text 6"/>
          <p:cNvSpPr/>
          <p:nvPr/>
        </p:nvSpPr>
        <p:spPr>
          <a:xfrm>
            <a:off x="731520" y="2926080"/>
            <a:ext cx="4572000" cy="457200"/>
          </a:xfrm>
          <a:prstGeom prst="rect">
            <a:avLst/>
          </a:prstGeom>
          <a:noFill/>
          <a:ln/>
        </p:spPr>
        <p:txBody>
          <a:bodyPr wrap="square" lIns="0" tIns="0" rIns="0" bIns="0" rtlCol="0" anchor="ctr"/>
          <a:lstStyle/>
          <a:p>
            <a:pPr marL="0" indent="0">
              <a:buNone/>
            </a:pPr>
            <a:r>
              <a:rPr lang="en-US" sz="1300" i="1" dirty="0">
                <a:solidFill>
                  <a:srgbClr val="5A6B7F"/>
                </a:solidFill>
                <a:latin typeface="Calibri" pitchFamily="34" charset="0"/>
                <a:ea typeface="Calibri" pitchFamily="34" charset="-122"/>
                <a:cs typeface="Calibri" pitchFamily="34" charset="-120"/>
              </a:rPr>
              <a:t>Cloud Computing Project Report</a:t>
            </a:r>
            <a:endParaRPr lang="en-US" sz="1300" dirty="0"/>
          </a:p>
        </p:txBody>
      </p:sp>
      <p:sp>
        <p:nvSpPr>
          <p:cNvPr id="10" name="Text 7"/>
          <p:cNvSpPr/>
          <p:nvPr/>
        </p:nvSpPr>
        <p:spPr>
          <a:xfrm>
            <a:off x="731520" y="4389120"/>
            <a:ext cx="5486400" cy="365760"/>
          </a:xfrm>
          <a:prstGeom prst="rect">
            <a:avLst/>
          </a:prstGeom>
          <a:noFill/>
          <a:ln/>
        </p:spPr>
        <p:txBody>
          <a:bodyPr wrap="square" lIns="0" tIns="0" rIns="0" bIns="0" rtlCol="0" anchor="ctr"/>
          <a:lstStyle/>
          <a:p>
            <a:pPr marL="0" indent="0">
              <a:buNone/>
            </a:pPr>
            <a:r>
              <a:rPr lang="en-US" sz="1000" dirty="0">
                <a:solidFill>
                  <a:srgbClr val="5A6B7F"/>
                </a:solidFill>
                <a:latin typeface="Calibri" pitchFamily="34" charset="0"/>
                <a:ea typeface="Calibri" pitchFamily="34" charset="-122"/>
                <a:cs typeface="Calibri" pitchFamily="34" charset="-120"/>
              </a:rPr>
              <a:t>github.com/devsharma1209/taskmatch-aws-deployment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8"/>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16A085"/>
          </a:solidFill>
          <a:ln/>
        </p:spPr>
        <p:txBody>
          <a:bodyPr/>
          <a:lstStyle/>
          <a:p>
            <a:endParaRPr lang="en-US"/>
          </a:p>
        </p:txBody>
      </p:sp>
      <p:sp>
        <p:nvSpPr>
          <p:cNvPr id="3" name="Text 1"/>
          <p:cNvSpPr/>
          <p:nvPr/>
        </p:nvSpPr>
        <p:spPr>
          <a:xfrm>
            <a:off x="548640" y="274320"/>
            <a:ext cx="3657600" cy="548640"/>
          </a:xfrm>
          <a:prstGeom prst="rect">
            <a:avLst/>
          </a:prstGeom>
          <a:noFill/>
          <a:ln/>
        </p:spPr>
        <p:txBody>
          <a:bodyPr wrap="square" lIns="0" tIns="0" rIns="0" bIns="0" rtlCol="0" anchor="ctr"/>
          <a:lstStyle/>
          <a:p>
            <a:pPr marL="0" indent="0">
              <a:buNone/>
            </a:pPr>
            <a:r>
              <a:rPr lang="en-US" sz="3200" b="1" dirty="0">
                <a:solidFill>
                  <a:srgbClr val="1A2B4A"/>
                </a:solidFill>
                <a:latin typeface="Georgia" pitchFamily="34" charset="0"/>
              </a:rPr>
              <a:t>CONTENTS</a:t>
            </a:r>
            <a:endParaRPr lang="en-US" sz="3200" dirty="0"/>
          </a:p>
        </p:txBody>
      </p:sp>
      <p:sp>
        <p:nvSpPr>
          <p:cNvPr id="4" name="Text 2"/>
          <p:cNvSpPr/>
          <p:nvPr/>
        </p:nvSpPr>
        <p:spPr>
          <a:xfrm>
            <a:off x="548640" y="777240"/>
            <a:ext cx="3657600" cy="320040"/>
          </a:xfrm>
          <a:prstGeom prst="rect">
            <a:avLst/>
          </a:prstGeom>
          <a:noFill/>
          <a:ln/>
        </p:spPr>
        <p:txBody>
          <a:bodyPr wrap="square" lIns="0" tIns="0" rIns="0" bIns="0" rtlCol="0" anchor="ctr"/>
          <a:lstStyle/>
          <a:p>
            <a:pPr marL="0" indent="0">
              <a:buNone/>
            </a:pPr>
            <a:r>
              <a:rPr lang="en-US" sz="1300" i="1" dirty="0">
                <a:solidFill>
                  <a:srgbClr val="5A6B7F"/>
                </a:solidFill>
                <a:latin typeface="Calibri" pitchFamily="34" charset="0"/>
                <a:ea typeface="Calibri" pitchFamily="34" charset="-122"/>
                <a:cs typeface="Calibri" pitchFamily="34" charset="-120"/>
              </a:rPr>
              <a:t>What We'll Cover</a:t>
            </a:r>
            <a:endParaRPr lang="en-US" sz="1300" dirty="0"/>
          </a:p>
        </p:txBody>
      </p:sp>
      <p:sp>
        <p:nvSpPr>
          <p:cNvPr id="5" name="Shape 3"/>
          <p:cNvSpPr/>
          <p:nvPr/>
        </p:nvSpPr>
        <p:spPr>
          <a:xfrm>
            <a:off x="548640" y="1371600"/>
            <a:ext cx="3840480" cy="7315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685800" y="1536192"/>
            <a:ext cx="365760" cy="365760"/>
          </a:xfrm>
          <a:prstGeom prst="rect">
            <a:avLst/>
          </a:prstGeom>
        </p:spPr>
      </p:pic>
      <p:sp>
        <p:nvSpPr>
          <p:cNvPr id="7" name="Text 4"/>
          <p:cNvSpPr/>
          <p:nvPr/>
        </p:nvSpPr>
        <p:spPr>
          <a:xfrm>
            <a:off x="1143000" y="1417320"/>
            <a:ext cx="457200" cy="320040"/>
          </a:xfrm>
          <a:prstGeom prst="rect">
            <a:avLst/>
          </a:prstGeom>
          <a:noFill/>
          <a:ln/>
        </p:spPr>
        <p:txBody>
          <a:bodyPr wrap="square" lIns="0" tIns="0" rIns="0" bIns="0" rtlCol="0" anchor="ctr"/>
          <a:lstStyle/>
          <a:p>
            <a:pPr marL="0" indent="0">
              <a:buNone/>
            </a:pPr>
            <a:r>
              <a:rPr lang="en-US" sz="1400" b="1" dirty="0">
                <a:solidFill>
                  <a:srgbClr val="16A085"/>
                </a:solidFill>
                <a:latin typeface="Georgia" pitchFamily="34" charset="0"/>
                <a:ea typeface="Georgia" pitchFamily="34" charset="-122"/>
                <a:cs typeface="Georgia" pitchFamily="34" charset="-120"/>
              </a:rPr>
              <a:t>01</a:t>
            </a:r>
            <a:endParaRPr lang="en-US" sz="1400" dirty="0"/>
          </a:p>
        </p:txBody>
      </p:sp>
      <p:sp>
        <p:nvSpPr>
          <p:cNvPr id="8" name="Text 5"/>
          <p:cNvSpPr/>
          <p:nvPr/>
        </p:nvSpPr>
        <p:spPr>
          <a:xfrm>
            <a:off x="1554480" y="1417320"/>
            <a:ext cx="2560320" cy="320040"/>
          </a:xfrm>
          <a:prstGeom prst="rect">
            <a:avLst/>
          </a:prstGeom>
          <a:noFill/>
          <a:ln/>
        </p:spPr>
        <p:txBody>
          <a:bodyPr wrap="square" lIns="0" tIns="0" rIns="0" bIns="0" rtlCol="0" anchor="ctr"/>
          <a:lstStyle/>
          <a:p>
            <a:pPr marL="0" indent="0">
              <a:buNone/>
            </a:pPr>
            <a:r>
              <a:rPr lang="en-US" sz="1300" b="1" dirty="0">
                <a:solidFill>
                  <a:srgbClr val="1A2B4A"/>
                </a:solidFill>
                <a:latin typeface="Calibri" pitchFamily="34" charset="0"/>
                <a:ea typeface="Calibri" pitchFamily="34" charset="-122"/>
                <a:cs typeface="Calibri" pitchFamily="34" charset="-120"/>
              </a:rPr>
              <a:t>Project Overview</a:t>
            </a:r>
            <a:endParaRPr lang="en-US" sz="1300" dirty="0"/>
          </a:p>
        </p:txBody>
      </p:sp>
      <p:sp>
        <p:nvSpPr>
          <p:cNvPr id="9" name="Text 6"/>
          <p:cNvSpPr/>
          <p:nvPr/>
        </p:nvSpPr>
        <p:spPr>
          <a:xfrm>
            <a:off x="1554480" y="1737360"/>
            <a:ext cx="2560320" cy="274320"/>
          </a:xfrm>
          <a:prstGeom prst="rect">
            <a:avLst/>
          </a:prstGeom>
          <a:noFill/>
          <a:ln/>
        </p:spPr>
        <p:txBody>
          <a:bodyPr wrap="square" lIns="0" tIns="0" rIns="0" bIns="0" rtlCol="0" anchor="ctr"/>
          <a:lstStyle/>
          <a:p>
            <a:pPr marL="0" indent="0">
              <a:buNone/>
            </a:pPr>
            <a:r>
              <a:rPr lang="en-US" sz="1000" dirty="0">
                <a:solidFill>
                  <a:srgbClr val="5A6B7F"/>
                </a:solidFill>
                <a:latin typeface="Calibri" pitchFamily="34" charset="0"/>
                <a:ea typeface="Calibri" pitchFamily="34" charset="-122"/>
                <a:cs typeface="Calibri" pitchFamily="34" charset="-120"/>
              </a:rPr>
              <a:t>Objectives &amp; scope</a:t>
            </a:r>
            <a:endParaRPr lang="en-US" sz="1000" dirty="0"/>
          </a:p>
        </p:txBody>
      </p:sp>
      <p:sp>
        <p:nvSpPr>
          <p:cNvPr id="10" name="Shape 7"/>
          <p:cNvSpPr/>
          <p:nvPr/>
        </p:nvSpPr>
        <p:spPr>
          <a:xfrm>
            <a:off x="548640" y="2240280"/>
            <a:ext cx="3840480" cy="7315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pic>
        <p:nvPicPr>
          <p:cNvPr id="11" name="Image 1" descr="preencoded.png"/>
          <p:cNvPicPr>
            <a:picLocks noChangeAspect="1"/>
          </p:cNvPicPr>
          <p:nvPr/>
        </p:nvPicPr>
        <p:blipFill>
          <a:blip r:embed="rId4"/>
          <a:stretch>
            <a:fillRect/>
          </a:stretch>
        </p:blipFill>
        <p:spPr>
          <a:xfrm>
            <a:off x="685800" y="2404872"/>
            <a:ext cx="365760" cy="365760"/>
          </a:xfrm>
          <a:prstGeom prst="rect">
            <a:avLst/>
          </a:prstGeom>
        </p:spPr>
      </p:pic>
      <p:sp>
        <p:nvSpPr>
          <p:cNvPr id="12" name="Text 8"/>
          <p:cNvSpPr/>
          <p:nvPr/>
        </p:nvSpPr>
        <p:spPr>
          <a:xfrm>
            <a:off x="1143000" y="2286000"/>
            <a:ext cx="457200" cy="320040"/>
          </a:xfrm>
          <a:prstGeom prst="rect">
            <a:avLst/>
          </a:prstGeom>
          <a:noFill/>
          <a:ln/>
        </p:spPr>
        <p:txBody>
          <a:bodyPr wrap="square" lIns="0" tIns="0" rIns="0" bIns="0" rtlCol="0" anchor="ctr"/>
          <a:lstStyle/>
          <a:p>
            <a:pPr marL="0" indent="0">
              <a:buNone/>
            </a:pPr>
            <a:r>
              <a:rPr lang="en-US" sz="1400" b="1" dirty="0">
                <a:solidFill>
                  <a:srgbClr val="16A085"/>
                </a:solidFill>
                <a:latin typeface="Georgia" pitchFamily="34" charset="0"/>
                <a:ea typeface="Georgia" pitchFamily="34" charset="-122"/>
                <a:cs typeface="Georgia" pitchFamily="34" charset="-120"/>
              </a:rPr>
              <a:t>02</a:t>
            </a:r>
            <a:endParaRPr lang="en-US" sz="1400" dirty="0"/>
          </a:p>
        </p:txBody>
      </p:sp>
      <p:sp>
        <p:nvSpPr>
          <p:cNvPr id="13" name="Text 9"/>
          <p:cNvSpPr/>
          <p:nvPr/>
        </p:nvSpPr>
        <p:spPr>
          <a:xfrm>
            <a:off x="1554480" y="2286000"/>
            <a:ext cx="2560320" cy="320040"/>
          </a:xfrm>
          <a:prstGeom prst="rect">
            <a:avLst/>
          </a:prstGeom>
          <a:noFill/>
          <a:ln/>
        </p:spPr>
        <p:txBody>
          <a:bodyPr wrap="square" lIns="0" tIns="0" rIns="0" bIns="0" rtlCol="0" anchor="ctr"/>
          <a:lstStyle/>
          <a:p>
            <a:pPr marL="0" indent="0">
              <a:buNone/>
            </a:pPr>
            <a:r>
              <a:rPr lang="en-US" sz="1300" b="1" dirty="0">
                <a:solidFill>
                  <a:srgbClr val="1A2B4A"/>
                </a:solidFill>
                <a:latin typeface="Calibri" pitchFamily="34" charset="0"/>
                <a:ea typeface="Calibri" pitchFamily="34" charset="-122"/>
                <a:cs typeface="Calibri" pitchFamily="34" charset="-120"/>
              </a:rPr>
              <a:t>Architecture</a:t>
            </a:r>
            <a:endParaRPr lang="en-US" sz="1300" dirty="0"/>
          </a:p>
        </p:txBody>
      </p:sp>
      <p:sp>
        <p:nvSpPr>
          <p:cNvPr id="14" name="Text 10"/>
          <p:cNvSpPr/>
          <p:nvPr/>
        </p:nvSpPr>
        <p:spPr>
          <a:xfrm>
            <a:off x="1554480" y="2606040"/>
            <a:ext cx="2560320" cy="274320"/>
          </a:xfrm>
          <a:prstGeom prst="rect">
            <a:avLst/>
          </a:prstGeom>
          <a:noFill/>
          <a:ln/>
        </p:spPr>
        <p:txBody>
          <a:bodyPr wrap="square" lIns="0" tIns="0" rIns="0" bIns="0" rtlCol="0" anchor="ctr"/>
          <a:lstStyle/>
          <a:p>
            <a:pPr marL="0" indent="0">
              <a:buNone/>
            </a:pPr>
            <a:r>
              <a:rPr lang="en-US" sz="1000" dirty="0">
                <a:solidFill>
                  <a:srgbClr val="5A6B7F"/>
                </a:solidFill>
                <a:latin typeface="Calibri" pitchFamily="34" charset="0"/>
                <a:ea typeface="Calibri" pitchFamily="34" charset="-122"/>
                <a:cs typeface="Calibri" pitchFamily="34" charset="-120"/>
              </a:rPr>
              <a:t>Three-tier system design</a:t>
            </a:r>
            <a:endParaRPr lang="en-US" sz="1000" dirty="0"/>
          </a:p>
        </p:txBody>
      </p:sp>
      <p:sp>
        <p:nvSpPr>
          <p:cNvPr id="15" name="Shape 11"/>
          <p:cNvSpPr/>
          <p:nvPr/>
        </p:nvSpPr>
        <p:spPr>
          <a:xfrm>
            <a:off x="548640" y="3108960"/>
            <a:ext cx="3840480" cy="7315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pic>
        <p:nvPicPr>
          <p:cNvPr id="16" name="Image 2" descr="preencoded.png"/>
          <p:cNvPicPr>
            <a:picLocks noChangeAspect="1"/>
          </p:cNvPicPr>
          <p:nvPr/>
        </p:nvPicPr>
        <p:blipFill>
          <a:blip r:embed="rId5"/>
          <a:stretch>
            <a:fillRect/>
          </a:stretch>
        </p:blipFill>
        <p:spPr>
          <a:xfrm>
            <a:off x="685800" y="3273552"/>
            <a:ext cx="365760" cy="365760"/>
          </a:xfrm>
          <a:prstGeom prst="rect">
            <a:avLst/>
          </a:prstGeom>
        </p:spPr>
      </p:pic>
      <p:sp>
        <p:nvSpPr>
          <p:cNvPr id="17" name="Text 12"/>
          <p:cNvSpPr/>
          <p:nvPr/>
        </p:nvSpPr>
        <p:spPr>
          <a:xfrm>
            <a:off x="1143000" y="3154680"/>
            <a:ext cx="457200" cy="320040"/>
          </a:xfrm>
          <a:prstGeom prst="rect">
            <a:avLst/>
          </a:prstGeom>
          <a:noFill/>
          <a:ln/>
        </p:spPr>
        <p:txBody>
          <a:bodyPr wrap="square" lIns="0" tIns="0" rIns="0" bIns="0" rtlCol="0" anchor="ctr"/>
          <a:lstStyle/>
          <a:p>
            <a:pPr marL="0" indent="0">
              <a:buNone/>
            </a:pPr>
            <a:r>
              <a:rPr lang="en-US" sz="1400" b="1" dirty="0">
                <a:solidFill>
                  <a:srgbClr val="16A085"/>
                </a:solidFill>
                <a:latin typeface="Georgia" pitchFamily="34" charset="0"/>
                <a:ea typeface="Georgia" pitchFamily="34" charset="-122"/>
                <a:cs typeface="Georgia" pitchFamily="34" charset="-120"/>
              </a:rPr>
              <a:t>03</a:t>
            </a:r>
            <a:endParaRPr lang="en-US" sz="1400" dirty="0"/>
          </a:p>
        </p:txBody>
      </p:sp>
      <p:sp>
        <p:nvSpPr>
          <p:cNvPr id="18" name="Text 13"/>
          <p:cNvSpPr/>
          <p:nvPr/>
        </p:nvSpPr>
        <p:spPr>
          <a:xfrm>
            <a:off x="1554480" y="3154680"/>
            <a:ext cx="2560320" cy="320040"/>
          </a:xfrm>
          <a:prstGeom prst="rect">
            <a:avLst/>
          </a:prstGeom>
          <a:noFill/>
          <a:ln/>
        </p:spPr>
        <p:txBody>
          <a:bodyPr wrap="square" lIns="0" tIns="0" rIns="0" bIns="0" rtlCol="0" anchor="ctr"/>
          <a:lstStyle/>
          <a:p>
            <a:pPr marL="0" indent="0">
              <a:buNone/>
            </a:pPr>
            <a:r>
              <a:rPr lang="en-US" sz="1300" b="1" dirty="0">
                <a:solidFill>
                  <a:srgbClr val="1A2B4A"/>
                </a:solidFill>
                <a:latin typeface="Calibri" pitchFamily="34" charset="0"/>
                <a:ea typeface="Calibri" pitchFamily="34" charset="-122"/>
                <a:cs typeface="Calibri" pitchFamily="34" charset="-120"/>
              </a:rPr>
              <a:t>Networking</a:t>
            </a:r>
            <a:endParaRPr lang="en-US" sz="1300" dirty="0"/>
          </a:p>
        </p:txBody>
      </p:sp>
      <p:sp>
        <p:nvSpPr>
          <p:cNvPr id="19" name="Text 14"/>
          <p:cNvSpPr/>
          <p:nvPr/>
        </p:nvSpPr>
        <p:spPr>
          <a:xfrm>
            <a:off x="1554480" y="3474720"/>
            <a:ext cx="2560320" cy="274320"/>
          </a:xfrm>
          <a:prstGeom prst="rect">
            <a:avLst/>
          </a:prstGeom>
          <a:noFill/>
          <a:ln/>
        </p:spPr>
        <p:txBody>
          <a:bodyPr wrap="square" lIns="0" tIns="0" rIns="0" bIns="0" rtlCol="0" anchor="ctr"/>
          <a:lstStyle/>
          <a:p>
            <a:pPr marL="0" indent="0">
              <a:buNone/>
            </a:pPr>
            <a:r>
              <a:rPr lang="en-US" sz="1000" dirty="0">
                <a:solidFill>
                  <a:srgbClr val="5A6B7F"/>
                </a:solidFill>
                <a:latin typeface="Calibri" pitchFamily="34" charset="0"/>
                <a:ea typeface="Calibri" pitchFamily="34" charset="-122"/>
                <a:cs typeface="Calibri" pitchFamily="34" charset="-120"/>
              </a:rPr>
              <a:t>VPC, subnets, gateways</a:t>
            </a:r>
            <a:endParaRPr lang="en-US" sz="1000" dirty="0"/>
          </a:p>
        </p:txBody>
      </p:sp>
      <p:sp>
        <p:nvSpPr>
          <p:cNvPr id="20" name="Shape 15"/>
          <p:cNvSpPr/>
          <p:nvPr/>
        </p:nvSpPr>
        <p:spPr>
          <a:xfrm>
            <a:off x="548640" y="3977640"/>
            <a:ext cx="3840480" cy="7315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pic>
        <p:nvPicPr>
          <p:cNvPr id="21" name="Image 3" descr="preencoded.png"/>
          <p:cNvPicPr>
            <a:picLocks noChangeAspect="1"/>
          </p:cNvPicPr>
          <p:nvPr/>
        </p:nvPicPr>
        <p:blipFill>
          <a:blip r:embed="rId6"/>
          <a:stretch>
            <a:fillRect/>
          </a:stretch>
        </p:blipFill>
        <p:spPr>
          <a:xfrm>
            <a:off x="685800" y="4142232"/>
            <a:ext cx="365760" cy="365760"/>
          </a:xfrm>
          <a:prstGeom prst="rect">
            <a:avLst/>
          </a:prstGeom>
        </p:spPr>
      </p:pic>
      <p:sp>
        <p:nvSpPr>
          <p:cNvPr id="22" name="Text 16"/>
          <p:cNvSpPr/>
          <p:nvPr/>
        </p:nvSpPr>
        <p:spPr>
          <a:xfrm>
            <a:off x="1143000" y="4023360"/>
            <a:ext cx="457200" cy="320040"/>
          </a:xfrm>
          <a:prstGeom prst="rect">
            <a:avLst/>
          </a:prstGeom>
          <a:noFill/>
          <a:ln/>
        </p:spPr>
        <p:txBody>
          <a:bodyPr wrap="square" lIns="0" tIns="0" rIns="0" bIns="0" rtlCol="0" anchor="ctr"/>
          <a:lstStyle/>
          <a:p>
            <a:pPr marL="0" indent="0">
              <a:buNone/>
            </a:pPr>
            <a:r>
              <a:rPr lang="en-US" sz="1400" b="1" dirty="0">
                <a:solidFill>
                  <a:srgbClr val="16A085"/>
                </a:solidFill>
                <a:latin typeface="Georgia" pitchFamily="34" charset="0"/>
                <a:ea typeface="Georgia" pitchFamily="34" charset="-122"/>
                <a:cs typeface="Georgia" pitchFamily="34" charset="-120"/>
              </a:rPr>
              <a:t>04</a:t>
            </a:r>
            <a:endParaRPr lang="en-US" sz="1400" dirty="0"/>
          </a:p>
        </p:txBody>
      </p:sp>
      <p:sp>
        <p:nvSpPr>
          <p:cNvPr id="23" name="Text 17"/>
          <p:cNvSpPr/>
          <p:nvPr/>
        </p:nvSpPr>
        <p:spPr>
          <a:xfrm>
            <a:off x="1554480" y="4023360"/>
            <a:ext cx="2560320" cy="320040"/>
          </a:xfrm>
          <a:prstGeom prst="rect">
            <a:avLst/>
          </a:prstGeom>
          <a:noFill/>
          <a:ln/>
        </p:spPr>
        <p:txBody>
          <a:bodyPr wrap="square" lIns="0" tIns="0" rIns="0" bIns="0" rtlCol="0" anchor="ctr"/>
          <a:lstStyle/>
          <a:p>
            <a:pPr marL="0" indent="0">
              <a:buNone/>
            </a:pPr>
            <a:r>
              <a:rPr lang="en-US" sz="1300" b="1" dirty="0">
                <a:solidFill>
                  <a:srgbClr val="1A2B4A"/>
                </a:solidFill>
                <a:latin typeface="Calibri" pitchFamily="34" charset="0"/>
                <a:ea typeface="Calibri" pitchFamily="34" charset="-122"/>
                <a:cs typeface="Calibri" pitchFamily="34" charset="-120"/>
              </a:rPr>
              <a:t>Security</a:t>
            </a:r>
            <a:endParaRPr lang="en-US" sz="1300" dirty="0"/>
          </a:p>
        </p:txBody>
      </p:sp>
      <p:sp>
        <p:nvSpPr>
          <p:cNvPr id="24" name="Text 18"/>
          <p:cNvSpPr/>
          <p:nvPr/>
        </p:nvSpPr>
        <p:spPr>
          <a:xfrm>
            <a:off x="1554480" y="4343400"/>
            <a:ext cx="2560320" cy="274320"/>
          </a:xfrm>
          <a:prstGeom prst="rect">
            <a:avLst/>
          </a:prstGeom>
          <a:noFill/>
          <a:ln/>
        </p:spPr>
        <p:txBody>
          <a:bodyPr wrap="square" lIns="0" tIns="0" rIns="0" bIns="0" rtlCol="0" anchor="ctr"/>
          <a:lstStyle/>
          <a:p>
            <a:pPr marL="0" indent="0">
              <a:buNone/>
            </a:pPr>
            <a:r>
              <a:rPr lang="en-US" sz="1000" dirty="0">
                <a:solidFill>
                  <a:srgbClr val="5A6B7F"/>
                </a:solidFill>
                <a:latin typeface="Calibri" pitchFamily="34" charset="0"/>
                <a:ea typeface="Calibri" pitchFamily="34" charset="-122"/>
                <a:cs typeface="Calibri" pitchFamily="34" charset="-120"/>
              </a:rPr>
              <a:t>Security groups &amp; access</a:t>
            </a:r>
            <a:endParaRPr lang="en-US" sz="1000" dirty="0"/>
          </a:p>
        </p:txBody>
      </p:sp>
      <p:sp>
        <p:nvSpPr>
          <p:cNvPr id="25" name="Shape 19"/>
          <p:cNvSpPr/>
          <p:nvPr/>
        </p:nvSpPr>
        <p:spPr>
          <a:xfrm>
            <a:off x="4846320" y="1371600"/>
            <a:ext cx="3840480" cy="7315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pic>
        <p:nvPicPr>
          <p:cNvPr id="26" name="Image 4" descr="preencoded.png"/>
          <p:cNvPicPr>
            <a:picLocks noChangeAspect="1"/>
          </p:cNvPicPr>
          <p:nvPr/>
        </p:nvPicPr>
        <p:blipFill>
          <a:blip r:embed="rId7"/>
          <a:stretch>
            <a:fillRect/>
          </a:stretch>
        </p:blipFill>
        <p:spPr>
          <a:xfrm>
            <a:off x="4983480" y="1536192"/>
            <a:ext cx="365760" cy="365760"/>
          </a:xfrm>
          <a:prstGeom prst="rect">
            <a:avLst/>
          </a:prstGeom>
        </p:spPr>
      </p:pic>
      <p:sp>
        <p:nvSpPr>
          <p:cNvPr id="27" name="Text 20"/>
          <p:cNvSpPr/>
          <p:nvPr/>
        </p:nvSpPr>
        <p:spPr>
          <a:xfrm>
            <a:off x="5440680" y="1417320"/>
            <a:ext cx="457200" cy="320040"/>
          </a:xfrm>
          <a:prstGeom prst="rect">
            <a:avLst/>
          </a:prstGeom>
          <a:noFill/>
          <a:ln/>
        </p:spPr>
        <p:txBody>
          <a:bodyPr wrap="square" lIns="0" tIns="0" rIns="0" bIns="0" rtlCol="0" anchor="ctr"/>
          <a:lstStyle/>
          <a:p>
            <a:pPr marL="0" indent="0">
              <a:buNone/>
            </a:pPr>
            <a:r>
              <a:rPr lang="en-US" sz="1400" b="1" dirty="0">
                <a:solidFill>
                  <a:srgbClr val="16A085"/>
                </a:solidFill>
                <a:latin typeface="Georgia" pitchFamily="34" charset="0"/>
                <a:ea typeface="Georgia" pitchFamily="34" charset="-122"/>
                <a:cs typeface="Georgia" pitchFamily="34" charset="-120"/>
              </a:rPr>
              <a:t>05</a:t>
            </a:r>
            <a:endParaRPr lang="en-US" sz="1400" dirty="0"/>
          </a:p>
        </p:txBody>
      </p:sp>
      <p:sp>
        <p:nvSpPr>
          <p:cNvPr id="28" name="Text 21"/>
          <p:cNvSpPr/>
          <p:nvPr/>
        </p:nvSpPr>
        <p:spPr>
          <a:xfrm>
            <a:off x="5852160" y="1417320"/>
            <a:ext cx="2560320" cy="320040"/>
          </a:xfrm>
          <a:prstGeom prst="rect">
            <a:avLst/>
          </a:prstGeom>
          <a:noFill/>
          <a:ln/>
        </p:spPr>
        <p:txBody>
          <a:bodyPr wrap="square" lIns="0" tIns="0" rIns="0" bIns="0" rtlCol="0" anchor="ctr"/>
          <a:lstStyle/>
          <a:p>
            <a:pPr marL="0" indent="0">
              <a:buNone/>
            </a:pPr>
            <a:r>
              <a:rPr lang="en-US" sz="1300" b="1" dirty="0">
                <a:solidFill>
                  <a:srgbClr val="1A2B4A"/>
                </a:solidFill>
                <a:latin typeface="Calibri" pitchFamily="34" charset="0"/>
                <a:ea typeface="Calibri" pitchFamily="34" charset="-122"/>
                <a:cs typeface="Calibri" pitchFamily="34" charset="-120"/>
              </a:rPr>
              <a:t>Database &amp; Storage</a:t>
            </a:r>
            <a:endParaRPr lang="en-US" sz="1300" dirty="0"/>
          </a:p>
        </p:txBody>
      </p:sp>
      <p:sp>
        <p:nvSpPr>
          <p:cNvPr id="29" name="Text 22"/>
          <p:cNvSpPr/>
          <p:nvPr/>
        </p:nvSpPr>
        <p:spPr>
          <a:xfrm>
            <a:off x="5852160" y="1737360"/>
            <a:ext cx="2560320" cy="274320"/>
          </a:xfrm>
          <a:prstGeom prst="rect">
            <a:avLst/>
          </a:prstGeom>
          <a:noFill/>
          <a:ln/>
        </p:spPr>
        <p:txBody>
          <a:bodyPr wrap="square" lIns="0" tIns="0" rIns="0" bIns="0" rtlCol="0" anchor="ctr"/>
          <a:lstStyle/>
          <a:p>
            <a:pPr marL="0" indent="0">
              <a:buNone/>
            </a:pPr>
            <a:r>
              <a:rPr lang="en-US" sz="1000" dirty="0">
                <a:solidFill>
                  <a:srgbClr val="5A6B7F"/>
                </a:solidFill>
                <a:latin typeface="Calibri" pitchFamily="34" charset="0"/>
                <a:ea typeface="Calibri" pitchFamily="34" charset="-122"/>
                <a:cs typeface="Calibri" pitchFamily="34" charset="-120"/>
              </a:rPr>
              <a:t>RDS, S3, parameters</a:t>
            </a:r>
            <a:endParaRPr lang="en-US" sz="1000" dirty="0"/>
          </a:p>
        </p:txBody>
      </p:sp>
      <p:sp>
        <p:nvSpPr>
          <p:cNvPr id="30" name="Shape 23"/>
          <p:cNvSpPr/>
          <p:nvPr/>
        </p:nvSpPr>
        <p:spPr>
          <a:xfrm>
            <a:off x="4846320" y="2240280"/>
            <a:ext cx="3840480" cy="7315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pic>
        <p:nvPicPr>
          <p:cNvPr id="31" name="Image 5" descr="preencoded.png"/>
          <p:cNvPicPr>
            <a:picLocks noChangeAspect="1"/>
          </p:cNvPicPr>
          <p:nvPr/>
        </p:nvPicPr>
        <p:blipFill>
          <a:blip r:embed="rId8"/>
          <a:stretch>
            <a:fillRect/>
          </a:stretch>
        </p:blipFill>
        <p:spPr>
          <a:xfrm>
            <a:off x="4983480" y="2404872"/>
            <a:ext cx="365760" cy="365760"/>
          </a:xfrm>
          <a:prstGeom prst="rect">
            <a:avLst/>
          </a:prstGeom>
        </p:spPr>
      </p:pic>
      <p:sp>
        <p:nvSpPr>
          <p:cNvPr id="32" name="Text 24"/>
          <p:cNvSpPr/>
          <p:nvPr/>
        </p:nvSpPr>
        <p:spPr>
          <a:xfrm>
            <a:off x="5440680" y="2286000"/>
            <a:ext cx="457200" cy="320040"/>
          </a:xfrm>
          <a:prstGeom prst="rect">
            <a:avLst/>
          </a:prstGeom>
          <a:noFill/>
          <a:ln/>
        </p:spPr>
        <p:txBody>
          <a:bodyPr wrap="square" lIns="0" tIns="0" rIns="0" bIns="0" rtlCol="0" anchor="ctr"/>
          <a:lstStyle/>
          <a:p>
            <a:pPr marL="0" indent="0">
              <a:buNone/>
            </a:pPr>
            <a:r>
              <a:rPr lang="en-US" sz="1400" b="1" dirty="0">
                <a:solidFill>
                  <a:srgbClr val="16A085"/>
                </a:solidFill>
                <a:latin typeface="Georgia" pitchFamily="34" charset="0"/>
                <a:ea typeface="Georgia" pitchFamily="34" charset="-122"/>
                <a:cs typeface="Georgia" pitchFamily="34" charset="-120"/>
              </a:rPr>
              <a:t>06</a:t>
            </a:r>
            <a:endParaRPr lang="en-US" sz="1400" dirty="0"/>
          </a:p>
        </p:txBody>
      </p:sp>
      <p:sp>
        <p:nvSpPr>
          <p:cNvPr id="33" name="Text 25"/>
          <p:cNvSpPr/>
          <p:nvPr/>
        </p:nvSpPr>
        <p:spPr>
          <a:xfrm>
            <a:off x="5852160" y="2286000"/>
            <a:ext cx="2560320" cy="320040"/>
          </a:xfrm>
          <a:prstGeom prst="rect">
            <a:avLst/>
          </a:prstGeom>
          <a:noFill/>
          <a:ln/>
        </p:spPr>
        <p:txBody>
          <a:bodyPr wrap="square" lIns="0" tIns="0" rIns="0" bIns="0" rtlCol="0" anchor="ctr"/>
          <a:lstStyle/>
          <a:p>
            <a:pPr marL="0" indent="0">
              <a:buNone/>
            </a:pPr>
            <a:r>
              <a:rPr lang="en-US" sz="1300" b="1" dirty="0">
                <a:solidFill>
                  <a:srgbClr val="1A2B4A"/>
                </a:solidFill>
                <a:latin typeface="Calibri" pitchFamily="34" charset="0"/>
                <a:ea typeface="Calibri" pitchFamily="34" charset="-122"/>
                <a:cs typeface="Calibri" pitchFamily="34" charset="-120"/>
              </a:rPr>
              <a:t>Compute &amp; Scaling</a:t>
            </a:r>
            <a:endParaRPr lang="en-US" sz="1300" dirty="0"/>
          </a:p>
        </p:txBody>
      </p:sp>
      <p:sp>
        <p:nvSpPr>
          <p:cNvPr id="34" name="Text 26"/>
          <p:cNvSpPr/>
          <p:nvPr/>
        </p:nvSpPr>
        <p:spPr>
          <a:xfrm>
            <a:off x="5852160" y="2606040"/>
            <a:ext cx="2560320" cy="274320"/>
          </a:xfrm>
          <a:prstGeom prst="rect">
            <a:avLst/>
          </a:prstGeom>
          <a:noFill/>
          <a:ln/>
        </p:spPr>
        <p:txBody>
          <a:bodyPr wrap="square" lIns="0" tIns="0" rIns="0" bIns="0" rtlCol="0" anchor="ctr"/>
          <a:lstStyle/>
          <a:p>
            <a:pPr marL="0" indent="0">
              <a:buNone/>
            </a:pPr>
            <a:r>
              <a:rPr lang="en-US" sz="1000" dirty="0">
                <a:solidFill>
                  <a:srgbClr val="5A6B7F"/>
                </a:solidFill>
                <a:latin typeface="Calibri" pitchFamily="34" charset="0"/>
                <a:ea typeface="Calibri" pitchFamily="34" charset="-122"/>
                <a:cs typeface="Calibri" pitchFamily="34" charset="-120"/>
              </a:rPr>
              <a:t>EC2, ALB, ASG</a:t>
            </a:r>
            <a:endParaRPr lang="en-US" sz="1000" dirty="0"/>
          </a:p>
        </p:txBody>
      </p:sp>
      <p:sp>
        <p:nvSpPr>
          <p:cNvPr id="35" name="Shape 27"/>
          <p:cNvSpPr/>
          <p:nvPr/>
        </p:nvSpPr>
        <p:spPr>
          <a:xfrm>
            <a:off x="4846320" y="3108960"/>
            <a:ext cx="3840480" cy="7315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pic>
        <p:nvPicPr>
          <p:cNvPr id="36" name="Image 6" descr="preencoded.png"/>
          <p:cNvPicPr>
            <a:picLocks noChangeAspect="1"/>
          </p:cNvPicPr>
          <p:nvPr/>
        </p:nvPicPr>
        <p:blipFill>
          <a:blip r:embed="rId9"/>
          <a:stretch>
            <a:fillRect/>
          </a:stretch>
        </p:blipFill>
        <p:spPr>
          <a:xfrm>
            <a:off x="4983480" y="3273552"/>
            <a:ext cx="365760" cy="365760"/>
          </a:xfrm>
          <a:prstGeom prst="rect">
            <a:avLst/>
          </a:prstGeom>
        </p:spPr>
      </p:pic>
      <p:sp>
        <p:nvSpPr>
          <p:cNvPr id="37" name="Text 28"/>
          <p:cNvSpPr/>
          <p:nvPr/>
        </p:nvSpPr>
        <p:spPr>
          <a:xfrm>
            <a:off x="5440680" y="3154680"/>
            <a:ext cx="457200" cy="320040"/>
          </a:xfrm>
          <a:prstGeom prst="rect">
            <a:avLst/>
          </a:prstGeom>
          <a:noFill/>
          <a:ln/>
        </p:spPr>
        <p:txBody>
          <a:bodyPr wrap="square" lIns="0" tIns="0" rIns="0" bIns="0" rtlCol="0" anchor="ctr"/>
          <a:lstStyle/>
          <a:p>
            <a:pPr marL="0" indent="0">
              <a:buNone/>
            </a:pPr>
            <a:r>
              <a:rPr lang="en-US" sz="1400" b="1" dirty="0">
                <a:solidFill>
                  <a:srgbClr val="16A085"/>
                </a:solidFill>
                <a:latin typeface="Georgia" pitchFamily="34" charset="0"/>
                <a:ea typeface="Georgia" pitchFamily="34" charset="-122"/>
                <a:cs typeface="Georgia" pitchFamily="34" charset="-120"/>
              </a:rPr>
              <a:t>07</a:t>
            </a:r>
            <a:endParaRPr lang="en-US" sz="1400" dirty="0"/>
          </a:p>
        </p:txBody>
      </p:sp>
      <p:sp>
        <p:nvSpPr>
          <p:cNvPr id="38" name="Text 29"/>
          <p:cNvSpPr/>
          <p:nvPr/>
        </p:nvSpPr>
        <p:spPr>
          <a:xfrm>
            <a:off x="5852160" y="3154680"/>
            <a:ext cx="2560320" cy="320040"/>
          </a:xfrm>
          <a:prstGeom prst="rect">
            <a:avLst/>
          </a:prstGeom>
          <a:noFill/>
          <a:ln/>
        </p:spPr>
        <p:txBody>
          <a:bodyPr wrap="square" lIns="0" tIns="0" rIns="0" bIns="0" rtlCol="0" anchor="ctr"/>
          <a:lstStyle/>
          <a:p>
            <a:pPr marL="0" indent="0">
              <a:buNone/>
            </a:pPr>
            <a:r>
              <a:rPr lang="en-US" sz="1300" b="1" dirty="0">
                <a:solidFill>
                  <a:srgbClr val="1A2B4A"/>
                </a:solidFill>
                <a:latin typeface="Calibri" pitchFamily="34" charset="0"/>
                <a:ea typeface="Calibri" pitchFamily="34" charset="-122"/>
                <a:cs typeface="Calibri" pitchFamily="34" charset="-120"/>
              </a:rPr>
              <a:t>Verification</a:t>
            </a:r>
            <a:endParaRPr lang="en-US" sz="1300" dirty="0"/>
          </a:p>
        </p:txBody>
      </p:sp>
      <p:sp>
        <p:nvSpPr>
          <p:cNvPr id="39" name="Text 30"/>
          <p:cNvSpPr/>
          <p:nvPr/>
        </p:nvSpPr>
        <p:spPr>
          <a:xfrm>
            <a:off x="5852160" y="3474720"/>
            <a:ext cx="2560320" cy="274320"/>
          </a:xfrm>
          <a:prstGeom prst="rect">
            <a:avLst/>
          </a:prstGeom>
          <a:noFill/>
          <a:ln/>
        </p:spPr>
        <p:txBody>
          <a:bodyPr wrap="square" lIns="0" tIns="0" rIns="0" bIns="0" rtlCol="0" anchor="ctr"/>
          <a:lstStyle/>
          <a:p>
            <a:pPr marL="0" indent="0">
              <a:buNone/>
            </a:pPr>
            <a:r>
              <a:rPr lang="en-US" sz="1000" dirty="0">
                <a:solidFill>
                  <a:srgbClr val="5A6B7F"/>
                </a:solidFill>
                <a:latin typeface="Calibri" pitchFamily="34" charset="0"/>
                <a:ea typeface="Calibri" pitchFamily="34" charset="-122"/>
                <a:cs typeface="Calibri" pitchFamily="34" charset="-120"/>
              </a:rPr>
              <a:t>Database &amp; app testing</a:t>
            </a:r>
            <a:endParaRPr lang="en-US" sz="1000" dirty="0"/>
          </a:p>
        </p:txBody>
      </p:sp>
      <p:sp>
        <p:nvSpPr>
          <p:cNvPr id="40" name="Shape 31"/>
          <p:cNvSpPr/>
          <p:nvPr/>
        </p:nvSpPr>
        <p:spPr>
          <a:xfrm>
            <a:off x="4846320" y="3977640"/>
            <a:ext cx="3840480" cy="7315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pic>
        <p:nvPicPr>
          <p:cNvPr id="41" name="Image 7" descr="preencoded.png"/>
          <p:cNvPicPr>
            <a:picLocks noChangeAspect="1"/>
          </p:cNvPicPr>
          <p:nvPr/>
        </p:nvPicPr>
        <p:blipFill>
          <a:blip r:embed="rId10"/>
          <a:stretch>
            <a:fillRect/>
          </a:stretch>
        </p:blipFill>
        <p:spPr>
          <a:xfrm>
            <a:off x="4983480" y="4142232"/>
            <a:ext cx="365760" cy="365760"/>
          </a:xfrm>
          <a:prstGeom prst="rect">
            <a:avLst/>
          </a:prstGeom>
        </p:spPr>
      </p:pic>
      <p:sp>
        <p:nvSpPr>
          <p:cNvPr id="42" name="Text 32"/>
          <p:cNvSpPr/>
          <p:nvPr/>
        </p:nvSpPr>
        <p:spPr>
          <a:xfrm>
            <a:off x="5440680" y="4023360"/>
            <a:ext cx="457200" cy="320040"/>
          </a:xfrm>
          <a:prstGeom prst="rect">
            <a:avLst/>
          </a:prstGeom>
          <a:noFill/>
          <a:ln/>
        </p:spPr>
        <p:txBody>
          <a:bodyPr wrap="square" lIns="0" tIns="0" rIns="0" bIns="0" rtlCol="0" anchor="ctr"/>
          <a:lstStyle/>
          <a:p>
            <a:pPr marL="0" indent="0">
              <a:buNone/>
            </a:pPr>
            <a:r>
              <a:rPr lang="en-US" sz="1400" b="1" dirty="0">
                <a:solidFill>
                  <a:srgbClr val="16A085"/>
                </a:solidFill>
                <a:latin typeface="Georgia" pitchFamily="34" charset="0"/>
                <a:ea typeface="Georgia" pitchFamily="34" charset="-122"/>
                <a:cs typeface="Georgia" pitchFamily="34" charset="-120"/>
              </a:rPr>
              <a:t>08</a:t>
            </a:r>
            <a:endParaRPr lang="en-US" sz="1400" dirty="0"/>
          </a:p>
        </p:txBody>
      </p:sp>
      <p:sp>
        <p:nvSpPr>
          <p:cNvPr id="43" name="Text 33"/>
          <p:cNvSpPr/>
          <p:nvPr/>
        </p:nvSpPr>
        <p:spPr>
          <a:xfrm>
            <a:off x="5852160" y="4023360"/>
            <a:ext cx="2560320" cy="320040"/>
          </a:xfrm>
          <a:prstGeom prst="rect">
            <a:avLst/>
          </a:prstGeom>
          <a:noFill/>
          <a:ln/>
        </p:spPr>
        <p:txBody>
          <a:bodyPr wrap="square" lIns="0" tIns="0" rIns="0" bIns="0" rtlCol="0" anchor="ctr"/>
          <a:lstStyle/>
          <a:p>
            <a:pPr marL="0" indent="0">
              <a:buNone/>
            </a:pPr>
            <a:r>
              <a:rPr lang="en-US" sz="1300" b="1" dirty="0">
                <a:solidFill>
                  <a:srgbClr val="1A2B4A"/>
                </a:solidFill>
                <a:latin typeface="Calibri" pitchFamily="34" charset="0"/>
                <a:ea typeface="Calibri" pitchFamily="34" charset="-122"/>
                <a:cs typeface="Calibri" pitchFamily="34" charset="-120"/>
              </a:rPr>
              <a:t>Testing &amp; Validation</a:t>
            </a:r>
            <a:endParaRPr lang="en-US" sz="1300" dirty="0"/>
          </a:p>
        </p:txBody>
      </p:sp>
      <p:sp>
        <p:nvSpPr>
          <p:cNvPr id="44" name="Text 34"/>
          <p:cNvSpPr/>
          <p:nvPr/>
        </p:nvSpPr>
        <p:spPr>
          <a:xfrm>
            <a:off x="5852160" y="4343400"/>
            <a:ext cx="2560320" cy="274320"/>
          </a:xfrm>
          <a:prstGeom prst="rect">
            <a:avLst/>
          </a:prstGeom>
          <a:noFill/>
          <a:ln/>
        </p:spPr>
        <p:txBody>
          <a:bodyPr wrap="square" lIns="0" tIns="0" rIns="0" bIns="0" rtlCol="0" anchor="ctr"/>
          <a:lstStyle/>
          <a:p>
            <a:pPr marL="0" indent="0">
              <a:buNone/>
            </a:pPr>
            <a:r>
              <a:rPr lang="en-US" sz="1000" dirty="0">
                <a:solidFill>
                  <a:srgbClr val="5A6B7F"/>
                </a:solidFill>
                <a:latin typeface="Calibri" pitchFamily="34" charset="0"/>
                <a:ea typeface="Calibri" pitchFamily="34" charset="-122"/>
                <a:cs typeface="Calibri" pitchFamily="34" charset="-120"/>
              </a:rPr>
              <a:t>HA &amp; failover tests</a:t>
            </a:r>
            <a:endParaRPr lang="en-US" sz="1000" dirty="0"/>
          </a:p>
        </p:txBody>
      </p:sp>
      <p:sp>
        <p:nvSpPr>
          <p:cNvPr id="45" name="Text 35"/>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5A6B7F"/>
                </a:solidFill>
                <a:latin typeface="Calibri" pitchFamily="34" charset="0"/>
                <a:ea typeface="Calibri" pitchFamily="34" charset="-122"/>
                <a:cs typeface="Calibri" pitchFamily="34" charset="-120"/>
              </a:rPr>
              <a:t>2 / 25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DE8D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6A085"/>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548640" y="320040"/>
            <a:ext cx="411480" cy="411480"/>
          </a:xfrm>
          <a:prstGeom prst="rect">
            <a:avLst/>
          </a:prstGeom>
        </p:spPr>
      </p:pic>
      <p:sp>
        <p:nvSpPr>
          <p:cNvPr id="4" name="Text 1"/>
          <p:cNvSpPr/>
          <p:nvPr/>
        </p:nvSpPr>
        <p:spPr>
          <a:xfrm>
            <a:off x="1051560" y="274320"/>
            <a:ext cx="4572000" cy="502920"/>
          </a:xfrm>
          <a:prstGeom prst="rect">
            <a:avLst/>
          </a:prstGeom>
          <a:noFill/>
          <a:ln/>
        </p:spPr>
        <p:txBody>
          <a:bodyPr wrap="square" lIns="0" tIns="0" rIns="0" bIns="0" rtlCol="0" anchor="ctr"/>
          <a:lstStyle/>
          <a:p>
            <a:pPr marL="0" indent="0">
              <a:buNone/>
            </a:pPr>
            <a:r>
              <a:rPr lang="en-US" sz="2800" b="1" dirty="0">
                <a:solidFill>
                  <a:srgbClr val="1A2B4A"/>
                </a:solidFill>
                <a:latin typeface="Georgia" pitchFamily="34" charset="0"/>
                <a:ea typeface="Georgia" pitchFamily="34" charset="-122"/>
                <a:cs typeface="Georgia" pitchFamily="34" charset="-120"/>
              </a:rPr>
              <a:t>PROJECT OVERVIEW</a:t>
            </a:r>
            <a:endParaRPr lang="en-US" sz="2800" dirty="0"/>
          </a:p>
        </p:txBody>
      </p:sp>
      <p:sp>
        <p:nvSpPr>
          <p:cNvPr id="5" name="Shape 2"/>
          <p:cNvSpPr/>
          <p:nvPr/>
        </p:nvSpPr>
        <p:spPr>
          <a:xfrm>
            <a:off x="457200" y="1005840"/>
            <a:ext cx="8229600" cy="1097280"/>
          </a:xfrm>
          <a:prstGeom prst="rect">
            <a:avLst/>
          </a:prstGeom>
          <a:solidFill>
            <a:srgbClr val="F8F4EC"/>
          </a:solidFill>
          <a:ln/>
          <a:effectLst>
            <a:outerShdw blurRad="76200" dist="25400" dir="8100000" algn="bl" rotWithShape="0">
              <a:srgbClr val="000000">
                <a:alpha val="12000"/>
              </a:srgbClr>
            </a:outerShdw>
          </a:effectLst>
        </p:spPr>
        <p:txBody>
          <a:bodyPr/>
          <a:lstStyle/>
          <a:p>
            <a:endParaRPr lang="en-US"/>
          </a:p>
        </p:txBody>
      </p:sp>
      <p:sp>
        <p:nvSpPr>
          <p:cNvPr id="6" name="Text 3"/>
          <p:cNvSpPr/>
          <p:nvPr/>
        </p:nvSpPr>
        <p:spPr>
          <a:xfrm>
            <a:off x="731520" y="1097280"/>
            <a:ext cx="7772400" cy="914400"/>
          </a:xfrm>
          <a:prstGeom prst="rect">
            <a:avLst/>
          </a:prstGeom>
          <a:noFill/>
          <a:ln/>
        </p:spPr>
        <p:txBody>
          <a:bodyPr wrap="square" lIns="0" tIns="0" rIns="0" bIns="0" rtlCol="0" anchor="ctr"/>
          <a:lstStyle/>
          <a:p>
            <a:pPr marL="0" indent="0">
              <a:lnSpc>
                <a:spcPct val="140000"/>
              </a:lnSpc>
              <a:buNone/>
            </a:pPr>
            <a:r>
              <a:rPr lang="en-US" sz="1300" dirty="0">
                <a:solidFill>
                  <a:srgbClr val="1A6B5A"/>
                </a:solidFill>
                <a:latin typeface="Calibri" pitchFamily="34" charset="0"/>
                <a:ea typeface="Calibri" pitchFamily="34" charset="-122"/>
                <a:cs typeface="Calibri" pitchFamily="34" charset="-120"/>
              </a:rPr>
              <a:t>TaskMatch is a scalable web application deployed on AWS that enables users to browse odd jobs, post tasks, and submit offers. Built with a multi-tier architecture, it demonstrates real-world cloud deployment practices for performance, reliability, and security.</a:t>
            </a:r>
            <a:endParaRPr lang="en-US" sz="1300" dirty="0"/>
          </a:p>
        </p:txBody>
      </p:sp>
      <p:sp>
        <p:nvSpPr>
          <p:cNvPr id="7" name="Text 4"/>
          <p:cNvSpPr/>
          <p:nvPr/>
        </p:nvSpPr>
        <p:spPr>
          <a:xfrm>
            <a:off x="457200" y="2331720"/>
            <a:ext cx="3657600" cy="365760"/>
          </a:xfrm>
          <a:prstGeom prst="rect">
            <a:avLst/>
          </a:prstGeom>
          <a:noFill/>
          <a:ln/>
        </p:spPr>
        <p:txBody>
          <a:bodyPr wrap="square" lIns="0" tIns="0" rIns="0" bIns="0" rtlCol="0" anchor="ctr"/>
          <a:lstStyle/>
          <a:p>
            <a:pPr marL="0" indent="0">
              <a:buNone/>
            </a:pPr>
            <a:r>
              <a:rPr lang="en-US" sz="1400" b="1" dirty="0">
                <a:solidFill>
                  <a:srgbClr val="16A085"/>
                </a:solidFill>
                <a:latin typeface="Georgia" pitchFamily="34" charset="0"/>
                <a:ea typeface="Georgia" pitchFamily="34" charset="-122"/>
                <a:cs typeface="Georgia" pitchFamily="34" charset="-120"/>
              </a:rPr>
              <a:t>KEY OBJECTIVES</a:t>
            </a:r>
            <a:endParaRPr lang="en-US" sz="1400" dirty="0"/>
          </a:p>
        </p:txBody>
      </p:sp>
      <p:pic>
        <p:nvPicPr>
          <p:cNvPr id="8" name="Image 1" descr="preencoded.png"/>
          <p:cNvPicPr>
            <a:picLocks noChangeAspect="1"/>
          </p:cNvPicPr>
          <p:nvPr/>
        </p:nvPicPr>
        <p:blipFill>
          <a:blip r:embed="rId4"/>
          <a:stretch>
            <a:fillRect/>
          </a:stretch>
        </p:blipFill>
        <p:spPr>
          <a:xfrm>
            <a:off x="594360" y="2944368"/>
            <a:ext cx="320040" cy="320040"/>
          </a:xfrm>
          <a:prstGeom prst="rect">
            <a:avLst/>
          </a:prstGeom>
        </p:spPr>
      </p:pic>
      <p:sp>
        <p:nvSpPr>
          <p:cNvPr id="9" name="Text 5"/>
          <p:cNvSpPr/>
          <p:nvPr/>
        </p:nvSpPr>
        <p:spPr>
          <a:xfrm>
            <a:off x="1005840" y="2852928"/>
            <a:ext cx="3474720" cy="274320"/>
          </a:xfrm>
          <a:prstGeom prst="rect">
            <a:avLst/>
          </a:prstGeom>
          <a:noFill/>
          <a:ln/>
        </p:spPr>
        <p:txBody>
          <a:bodyPr wrap="square" lIns="0" tIns="0" rIns="0" bIns="0" rtlCol="0" anchor="ctr"/>
          <a:lstStyle/>
          <a:p>
            <a:pPr marL="0" indent="0">
              <a:buNone/>
            </a:pPr>
            <a:r>
              <a:rPr lang="en-US" sz="1200" b="1" dirty="0">
                <a:solidFill>
                  <a:srgbClr val="1A2B4A"/>
                </a:solidFill>
                <a:latin typeface="Calibri" pitchFamily="34" charset="0"/>
                <a:ea typeface="Calibri" pitchFamily="34" charset="-122"/>
                <a:cs typeface="Calibri" pitchFamily="34" charset="-120"/>
              </a:rPr>
              <a:t>High Availability</a:t>
            </a:r>
            <a:endParaRPr lang="en-US" sz="1200" dirty="0"/>
          </a:p>
        </p:txBody>
      </p:sp>
      <p:sp>
        <p:nvSpPr>
          <p:cNvPr id="10" name="Text 6"/>
          <p:cNvSpPr/>
          <p:nvPr/>
        </p:nvSpPr>
        <p:spPr>
          <a:xfrm>
            <a:off x="1005840" y="3127248"/>
            <a:ext cx="3474720" cy="274320"/>
          </a:xfrm>
          <a:prstGeom prst="rect">
            <a:avLst/>
          </a:prstGeom>
          <a:noFill/>
          <a:ln/>
        </p:spPr>
        <p:txBody>
          <a:bodyPr wrap="square" lIns="0" tIns="0" rIns="0" bIns="0" rtlCol="0" anchor="ctr"/>
          <a:lstStyle/>
          <a:p>
            <a:pPr marL="0" indent="0">
              <a:buNone/>
            </a:pPr>
            <a:r>
              <a:rPr lang="en-US" sz="1000" dirty="0">
                <a:solidFill>
                  <a:srgbClr val="5A6B7F"/>
                </a:solidFill>
                <a:latin typeface="Calibri" pitchFamily="34" charset="0"/>
                <a:ea typeface="Calibri" pitchFamily="34" charset="-122"/>
                <a:cs typeface="Calibri" pitchFamily="34" charset="-120"/>
              </a:rPr>
              <a:t>Fault-tolerant system across multiple AZs</a:t>
            </a:r>
            <a:endParaRPr lang="en-US" sz="1000" dirty="0"/>
          </a:p>
        </p:txBody>
      </p:sp>
      <p:pic>
        <p:nvPicPr>
          <p:cNvPr id="11" name="Image 2" descr="preencoded.png"/>
          <p:cNvPicPr>
            <a:picLocks noChangeAspect="1"/>
          </p:cNvPicPr>
          <p:nvPr/>
        </p:nvPicPr>
        <p:blipFill>
          <a:blip r:embed="rId4"/>
          <a:stretch>
            <a:fillRect/>
          </a:stretch>
        </p:blipFill>
        <p:spPr>
          <a:xfrm>
            <a:off x="594360" y="3657600"/>
            <a:ext cx="320040" cy="320040"/>
          </a:xfrm>
          <a:prstGeom prst="rect">
            <a:avLst/>
          </a:prstGeom>
        </p:spPr>
      </p:pic>
      <p:sp>
        <p:nvSpPr>
          <p:cNvPr id="12" name="Text 7"/>
          <p:cNvSpPr/>
          <p:nvPr/>
        </p:nvSpPr>
        <p:spPr>
          <a:xfrm>
            <a:off x="1005840" y="3566160"/>
            <a:ext cx="3474720" cy="274320"/>
          </a:xfrm>
          <a:prstGeom prst="rect">
            <a:avLst/>
          </a:prstGeom>
          <a:noFill/>
          <a:ln/>
        </p:spPr>
        <p:txBody>
          <a:bodyPr wrap="square" lIns="0" tIns="0" rIns="0" bIns="0" rtlCol="0" anchor="ctr"/>
          <a:lstStyle/>
          <a:p>
            <a:pPr marL="0" indent="0">
              <a:buNone/>
            </a:pPr>
            <a:r>
              <a:rPr lang="en-US" sz="1200" b="1" dirty="0">
                <a:solidFill>
                  <a:srgbClr val="1A2B4A"/>
                </a:solidFill>
                <a:latin typeface="Calibri" pitchFamily="34" charset="0"/>
                <a:ea typeface="Calibri" pitchFamily="34" charset="-122"/>
                <a:cs typeface="Calibri" pitchFamily="34" charset="-120"/>
              </a:rPr>
              <a:t>Secure Communication</a:t>
            </a:r>
            <a:endParaRPr lang="en-US" sz="1200" dirty="0"/>
          </a:p>
        </p:txBody>
      </p:sp>
      <p:sp>
        <p:nvSpPr>
          <p:cNvPr id="13" name="Text 8"/>
          <p:cNvSpPr/>
          <p:nvPr/>
        </p:nvSpPr>
        <p:spPr>
          <a:xfrm>
            <a:off x="1005840" y="3840480"/>
            <a:ext cx="3474720" cy="274320"/>
          </a:xfrm>
          <a:prstGeom prst="rect">
            <a:avLst/>
          </a:prstGeom>
          <a:noFill/>
          <a:ln/>
        </p:spPr>
        <p:txBody>
          <a:bodyPr wrap="square" lIns="0" tIns="0" rIns="0" bIns="0" rtlCol="0" anchor="ctr"/>
          <a:lstStyle/>
          <a:p>
            <a:pPr marL="0" indent="0">
              <a:buNone/>
            </a:pPr>
            <a:r>
              <a:rPr lang="en-US" sz="1000" dirty="0">
                <a:solidFill>
                  <a:srgbClr val="5A6B7F"/>
                </a:solidFill>
                <a:latin typeface="Calibri" pitchFamily="34" charset="0"/>
                <a:ea typeface="Calibri" pitchFamily="34" charset="-122"/>
                <a:cs typeface="Calibri" pitchFamily="34" charset="-120"/>
              </a:rPr>
              <a:t>Controlled access between all components</a:t>
            </a:r>
            <a:endParaRPr lang="en-US" sz="1000" dirty="0"/>
          </a:p>
        </p:txBody>
      </p:sp>
      <p:pic>
        <p:nvPicPr>
          <p:cNvPr id="14" name="Image 3" descr="preencoded.png"/>
          <p:cNvPicPr>
            <a:picLocks noChangeAspect="1"/>
          </p:cNvPicPr>
          <p:nvPr/>
        </p:nvPicPr>
        <p:blipFill>
          <a:blip r:embed="rId4"/>
          <a:stretch>
            <a:fillRect/>
          </a:stretch>
        </p:blipFill>
        <p:spPr>
          <a:xfrm>
            <a:off x="594360" y="4370832"/>
            <a:ext cx="320040" cy="320040"/>
          </a:xfrm>
          <a:prstGeom prst="rect">
            <a:avLst/>
          </a:prstGeom>
        </p:spPr>
      </p:pic>
      <p:sp>
        <p:nvSpPr>
          <p:cNvPr id="15" name="Text 9"/>
          <p:cNvSpPr/>
          <p:nvPr/>
        </p:nvSpPr>
        <p:spPr>
          <a:xfrm>
            <a:off x="1005840" y="4279392"/>
            <a:ext cx="3474720" cy="274320"/>
          </a:xfrm>
          <a:prstGeom prst="rect">
            <a:avLst/>
          </a:prstGeom>
          <a:noFill/>
          <a:ln/>
        </p:spPr>
        <p:txBody>
          <a:bodyPr wrap="square" lIns="0" tIns="0" rIns="0" bIns="0" rtlCol="0" anchor="ctr"/>
          <a:lstStyle/>
          <a:p>
            <a:pPr marL="0" indent="0">
              <a:buNone/>
            </a:pPr>
            <a:r>
              <a:rPr lang="en-US" sz="1200" b="1" dirty="0">
                <a:solidFill>
                  <a:srgbClr val="1A2B4A"/>
                </a:solidFill>
                <a:latin typeface="Calibri" pitchFamily="34" charset="0"/>
                <a:ea typeface="Calibri" pitchFamily="34" charset="-122"/>
                <a:cs typeface="Calibri" pitchFamily="34" charset="-120"/>
              </a:rPr>
              <a:t>Auto Scaling</a:t>
            </a:r>
            <a:endParaRPr lang="en-US" sz="1200" dirty="0"/>
          </a:p>
        </p:txBody>
      </p:sp>
      <p:sp>
        <p:nvSpPr>
          <p:cNvPr id="16" name="Text 10"/>
          <p:cNvSpPr/>
          <p:nvPr/>
        </p:nvSpPr>
        <p:spPr>
          <a:xfrm>
            <a:off x="1005840" y="4553712"/>
            <a:ext cx="3474720" cy="274320"/>
          </a:xfrm>
          <a:prstGeom prst="rect">
            <a:avLst/>
          </a:prstGeom>
          <a:noFill/>
          <a:ln/>
        </p:spPr>
        <p:txBody>
          <a:bodyPr wrap="square" lIns="0" tIns="0" rIns="0" bIns="0" rtlCol="0" anchor="ctr"/>
          <a:lstStyle/>
          <a:p>
            <a:pPr marL="0" indent="0">
              <a:buNone/>
            </a:pPr>
            <a:r>
              <a:rPr lang="en-US" sz="1000" dirty="0">
                <a:solidFill>
                  <a:srgbClr val="5A6B7F"/>
                </a:solidFill>
                <a:latin typeface="Calibri" pitchFamily="34" charset="0"/>
                <a:ea typeface="Calibri" pitchFamily="34" charset="-122"/>
                <a:cs typeface="Calibri" pitchFamily="34" charset="-120"/>
              </a:rPr>
              <a:t>Demand-based automatic capacity adjustment</a:t>
            </a:r>
            <a:endParaRPr lang="en-US" sz="1000" dirty="0"/>
          </a:p>
        </p:txBody>
      </p:sp>
      <p:pic>
        <p:nvPicPr>
          <p:cNvPr id="17" name="Image 4" descr="preencoded.png"/>
          <p:cNvPicPr>
            <a:picLocks noChangeAspect="1"/>
          </p:cNvPicPr>
          <p:nvPr/>
        </p:nvPicPr>
        <p:blipFill>
          <a:blip r:embed="rId4"/>
          <a:stretch>
            <a:fillRect/>
          </a:stretch>
        </p:blipFill>
        <p:spPr>
          <a:xfrm>
            <a:off x="4983480" y="2944368"/>
            <a:ext cx="320040" cy="320040"/>
          </a:xfrm>
          <a:prstGeom prst="rect">
            <a:avLst/>
          </a:prstGeom>
        </p:spPr>
      </p:pic>
      <p:sp>
        <p:nvSpPr>
          <p:cNvPr id="18" name="Text 11"/>
          <p:cNvSpPr/>
          <p:nvPr/>
        </p:nvSpPr>
        <p:spPr>
          <a:xfrm>
            <a:off x="5394960" y="2852928"/>
            <a:ext cx="3474720" cy="274320"/>
          </a:xfrm>
          <a:prstGeom prst="rect">
            <a:avLst/>
          </a:prstGeom>
          <a:noFill/>
          <a:ln/>
        </p:spPr>
        <p:txBody>
          <a:bodyPr wrap="square" lIns="0" tIns="0" rIns="0" bIns="0" rtlCol="0" anchor="ctr"/>
          <a:lstStyle/>
          <a:p>
            <a:pPr marL="0" indent="0">
              <a:buNone/>
            </a:pPr>
            <a:r>
              <a:rPr lang="en-US" sz="1200" b="1" dirty="0">
                <a:solidFill>
                  <a:srgbClr val="1A2B4A"/>
                </a:solidFill>
                <a:latin typeface="Calibri" pitchFamily="34" charset="0"/>
                <a:ea typeface="Calibri" pitchFamily="34" charset="-122"/>
                <a:cs typeface="Calibri" pitchFamily="34" charset="-120"/>
              </a:rPr>
              <a:t>Managed Database</a:t>
            </a:r>
            <a:endParaRPr lang="en-US" sz="1200" dirty="0"/>
          </a:p>
        </p:txBody>
      </p:sp>
      <p:sp>
        <p:nvSpPr>
          <p:cNvPr id="19" name="Text 12"/>
          <p:cNvSpPr/>
          <p:nvPr/>
        </p:nvSpPr>
        <p:spPr>
          <a:xfrm>
            <a:off x="5394960" y="3127248"/>
            <a:ext cx="3474720" cy="274320"/>
          </a:xfrm>
          <a:prstGeom prst="rect">
            <a:avLst/>
          </a:prstGeom>
          <a:noFill/>
          <a:ln/>
        </p:spPr>
        <p:txBody>
          <a:bodyPr wrap="square" lIns="0" tIns="0" rIns="0" bIns="0" rtlCol="0" anchor="ctr"/>
          <a:lstStyle/>
          <a:p>
            <a:pPr marL="0" indent="0">
              <a:buNone/>
            </a:pPr>
            <a:r>
              <a:rPr lang="en-US" sz="1000" dirty="0">
                <a:solidFill>
                  <a:srgbClr val="5A6B7F"/>
                </a:solidFill>
                <a:latin typeface="Calibri" pitchFamily="34" charset="0"/>
                <a:ea typeface="Calibri" pitchFamily="34" charset="-122"/>
                <a:cs typeface="Calibri" pitchFamily="34" charset="-120"/>
              </a:rPr>
              <a:t>RDS for reliable data storage &amp; retrieval</a:t>
            </a:r>
            <a:endParaRPr lang="en-US" sz="1000" dirty="0"/>
          </a:p>
        </p:txBody>
      </p:sp>
      <p:pic>
        <p:nvPicPr>
          <p:cNvPr id="20" name="Image 5" descr="preencoded.png"/>
          <p:cNvPicPr>
            <a:picLocks noChangeAspect="1"/>
          </p:cNvPicPr>
          <p:nvPr/>
        </p:nvPicPr>
        <p:blipFill>
          <a:blip r:embed="rId4"/>
          <a:stretch>
            <a:fillRect/>
          </a:stretch>
        </p:blipFill>
        <p:spPr>
          <a:xfrm>
            <a:off x="4983480" y="3657600"/>
            <a:ext cx="320040" cy="320040"/>
          </a:xfrm>
          <a:prstGeom prst="rect">
            <a:avLst/>
          </a:prstGeom>
        </p:spPr>
      </p:pic>
      <p:sp>
        <p:nvSpPr>
          <p:cNvPr id="21" name="Text 13"/>
          <p:cNvSpPr/>
          <p:nvPr/>
        </p:nvSpPr>
        <p:spPr>
          <a:xfrm>
            <a:off x="5394960" y="3566160"/>
            <a:ext cx="3474720" cy="274320"/>
          </a:xfrm>
          <a:prstGeom prst="rect">
            <a:avLst/>
          </a:prstGeom>
          <a:noFill/>
          <a:ln/>
        </p:spPr>
        <p:txBody>
          <a:bodyPr wrap="square" lIns="0" tIns="0" rIns="0" bIns="0" rtlCol="0" anchor="ctr"/>
          <a:lstStyle/>
          <a:p>
            <a:pPr marL="0" indent="0">
              <a:buNone/>
            </a:pPr>
            <a:r>
              <a:rPr lang="en-US" sz="1200" b="1" dirty="0">
                <a:solidFill>
                  <a:srgbClr val="1A2B4A"/>
                </a:solidFill>
                <a:latin typeface="Calibri" pitchFamily="34" charset="0"/>
                <a:ea typeface="Calibri" pitchFamily="34" charset="-122"/>
                <a:cs typeface="Calibri" pitchFamily="34" charset="-120"/>
              </a:rPr>
              <a:t>Real-World Architecture</a:t>
            </a:r>
            <a:endParaRPr lang="en-US" sz="1200" dirty="0"/>
          </a:p>
        </p:txBody>
      </p:sp>
      <p:sp>
        <p:nvSpPr>
          <p:cNvPr id="22" name="Text 14"/>
          <p:cNvSpPr/>
          <p:nvPr/>
        </p:nvSpPr>
        <p:spPr>
          <a:xfrm>
            <a:off x="5394960" y="3840480"/>
            <a:ext cx="3474720" cy="274320"/>
          </a:xfrm>
          <a:prstGeom prst="rect">
            <a:avLst/>
          </a:prstGeom>
          <a:noFill/>
          <a:ln/>
        </p:spPr>
        <p:txBody>
          <a:bodyPr wrap="square" lIns="0" tIns="0" rIns="0" bIns="0" rtlCol="0" anchor="ctr"/>
          <a:lstStyle/>
          <a:p>
            <a:pPr marL="0" indent="0">
              <a:buNone/>
            </a:pPr>
            <a:r>
              <a:rPr lang="en-US" sz="1000" dirty="0">
                <a:solidFill>
                  <a:srgbClr val="5A6B7F"/>
                </a:solidFill>
                <a:latin typeface="Calibri" pitchFamily="34" charset="0"/>
                <a:ea typeface="Calibri" pitchFamily="34" charset="-122"/>
                <a:cs typeface="Calibri" pitchFamily="34" charset="-120"/>
              </a:rPr>
              <a:t>Production-grade cloud deployment</a:t>
            </a:r>
            <a:endParaRPr lang="en-US" sz="1000" dirty="0"/>
          </a:p>
        </p:txBody>
      </p:sp>
      <p:sp>
        <p:nvSpPr>
          <p:cNvPr id="23" name="Text 15"/>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5A6B7F"/>
                </a:solidFill>
                <a:latin typeface="Calibri" pitchFamily="34" charset="0"/>
                <a:ea typeface="Calibri" pitchFamily="34" charset="-122"/>
                <a:cs typeface="Calibri" pitchFamily="34" charset="-120"/>
              </a:rPr>
              <a:t>3 / 25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8"/>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16A085"/>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457200" y="274320"/>
            <a:ext cx="365760" cy="365760"/>
          </a:xfrm>
          <a:prstGeom prst="rect">
            <a:avLst/>
          </a:prstGeom>
        </p:spPr>
      </p:pic>
      <p:sp>
        <p:nvSpPr>
          <p:cNvPr id="4" name="Text 1"/>
          <p:cNvSpPr/>
          <p:nvPr/>
        </p:nvSpPr>
        <p:spPr>
          <a:xfrm>
            <a:off x="914400" y="228600"/>
            <a:ext cx="5520018" cy="502920"/>
          </a:xfrm>
          <a:prstGeom prst="rect">
            <a:avLst/>
          </a:prstGeom>
          <a:noFill/>
          <a:ln/>
        </p:spPr>
        <p:txBody>
          <a:bodyPr wrap="square" lIns="0" tIns="0" rIns="0" bIns="0" rtlCol="0" anchor="ctr"/>
          <a:lstStyle/>
          <a:p>
            <a:pPr marL="0" indent="0">
              <a:buNone/>
            </a:pPr>
            <a:r>
              <a:rPr lang="en-US" sz="2800" b="1" dirty="0">
                <a:solidFill>
                  <a:srgbClr val="1A2B4A"/>
                </a:solidFill>
                <a:latin typeface="Georgia" pitchFamily="34" charset="0"/>
                <a:ea typeface="Georgia" pitchFamily="34" charset="-122"/>
                <a:cs typeface="Georgia" pitchFamily="34" charset="-120"/>
              </a:rPr>
              <a:t>ARCHITECTURE OVERVIEW</a:t>
            </a:r>
            <a:endParaRPr lang="en-US" sz="2800" dirty="0"/>
          </a:p>
        </p:txBody>
      </p:sp>
      <p:sp>
        <p:nvSpPr>
          <p:cNvPr id="5" name="Text 2"/>
          <p:cNvSpPr/>
          <p:nvPr/>
        </p:nvSpPr>
        <p:spPr>
          <a:xfrm>
            <a:off x="457200" y="749808"/>
            <a:ext cx="6400800" cy="320040"/>
          </a:xfrm>
          <a:prstGeom prst="rect">
            <a:avLst/>
          </a:prstGeom>
          <a:noFill/>
          <a:ln/>
        </p:spPr>
        <p:txBody>
          <a:bodyPr wrap="square" lIns="0" tIns="0" rIns="0" bIns="0" rtlCol="0" anchor="ctr"/>
          <a:lstStyle/>
          <a:p>
            <a:pPr marL="0" indent="0">
              <a:buNone/>
            </a:pPr>
            <a:r>
              <a:rPr lang="en-US" sz="1200" i="1" dirty="0">
                <a:solidFill>
                  <a:srgbClr val="5A6B7F"/>
                </a:solidFill>
                <a:latin typeface="Calibri" pitchFamily="34" charset="0"/>
                <a:ea typeface="Calibri" pitchFamily="34" charset="-122"/>
                <a:cs typeface="Calibri" pitchFamily="34" charset="-120"/>
              </a:rPr>
              <a:t>Multi-tier design separating presentation, application, and data layers</a:t>
            </a:r>
            <a:endParaRPr lang="en-US" sz="1200" dirty="0"/>
          </a:p>
        </p:txBody>
      </p:sp>
      <p:sp>
        <p:nvSpPr>
          <p:cNvPr id="6" name="Shape 3"/>
          <p:cNvSpPr/>
          <p:nvPr/>
        </p:nvSpPr>
        <p:spPr>
          <a:xfrm>
            <a:off x="457200" y="1234440"/>
            <a:ext cx="1554480" cy="34747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7" name="Shape 4"/>
          <p:cNvSpPr/>
          <p:nvPr/>
        </p:nvSpPr>
        <p:spPr>
          <a:xfrm>
            <a:off x="457200" y="1234440"/>
            <a:ext cx="1554480" cy="54864"/>
          </a:xfrm>
          <a:prstGeom prst="rect">
            <a:avLst/>
          </a:prstGeom>
          <a:solidFill>
            <a:srgbClr val="16A085"/>
          </a:solidFill>
          <a:ln/>
        </p:spPr>
        <p:txBody>
          <a:bodyPr/>
          <a:lstStyle/>
          <a:p>
            <a:endParaRPr lang="en-US"/>
          </a:p>
        </p:txBody>
      </p:sp>
      <p:pic>
        <p:nvPicPr>
          <p:cNvPr id="8" name="Image 1" descr="preencoded.png"/>
          <p:cNvPicPr>
            <a:picLocks noChangeAspect="1"/>
          </p:cNvPicPr>
          <p:nvPr/>
        </p:nvPicPr>
        <p:blipFill>
          <a:blip r:embed="rId4"/>
          <a:stretch>
            <a:fillRect/>
          </a:stretch>
        </p:blipFill>
        <p:spPr>
          <a:xfrm>
            <a:off x="1005840" y="1508760"/>
            <a:ext cx="457200" cy="457200"/>
          </a:xfrm>
          <a:prstGeom prst="rect">
            <a:avLst/>
          </a:prstGeom>
        </p:spPr>
      </p:pic>
      <p:sp>
        <p:nvSpPr>
          <p:cNvPr id="9" name="Text 5"/>
          <p:cNvSpPr/>
          <p:nvPr/>
        </p:nvSpPr>
        <p:spPr>
          <a:xfrm>
            <a:off x="502920" y="2103120"/>
            <a:ext cx="1463040" cy="365760"/>
          </a:xfrm>
          <a:prstGeom prst="rect">
            <a:avLst/>
          </a:prstGeom>
          <a:noFill/>
          <a:ln/>
        </p:spPr>
        <p:txBody>
          <a:bodyPr wrap="square" lIns="0" tIns="0" rIns="0" bIns="0" rtlCol="0" anchor="ctr"/>
          <a:lstStyle/>
          <a:p>
            <a:pPr marL="0" indent="0" algn="ctr">
              <a:buNone/>
            </a:pPr>
            <a:r>
              <a:rPr lang="en-US" sz="1000" b="1" dirty="0">
                <a:solidFill>
                  <a:srgbClr val="1A2B4A"/>
                </a:solidFill>
                <a:latin typeface="Georgia" pitchFamily="34" charset="0"/>
                <a:ea typeface="Georgia" pitchFamily="34" charset="-122"/>
                <a:cs typeface="Georgia" pitchFamily="34" charset="-120"/>
              </a:rPr>
              <a:t>PRESENTATION</a:t>
            </a:r>
            <a:endParaRPr lang="en-US" sz="1000" dirty="0"/>
          </a:p>
        </p:txBody>
      </p:sp>
      <p:sp>
        <p:nvSpPr>
          <p:cNvPr id="10" name="Text 6"/>
          <p:cNvSpPr/>
          <p:nvPr/>
        </p:nvSpPr>
        <p:spPr>
          <a:xfrm>
            <a:off x="502920" y="2514600"/>
            <a:ext cx="1463040" cy="548640"/>
          </a:xfrm>
          <a:prstGeom prst="rect">
            <a:avLst/>
          </a:prstGeom>
          <a:noFill/>
          <a:ln/>
        </p:spPr>
        <p:txBody>
          <a:bodyPr wrap="square" lIns="0" tIns="0" rIns="0" bIns="0" rtlCol="0" anchor="ctr"/>
          <a:lstStyle/>
          <a:p>
            <a:pPr marL="0" indent="0" algn="ctr">
              <a:buNone/>
            </a:pPr>
            <a:r>
              <a:rPr lang="en-US" sz="1000" dirty="0">
                <a:solidFill>
                  <a:srgbClr val="16A085"/>
                </a:solidFill>
                <a:latin typeface="Calibri" pitchFamily="34" charset="0"/>
                <a:ea typeface="Calibri" pitchFamily="34" charset="-122"/>
                <a:cs typeface="Calibri" pitchFamily="34" charset="-120"/>
              </a:rPr>
              <a:t>Application Load Balancer</a:t>
            </a:r>
            <a:endParaRPr lang="en-US" sz="1000" dirty="0"/>
          </a:p>
        </p:txBody>
      </p:sp>
      <p:sp>
        <p:nvSpPr>
          <p:cNvPr id="11" name="Text 7"/>
          <p:cNvSpPr/>
          <p:nvPr/>
        </p:nvSpPr>
        <p:spPr>
          <a:xfrm>
            <a:off x="502920" y="3200400"/>
            <a:ext cx="1463040" cy="731520"/>
          </a:xfrm>
          <a:prstGeom prst="rect">
            <a:avLst/>
          </a:prstGeom>
          <a:noFill/>
          <a:ln/>
        </p:spPr>
        <p:txBody>
          <a:bodyPr wrap="square" lIns="0" tIns="0" rIns="0" bIns="0" rtlCol="0" anchor="ctr"/>
          <a:lstStyle/>
          <a:p>
            <a:pPr marL="0" indent="0" algn="ctr">
              <a:buNone/>
            </a:pPr>
            <a:r>
              <a:rPr lang="en-US" sz="900" dirty="0">
                <a:solidFill>
                  <a:srgbClr val="5A6B7F"/>
                </a:solidFill>
                <a:latin typeface="Calibri" pitchFamily="34" charset="0"/>
                <a:ea typeface="Calibri" pitchFamily="34" charset="-122"/>
                <a:cs typeface="Calibri" pitchFamily="34" charset="-120"/>
              </a:rPr>
              <a:t>Distributes incoming user traffic</a:t>
            </a:r>
            <a:endParaRPr lang="en-US" sz="900" dirty="0"/>
          </a:p>
        </p:txBody>
      </p:sp>
      <p:sp>
        <p:nvSpPr>
          <p:cNvPr id="12" name="Shape 8"/>
          <p:cNvSpPr/>
          <p:nvPr/>
        </p:nvSpPr>
        <p:spPr>
          <a:xfrm>
            <a:off x="2148840" y="1234440"/>
            <a:ext cx="1554480" cy="34747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3" name="Shape 9"/>
          <p:cNvSpPr/>
          <p:nvPr/>
        </p:nvSpPr>
        <p:spPr>
          <a:xfrm>
            <a:off x="2148840" y="1234440"/>
            <a:ext cx="1554480" cy="54864"/>
          </a:xfrm>
          <a:prstGeom prst="rect">
            <a:avLst/>
          </a:prstGeom>
          <a:solidFill>
            <a:srgbClr val="F8F4EC"/>
          </a:solidFill>
          <a:ln/>
        </p:spPr>
        <p:txBody>
          <a:bodyPr/>
          <a:lstStyle/>
          <a:p>
            <a:endParaRPr lang="en-US"/>
          </a:p>
        </p:txBody>
      </p:sp>
      <p:pic>
        <p:nvPicPr>
          <p:cNvPr id="14" name="Image 2" descr="preencoded.png"/>
          <p:cNvPicPr>
            <a:picLocks noChangeAspect="1"/>
          </p:cNvPicPr>
          <p:nvPr/>
        </p:nvPicPr>
        <p:blipFill>
          <a:blip r:embed="rId5"/>
          <a:stretch>
            <a:fillRect/>
          </a:stretch>
        </p:blipFill>
        <p:spPr>
          <a:xfrm>
            <a:off x="2697480" y="1508760"/>
            <a:ext cx="457200" cy="457200"/>
          </a:xfrm>
          <a:prstGeom prst="rect">
            <a:avLst/>
          </a:prstGeom>
        </p:spPr>
      </p:pic>
      <p:sp>
        <p:nvSpPr>
          <p:cNvPr id="15" name="Text 10"/>
          <p:cNvSpPr/>
          <p:nvPr/>
        </p:nvSpPr>
        <p:spPr>
          <a:xfrm>
            <a:off x="2194560" y="2103120"/>
            <a:ext cx="1463040" cy="365760"/>
          </a:xfrm>
          <a:prstGeom prst="rect">
            <a:avLst/>
          </a:prstGeom>
          <a:noFill/>
          <a:ln/>
        </p:spPr>
        <p:txBody>
          <a:bodyPr wrap="square" lIns="0" tIns="0" rIns="0" bIns="0" rtlCol="0" anchor="ctr"/>
          <a:lstStyle/>
          <a:p>
            <a:pPr marL="0" indent="0" algn="ctr">
              <a:buNone/>
            </a:pPr>
            <a:r>
              <a:rPr lang="en-US" sz="1000" b="1" dirty="0">
                <a:solidFill>
                  <a:srgbClr val="1A2B4A"/>
                </a:solidFill>
                <a:latin typeface="Georgia" pitchFamily="34" charset="0"/>
                <a:ea typeface="Georgia" pitchFamily="34" charset="-122"/>
                <a:cs typeface="Georgia" pitchFamily="34" charset="-120"/>
              </a:rPr>
              <a:t>APPLICATION</a:t>
            </a:r>
            <a:endParaRPr lang="en-US" sz="1000" dirty="0"/>
          </a:p>
        </p:txBody>
      </p:sp>
      <p:sp>
        <p:nvSpPr>
          <p:cNvPr id="16" name="Text 11"/>
          <p:cNvSpPr/>
          <p:nvPr/>
        </p:nvSpPr>
        <p:spPr>
          <a:xfrm>
            <a:off x="2194560" y="2514600"/>
            <a:ext cx="1463040" cy="548640"/>
          </a:xfrm>
          <a:prstGeom prst="rect">
            <a:avLst/>
          </a:prstGeom>
          <a:noFill/>
          <a:ln/>
        </p:spPr>
        <p:txBody>
          <a:bodyPr wrap="square" lIns="0" tIns="0" rIns="0" bIns="0" rtlCol="0" anchor="ctr"/>
          <a:lstStyle/>
          <a:p>
            <a:pPr marL="0" indent="0" algn="ctr">
              <a:buNone/>
            </a:pPr>
            <a:r>
              <a:rPr lang="en-US" sz="1000" dirty="0">
                <a:solidFill>
                  <a:srgbClr val="16A085"/>
                </a:solidFill>
                <a:latin typeface="Calibri" pitchFamily="34" charset="0"/>
                <a:ea typeface="Calibri" pitchFamily="34" charset="-122"/>
                <a:cs typeface="Calibri" pitchFamily="34" charset="-120"/>
              </a:rPr>
              <a:t>EC2 + Auto Scaling Group</a:t>
            </a:r>
            <a:endParaRPr lang="en-US" sz="1000" dirty="0"/>
          </a:p>
        </p:txBody>
      </p:sp>
      <p:sp>
        <p:nvSpPr>
          <p:cNvPr id="17" name="Text 12"/>
          <p:cNvSpPr/>
          <p:nvPr/>
        </p:nvSpPr>
        <p:spPr>
          <a:xfrm>
            <a:off x="2194560" y="3200400"/>
            <a:ext cx="1463040" cy="731520"/>
          </a:xfrm>
          <a:prstGeom prst="rect">
            <a:avLst/>
          </a:prstGeom>
          <a:noFill/>
          <a:ln/>
        </p:spPr>
        <p:txBody>
          <a:bodyPr wrap="square" lIns="0" tIns="0" rIns="0" bIns="0" rtlCol="0" anchor="ctr"/>
          <a:lstStyle/>
          <a:p>
            <a:pPr marL="0" indent="0" algn="ctr">
              <a:buNone/>
            </a:pPr>
            <a:r>
              <a:rPr lang="en-US" sz="900" dirty="0">
                <a:solidFill>
                  <a:srgbClr val="5A6B7F"/>
                </a:solidFill>
                <a:latin typeface="Calibri" pitchFamily="34" charset="0"/>
                <a:ea typeface="Calibri" pitchFamily="34" charset="-122"/>
                <a:cs typeface="Calibri" pitchFamily="34" charset="-120"/>
              </a:rPr>
              <a:t>Hosts app logic, scales with demand</a:t>
            </a:r>
            <a:endParaRPr lang="en-US" sz="900" dirty="0"/>
          </a:p>
        </p:txBody>
      </p:sp>
      <p:sp>
        <p:nvSpPr>
          <p:cNvPr id="18" name="Shape 13"/>
          <p:cNvSpPr/>
          <p:nvPr/>
        </p:nvSpPr>
        <p:spPr>
          <a:xfrm>
            <a:off x="3840480" y="1234440"/>
            <a:ext cx="1554480" cy="34747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9" name="Shape 14"/>
          <p:cNvSpPr/>
          <p:nvPr/>
        </p:nvSpPr>
        <p:spPr>
          <a:xfrm>
            <a:off x="3840480" y="1234440"/>
            <a:ext cx="1554480" cy="54864"/>
          </a:xfrm>
          <a:prstGeom prst="rect">
            <a:avLst/>
          </a:prstGeom>
          <a:solidFill>
            <a:srgbClr val="EDE8DC"/>
          </a:solidFill>
          <a:ln/>
        </p:spPr>
        <p:txBody>
          <a:bodyPr/>
          <a:lstStyle/>
          <a:p>
            <a:endParaRPr lang="en-US"/>
          </a:p>
        </p:txBody>
      </p:sp>
      <p:pic>
        <p:nvPicPr>
          <p:cNvPr id="20" name="Image 3" descr="preencoded.png"/>
          <p:cNvPicPr>
            <a:picLocks noChangeAspect="1"/>
          </p:cNvPicPr>
          <p:nvPr/>
        </p:nvPicPr>
        <p:blipFill>
          <a:blip r:embed="rId6"/>
          <a:stretch>
            <a:fillRect/>
          </a:stretch>
        </p:blipFill>
        <p:spPr>
          <a:xfrm>
            <a:off x="4389120" y="1508760"/>
            <a:ext cx="457200" cy="457200"/>
          </a:xfrm>
          <a:prstGeom prst="rect">
            <a:avLst/>
          </a:prstGeom>
        </p:spPr>
      </p:pic>
      <p:sp>
        <p:nvSpPr>
          <p:cNvPr id="21" name="Text 15"/>
          <p:cNvSpPr/>
          <p:nvPr/>
        </p:nvSpPr>
        <p:spPr>
          <a:xfrm>
            <a:off x="3886200" y="2103120"/>
            <a:ext cx="1463040" cy="365760"/>
          </a:xfrm>
          <a:prstGeom prst="rect">
            <a:avLst/>
          </a:prstGeom>
          <a:noFill/>
          <a:ln/>
        </p:spPr>
        <p:txBody>
          <a:bodyPr wrap="square" lIns="0" tIns="0" rIns="0" bIns="0" rtlCol="0" anchor="ctr"/>
          <a:lstStyle/>
          <a:p>
            <a:pPr marL="0" indent="0" algn="ctr">
              <a:buNone/>
            </a:pPr>
            <a:r>
              <a:rPr lang="en-US" sz="1000" b="1" dirty="0">
                <a:solidFill>
                  <a:srgbClr val="1A2B4A"/>
                </a:solidFill>
                <a:latin typeface="Georgia" pitchFamily="34" charset="0"/>
                <a:ea typeface="Georgia" pitchFamily="34" charset="-122"/>
                <a:cs typeface="Georgia" pitchFamily="34" charset="-120"/>
              </a:rPr>
              <a:t>DATABASE</a:t>
            </a:r>
            <a:endParaRPr lang="en-US" sz="1000" dirty="0"/>
          </a:p>
        </p:txBody>
      </p:sp>
      <p:sp>
        <p:nvSpPr>
          <p:cNvPr id="22" name="Text 16"/>
          <p:cNvSpPr/>
          <p:nvPr/>
        </p:nvSpPr>
        <p:spPr>
          <a:xfrm>
            <a:off x="3886200" y="2514600"/>
            <a:ext cx="1463040" cy="548640"/>
          </a:xfrm>
          <a:prstGeom prst="rect">
            <a:avLst/>
          </a:prstGeom>
          <a:noFill/>
          <a:ln/>
        </p:spPr>
        <p:txBody>
          <a:bodyPr wrap="square" lIns="0" tIns="0" rIns="0" bIns="0" rtlCol="0" anchor="ctr"/>
          <a:lstStyle/>
          <a:p>
            <a:pPr marL="0" indent="0" algn="ctr">
              <a:buNone/>
            </a:pPr>
            <a:r>
              <a:rPr lang="en-US" sz="1000" dirty="0">
                <a:solidFill>
                  <a:srgbClr val="16A085"/>
                </a:solidFill>
                <a:latin typeface="Calibri" pitchFamily="34" charset="0"/>
                <a:ea typeface="Calibri" pitchFamily="34" charset="-122"/>
                <a:cs typeface="Calibri" pitchFamily="34" charset="-120"/>
              </a:rPr>
              <a:t>Amazon RDS (MySQL)</a:t>
            </a:r>
            <a:endParaRPr lang="en-US" sz="1000" dirty="0"/>
          </a:p>
        </p:txBody>
      </p:sp>
      <p:sp>
        <p:nvSpPr>
          <p:cNvPr id="23" name="Text 17"/>
          <p:cNvSpPr/>
          <p:nvPr/>
        </p:nvSpPr>
        <p:spPr>
          <a:xfrm>
            <a:off x="3886200" y="3200400"/>
            <a:ext cx="1463040" cy="731520"/>
          </a:xfrm>
          <a:prstGeom prst="rect">
            <a:avLst/>
          </a:prstGeom>
          <a:noFill/>
          <a:ln/>
        </p:spPr>
        <p:txBody>
          <a:bodyPr wrap="square" lIns="0" tIns="0" rIns="0" bIns="0" rtlCol="0" anchor="ctr"/>
          <a:lstStyle/>
          <a:p>
            <a:pPr marL="0" indent="0" algn="ctr">
              <a:buNone/>
            </a:pPr>
            <a:r>
              <a:rPr lang="en-US" sz="900" dirty="0">
                <a:solidFill>
                  <a:srgbClr val="5A6B7F"/>
                </a:solidFill>
                <a:latin typeface="Calibri" pitchFamily="34" charset="0"/>
                <a:ea typeface="Calibri" pitchFamily="34" charset="-122"/>
                <a:cs typeface="Calibri" pitchFamily="34" charset="-120"/>
              </a:rPr>
              <a:t>Stores &amp; retrieves user/job data</a:t>
            </a:r>
            <a:endParaRPr lang="en-US" sz="900" dirty="0"/>
          </a:p>
        </p:txBody>
      </p:sp>
      <p:sp>
        <p:nvSpPr>
          <p:cNvPr id="24" name="Shape 18"/>
          <p:cNvSpPr/>
          <p:nvPr/>
        </p:nvSpPr>
        <p:spPr>
          <a:xfrm>
            <a:off x="5532120" y="1234440"/>
            <a:ext cx="1554480" cy="34747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25" name="Shape 19"/>
          <p:cNvSpPr/>
          <p:nvPr/>
        </p:nvSpPr>
        <p:spPr>
          <a:xfrm>
            <a:off x="5532120" y="1234440"/>
            <a:ext cx="1554480" cy="54864"/>
          </a:xfrm>
          <a:prstGeom prst="rect">
            <a:avLst/>
          </a:prstGeom>
          <a:solidFill>
            <a:srgbClr val="16A085"/>
          </a:solidFill>
          <a:ln/>
        </p:spPr>
        <p:txBody>
          <a:bodyPr/>
          <a:lstStyle/>
          <a:p>
            <a:endParaRPr lang="en-US"/>
          </a:p>
        </p:txBody>
      </p:sp>
      <p:pic>
        <p:nvPicPr>
          <p:cNvPr id="26" name="Image 4" descr="preencoded.png"/>
          <p:cNvPicPr>
            <a:picLocks noChangeAspect="1"/>
          </p:cNvPicPr>
          <p:nvPr/>
        </p:nvPicPr>
        <p:blipFill>
          <a:blip r:embed="rId7"/>
          <a:stretch>
            <a:fillRect/>
          </a:stretch>
        </p:blipFill>
        <p:spPr>
          <a:xfrm>
            <a:off x="6080760" y="1508760"/>
            <a:ext cx="457200" cy="457200"/>
          </a:xfrm>
          <a:prstGeom prst="rect">
            <a:avLst/>
          </a:prstGeom>
        </p:spPr>
      </p:pic>
      <p:sp>
        <p:nvSpPr>
          <p:cNvPr id="27" name="Text 20"/>
          <p:cNvSpPr/>
          <p:nvPr/>
        </p:nvSpPr>
        <p:spPr>
          <a:xfrm>
            <a:off x="5577840" y="2103120"/>
            <a:ext cx="1463040" cy="365760"/>
          </a:xfrm>
          <a:prstGeom prst="rect">
            <a:avLst/>
          </a:prstGeom>
          <a:noFill/>
          <a:ln/>
        </p:spPr>
        <p:txBody>
          <a:bodyPr wrap="square" lIns="0" tIns="0" rIns="0" bIns="0" rtlCol="0" anchor="ctr"/>
          <a:lstStyle/>
          <a:p>
            <a:pPr marL="0" indent="0" algn="ctr">
              <a:buNone/>
            </a:pPr>
            <a:r>
              <a:rPr lang="en-US" sz="1000" b="1" dirty="0">
                <a:solidFill>
                  <a:srgbClr val="1A2B4A"/>
                </a:solidFill>
                <a:latin typeface="Georgia" pitchFamily="34" charset="0"/>
                <a:ea typeface="Georgia" pitchFamily="34" charset="-122"/>
                <a:cs typeface="Georgia" pitchFamily="34" charset="-120"/>
              </a:rPr>
              <a:t>STORAGE</a:t>
            </a:r>
            <a:endParaRPr lang="en-US" sz="1000" dirty="0"/>
          </a:p>
        </p:txBody>
      </p:sp>
      <p:sp>
        <p:nvSpPr>
          <p:cNvPr id="28" name="Text 21"/>
          <p:cNvSpPr/>
          <p:nvPr/>
        </p:nvSpPr>
        <p:spPr>
          <a:xfrm>
            <a:off x="5577840" y="2514600"/>
            <a:ext cx="1463040" cy="548640"/>
          </a:xfrm>
          <a:prstGeom prst="rect">
            <a:avLst/>
          </a:prstGeom>
          <a:noFill/>
          <a:ln/>
        </p:spPr>
        <p:txBody>
          <a:bodyPr wrap="square" lIns="0" tIns="0" rIns="0" bIns="0" rtlCol="0" anchor="ctr"/>
          <a:lstStyle/>
          <a:p>
            <a:pPr marL="0" indent="0" algn="ctr">
              <a:buNone/>
            </a:pPr>
            <a:r>
              <a:rPr lang="en-US" sz="1000" dirty="0">
                <a:solidFill>
                  <a:srgbClr val="16A085"/>
                </a:solidFill>
                <a:latin typeface="Calibri" pitchFamily="34" charset="0"/>
                <a:ea typeface="Calibri" pitchFamily="34" charset="-122"/>
                <a:cs typeface="Calibri" pitchFamily="34" charset="-120"/>
              </a:rPr>
              <a:t>Amazon S3</a:t>
            </a:r>
            <a:endParaRPr lang="en-US" sz="1000" dirty="0"/>
          </a:p>
        </p:txBody>
      </p:sp>
      <p:sp>
        <p:nvSpPr>
          <p:cNvPr id="29" name="Text 22"/>
          <p:cNvSpPr/>
          <p:nvPr/>
        </p:nvSpPr>
        <p:spPr>
          <a:xfrm>
            <a:off x="5577840" y="3200400"/>
            <a:ext cx="1463040" cy="731520"/>
          </a:xfrm>
          <a:prstGeom prst="rect">
            <a:avLst/>
          </a:prstGeom>
          <a:noFill/>
          <a:ln/>
        </p:spPr>
        <p:txBody>
          <a:bodyPr wrap="square" lIns="0" tIns="0" rIns="0" bIns="0" rtlCol="0" anchor="ctr"/>
          <a:lstStyle/>
          <a:p>
            <a:pPr marL="0" indent="0" algn="ctr">
              <a:buNone/>
            </a:pPr>
            <a:r>
              <a:rPr lang="en-US" sz="900" dirty="0">
                <a:solidFill>
                  <a:srgbClr val="5A6B7F"/>
                </a:solidFill>
                <a:latin typeface="Calibri" pitchFamily="34" charset="0"/>
                <a:ea typeface="Calibri" pitchFamily="34" charset="-122"/>
                <a:cs typeface="Calibri" pitchFamily="34" charset="-120"/>
              </a:rPr>
              <a:t>Application code storage</a:t>
            </a:r>
            <a:endParaRPr lang="en-US" sz="900" dirty="0"/>
          </a:p>
        </p:txBody>
      </p:sp>
      <p:sp>
        <p:nvSpPr>
          <p:cNvPr id="30" name="Shape 23"/>
          <p:cNvSpPr/>
          <p:nvPr/>
        </p:nvSpPr>
        <p:spPr>
          <a:xfrm>
            <a:off x="7223760" y="1234440"/>
            <a:ext cx="1554480" cy="34747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31" name="Shape 24"/>
          <p:cNvSpPr/>
          <p:nvPr/>
        </p:nvSpPr>
        <p:spPr>
          <a:xfrm>
            <a:off x="7223760" y="1234440"/>
            <a:ext cx="1554480" cy="54864"/>
          </a:xfrm>
          <a:prstGeom prst="rect">
            <a:avLst/>
          </a:prstGeom>
          <a:solidFill>
            <a:srgbClr val="F8F4EC"/>
          </a:solidFill>
          <a:ln/>
        </p:spPr>
        <p:txBody>
          <a:bodyPr/>
          <a:lstStyle/>
          <a:p>
            <a:endParaRPr lang="en-US"/>
          </a:p>
        </p:txBody>
      </p:sp>
      <p:pic>
        <p:nvPicPr>
          <p:cNvPr id="32" name="Image 5" descr="preencoded.png"/>
          <p:cNvPicPr>
            <a:picLocks noChangeAspect="1"/>
          </p:cNvPicPr>
          <p:nvPr/>
        </p:nvPicPr>
        <p:blipFill>
          <a:blip r:embed="rId8"/>
          <a:stretch>
            <a:fillRect/>
          </a:stretch>
        </p:blipFill>
        <p:spPr>
          <a:xfrm>
            <a:off x="7772400" y="1508760"/>
            <a:ext cx="457200" cy="457200"/>
          </a:xfrm>
          <a:prstGeom prst="rect">
            <a:avLst/>
          </a:prstGeom>
        </p:spPr>
      </p:pic>
      <p:sp>
        <p:nvSpPr>
          <p:cNvPr id="33" name="Text 25"/>
          <p:cNvSpPr/>
          <p:nvPr/>
        </p:nvSpPr>
        <p:spPr>
          <a:xfrm>
            <a:off x="7269480" y="2103120"/>
            <a:ext cx="1463040" cy="365760"/>
          </a:xfrm>
          <a:prstGeom prst="rect">
            <a:avLst/>
          </a:prstGeom>
          <a:noFill/>
          <a:ln/>
        </p:spPr>
        <p:txBody>
          <a:bodyPr wrap="square" lIns="0" tIns="0" rIns="0" bIns="0" rtlCol="0" anchor="ctr"/>
          <a:lstStyle/>
          <a:p>
            <a:pPr marL="0" indent="0" algn="ctr">
              <a:buNone/>
            </a:pPr>
            <a:r>
              <a:rPr lang="en-US" sz="1000" b="1" dirty="0">
                <a:solidFill>
                  <a:srgbClr val="1A2B4A"/>
                </a:solidFill>
                <a:latin typeface="Georgia" pitchFamily="34" charset="0"/>
                <a:ea typeface="Georgia" pitchFamily="34" charset="-122"/>
                <a:cs typeface="Georgia" pitchFamily="34" charset="-120"/>
              </a:rPr>
              <a:t>MANAGEMENT</a:t>
            </a:r>
            <a:endParaRPr lang="en-US" sz="1000" dirty="0"/>
          </a:p>
        </p:txBody>
      </p:sp>
      <p:sp>
        <p:nvSpPr>
          <p:cNvPr id="34" name="Text 26"/>
          <p:cNvSpPr/>
          <p:nvPr/>
        </p:nvSpPr>
        <p:spPr>
          <a:xfrm>
            <a:off x="7269480" y="2514600"/>
            <a:ext cx="1463040" cy="548640"/>
          </a:xfrm>
          <a:prstGeom prst="rect">
            <a:avLst/>
          </a:prstGeom>
          <a:noFill/>
          <a:ln/>
        </p:spPr>
        <p:txBody>
          <a:bodyPr wrap="square" lIns="0" tIns="0" rIns="0" bIns="0" rtlCol="0" anchor="ctr"/>
          <a:lstStyle/>
          <a:p>
            <a:pPr marL="0" indent="0" algn="ctr">
              <a:buNone/>
            </a:pPr>
            <a:r>
              <a:rPr lang="en-US" sz="1000" dirty="0">
                <a:solidFill>
                  <a:srgbClr val="16A085"/>
                </a:solidFill>
                <a:latin typeface="Calibri" pitchFamily="34" charset="0"/>
                <a:ea typeface="Calibri" pitchFamily="34" charset="-122"/>
                <a:cs typeface="Calibri" pitchFamily="34" charset="-120"/>
              </a:rPr>
              <a:t>AWS Systems Manager</a:t>
            </a:r>
            <a:endParaRPr lang="en-US" sz="1000" dirty="0"/>
          </a:p>
        </p:txBody>
      </p:sp>
      <p:sp>
        <p:nvSpPr>
          <p:cNvPr id="35" name="Text 27"/>
          <p:cNvSpPr/>
          <p:nvPr/>
        </p:nvSpPr>
        <p:spPr>
          <a:xfrm>
            <a:off x="7269480" y="3200400"/>
            <a:ext cx="1463040" cy="731520"/>
          </a:xfrm>
          <a:prstGeom prst="rect">
            <a:avLst/>
          </a:prstGeom>
          <a:noFill/>
          <a:ln/>
        </p:spPr>
        <p:txBody>
          <a:bodyPr wrap="square" lIns="0" tIns="0" rIns="0" bIns="0" rtlCol="0" anchor="ctr"/>
          <a:lstStyle/>
          <a:p>
            <a:pPr marL="0" indent="0" algn="ctr">
              <a:buNone/>
            </a:pPr>
            <a:r>
              <a:rPr lang="en-US" sz="900" dirty="0">
                <a:solidFill>
                  <a:srgbClr val="5A6B7F"/>
                </a:solidFill>
                <a:latin typeface="Calibri" pitchFamily="34" charset="0"/>
                <a:ea typeface="Calibri" pitchFamily="34" charset="-122"/>
                <a:cs typeface="Calibri" pitchFamily="34" charset="-120"/>
              </a:rPr>
              <a:t>Secure instance access</a:t>
            </a:r>
            <a:endParaRPr lang="en-US" sz="900" dirty="0"/>
          </a:p>
        </p:txBody>
      </p:sp>
      <p:sp>
        <p:nvSpPr>
          <p:cNvPr id="36" name="Text 28"/>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5A6B7F"/>
                </a:solidFill>
                <a:latin typeface="Calibri" pitchFamily="34" charset="0"/>
                <a:ea typeface="Calibri" pitchFamily="34" charset="-122"/>
                <a:cs typeface="Calibri" pitchFamily="34" charset="-120"/>
              </a:rPr>
              <a:t>4 / 25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8"/>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16A085"/>
          </a:solidFill>
          <a:ln/>
        </p:spPr>
        <p:txBody>
          <a:bodyPr/>
          <a:lstStyle/>
          <a:p>
            <a:endParaRPr lang="en-US"/>
          </a:p>
        </p:txBody>
      </p:sp>
      <p:sp>
        <p:nvSpPr>
          <p:cNvPr id="3" name="Text 1"/>
          <p:cNvSpPr/>
          <p:nvPr/>
        </p:nvSpPr>
        <p:spPr>
          <a:xfrm>
            <a:off x="457199" y="228600"/>
            <a:ext cx="6333565" cy="502920"/>
          </a:xfrm>
          <a:prstGeom prst="rect">
            <a:avLst/>
          </a:prstGeom>
          <a:noFill/>
          <a:ln/>
        </p:spPr>
        <p:txBody>
          <a:bodyPr wrap="square" lIns="0" tIns="0" rIns="0" bIns="0" rtlCol="0" anchor="ctr"/>
          <a:lstStyle/>
          <a:p>
            <a:pPr marL="0" indent="0">
              <a:buNone/>
            </a:pPr>
            <a:r>
              <a:rPr lang="en-US" sz="2400" b="1" dirty="0">
                <a:solidFill>
                  <a:srgbClr val="1A2B4A"/>
                </a:solidFill>
                <a:latin typeface="Georgia" pitchFamily="34" charset="0"/>
                <a:ea typeface="Georgia" pitchFamily="34" charset="-122"/>
                <a:cs typeface="Georgia" pitchFamily="34" charset="-120"/>
              </a:rPr>
              <a:t>SYSTEM ARCHITECTURE DIAGRAM</a:t>
            </a:r>
            <a:endParaRPr lang="en-US" sz="2400" dirty="0"/>
          </a:p>
        </p:txBody>
      </p:sp>
      <p:sp>
        <p:nvSpPr>
          <p:cNvPr id="4" name="Text 2"/>
          <p:cNvSpPr/>
          <p:nvPr/>
        </p:nvSpPr>
        <p:spPr>
          <a:xfrm>
            <a:off x="457200" y="685800"/>
            <a:ext cx="5486400" cy="274320"/>
          </a:xfrm>
          <a:prstGeom prst="rect">
            <a:avLst/>
          </a:prstGeom>
          <a:noFill/>
          <a:ln/>
        </p:spPr>
        <p:txBody>
          <a:bodyPr wrap="square" lIns="0" tIns="0" rIns="0" bIns="0" rtlCol="0" anchor="ctr"/>
          <a:lstStyle/>
          <a:p>
            <a:pPr marL="0" indent="0">
              <a:buNone/>
            </a:pPr>
            <a:r>
              <a:rPr lang="en-US" sz="1100" i="1" dirty="0">
                <a:solidFill>
                  <a:srgbClr val="5A6B7F"/>
                </a:solidFill>
                <a:latin typeface="Calibri" pitchFamily="34" charset="0"/>
                <a:ea typeface="Calibri" pitchFamily="34" charset="-122"/>
                <a:cs typeface="Calibri" pitchFamily="34" charset="-120"/>
              </a:rPr>
              <a:t>End-to-end view of the TaskMatch infrastructure on AWS</a:t>
            </a:r>
            <a:endParaRPr lang="en-US" sz="1100" dirty="0"/>
          </a:p>
        </p:txBody>
      </p:sp>
      <p:pic>
        <p:nvPicPr>
          <p:cNvPr id="5" name="Image 0" descr="/home/claude/media/image1.png"/>
          <p:cNvPicPr>
            <a:picLocks noChangeAspect="1"/>
          </p:cNvPicPr>
          <p:nvPr/>
        </p:nvPicPr>
        <p:blipFill>
          <a:blip r:embed="rId3"/>
          <a:srcRect/>
          <a:stretch/>
        </p:blipFill>
        <p:spPr>
          <a:xfrm>
            <a:off x="1998254" y="1140823"/>
            <a:ext cx="5147491" cy="3657600"/>
          </a:xfrm>
          <a:prstGeom prst="rect">
            <a:avLst/>
          </a:prstGeom>
        </p:spPr>
      </p:pic>
      <p:sp>
        <p:nvSpPr>
          <p:cNvPr id="6" name="Text 3"/>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5A6B7F"/>
                </a:solidFill>
                <a:latin typeface="Calibri" pitchFamily="34" charset="0"/>
                <a:ea typeface="Calibri" pitchFamily="34" charset="-122"/>
                <a:cs typeface="Calibri" pitchFamily="34" charset="-120"/>
              </a:rPr>
              <a:t>5 / 25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DE8D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6A085"/>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457200" y="274320"/>
            <a:ext cx="365760" cy="365760"/>
          </a:xfrm>
          <a:prstGeom prst="rect">
            <a:avLst/>
          </a:prstGeom>
        </p:spPr>
      </p:pic>
      <p:sp>
        <p:nvSpPr>
          <p:cNvPr id="4" name="Text 1"/>
          <p:cNvSpPr/>
          <p:nvPr/>
        </p:nvSpPr>
        <p:spPr>
          <a:xfrm>
            <a:off x="914400" y="228600"/>
            <a:ext cx="4572000" cy="502920"/>
          </a:xfrm>
          <a:prstGeom prst="rect">
            <a:avLst/>
          </a:prstGeom>
          <a:noFill/>
          <a:ln/>
        </p:spPr>
        <p:txBody>
          <a:bodyPr wrap="square" lIns="0" tIns="0" rIns="0" bIns="0" rtlCol="0" anchor="ctr"/>
          <a:lstStyle/>
          <a:p>
            <a:pPr marL="0" indent="0">
              <a:buNone/>
            </a:pPr>
            <a:r>
              <a:rPr lang="en-US" sz="2800" b="1" dirty="0">
                <a:solidFill>
                  <a:srgbClr val="1A2B4A"/>
                </a:solidFill>
                <a:latin typeface="Georgia" pitchFamily="34" charset="0"/>
                <a:ea typeface="Georgia" pitchFamily="34" charset="-122"/>
                <a:cs typeface="Georgia" pitchFamily="34" charset="-120"/>
              </a:rPr>
              <a:t>NETWORKING SETUP</a:t>
            </a:r>
            <a:endParaRPr lang="en-US" sz="2800" dirty="0"/>
          </a:p>
        </p:txBody>
      </p:sp>
      <p:sp>
        <p:nvSpPr>
          <p:cNvPr id="5" name="Text 2"/>
          <p:cNvSpPr/>
          <p:nvPr/>
        </p:nvSpPr>
        <p:spPr>
          <a:xfrm>
            <a:off x="457200" y="749808"/>
            <a:ext cx="7315200" cy="274320"/>
          </a:xfrm>
          <a:prstGeom prst="rect">
            <a:avLst/>
          </a:prstGeom>
          <a:noFill/>
          <a:ln/>
        </p:spPr>
        <p:txBody>
          <a:bodyPr wrap="square" lIns="0" tIns="0" rIns="0" bIns="0" rtlCol="0" anchor="ctr"/>
          <a:lstStyle/>
          <a:p>
            <a:pPr marL="0" indent="0">
              <a:buNone/>
            </a:pPr>
            <a:r>
              <a:rPr lang="en-US" sz="1200" i="1" dirty="0">
                <a:solidFill>
                  <a:srgbClr val="1A6B5A"/>
                </a:solidFill>
                <a:latin typeface="Calibri" pitchFamily="34" charset="0"/>
                <a:ea typeface="Calibri" pitchFamily="34" charset="-122"/>
                <a:cs typeface="Calibri" pitchFamily="34" charset="-120"/>
              </a:rPr>
              <a:t>Custom VPC with CIDR 10.0.0.0/16</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5029200" cy="1965960"/>
        </p:xfrm>
        <a:graphic>
          <a:graphicData uri="http://schemas.openxmlformats.org/drawingml/2006/table">
            <a:tbl>
              <a:tblPr/>
              <a:tblGrid>
                <a:gridCol w="146304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320040">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Subnet Name</a:t>
                      </a:r>
                      <a:endParaRPr lang="en-US" sz="1000" dirty="0">
                        <a:latin typeface="Calibri" charset="0"/>
                        <a:ea typeface="Calibri" charset="0"/>
                        <a:cs typeface="Calibri" charset="0"/>
                      </a:endParaRPr>
                    </a:p>
                  </a:txBody>
                  <a:tcPr>
                    <a:lnL w="6350" cap="flat" cmpd="sng" algn="ctr">
                      <a:solidFill>
                        <a:srgbClr val="F8F4EC"/>
                      </a:solidFill>
                      <a:prstDash val="solid"/>
                      <a:round/>
                      <a:headEnd type="none" w="med" len="med"/>
                      <a:tailEnd type="none" w="med" len="med"/>
                    </a:lnL>
                    <a:lnR w="6350" cap="flat" cmpd="sng" algn="ctr">
                      <a:solidFill>
                        <a:srgbClr val="F8F4EC"/>
                      </a:solidFill>
                      <a:prstDash val="solid"/>
                      <a:round/>
                      <a:headEnd type="none" w="med" len="med"/>
                      <a:tailEnd type="none" w="med" len="med"/>
                    </a:lnR>
                    <a:lnT w="6350" cap="flat" cmpd="sng" algn="ctr">
                      <a:solidFill>
                        <a:srgbClr val="F8F4EC"/>
                      </a:solidFill>
                      <a:prstDash val="solid"/>
                      <a:round/>
                      <a:headEnd type="none" w="med" len="med"/>
                      <a:tailEnd type="none" w="med" len="med"/>
                    </a:lnT>
                    <a:lnB w="6350" cap="flat" cmpd="sng" algn="ctr">
                      <a:solidFill>
                        <a:srgbClr val="F8F4EC"/>
                      </a:solidFill>
                      <a:prstDash val="solid"/>
                      <a:round/>
                      <a:headEnd type="none" w="med" len="med"/>
                      <a:tailEnd type="none" w="med" len="med"/>
                    </a:lnB>
                    <a:solidFill>
                      <a:srgbClr val="16A085"/>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Type</a:t>
                      </a:r>
                      <a:endParaRPr lang="en-US" sz="1000" dirty="0">
                        <a:latin typeface="Calibri" charset="0"/>
                        <a:ea typeface="Calibri" charset="0"/>
                        <a:cs typeface="Calibri" charset="0"/>
                      </a:endParaRPr>
                    </a:p>
                  </a:txBody>
                  <a:tcPr>
                    <a:lnL w="6350" cap="flat" cmpd="sng" algn="ctr">
                      <a:solidFill>
                        <a:srgbClr val="F8F4EC"/>
                      </a:solidFill>
                      <a:prstDash val="solid"/>
                      <a:round/>
                      <a:headEnd type="none" w="med" len="med"/>
                      <a:tailEnd type="none" w="med" len="med"/>
                    </a:lnL>
                    <a:lnR w="6350" cap="flat" cmpd="sng" algn="ctr">
                      <a:solidFill>
                        <a:srgbClr val="F8F4EC"/>
                      </a:solidFill>
                      <a:prstDash val="solid"/>
                      <a:round/>
                      <a:headEnd type="none" w="med" len="med"/>
                      <a:tailEnd type="none" w="med" len="med"/>
                    </a:lnR>
                    <a:lnT w="6350" cap="flat" cmpd="sng" algn="ctr">
                      <a:solidFill>
                        <a:srgbClr val="F8F4EC"/>
                      </a:solidFill>
                      <a:prstDash val="solid"/>
                      <a:round/>
                      <a:headEnd type="none" w="med" len="med"/>
                      <a:tailEnd type="none" w="med" len="med"/>
                    </a:lnT>
                    <a:lnB w="6350" cap="flat" cmpd="sng" algn="ctr">
                      <a:solidFill>
                        <a:srgbClr val="F8F4EC"/>
                      </a:solidFill>
                      <a:prstDash val="solid"/>
                      <a:round/>
                      <a:headEnd type="none" w="med" len="med"/>
                      <a:tailEnd type="none" w="med" len="med"/>
                    </a:lnB>
                    <a:solidFill>
                      <a:srgbClr val="16A085"/>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AZ</a:t>
                      </a:r>
                      <a:endParaRPr lang="en-US" sz="1000" dirty="0">
                        <a:latin typeface="Calibri" charset="0"/>
                        <a:ea typeface="Calibri" charset="0"/>
                        <a:cs typeface="Calibri" charset="0"/>
                      </a:endParaRPr>
                    </a:p>
                  </a:txBody>
                  <a:tcPr>
                    <a:lnL w="6350" cap="flat" cmpd="sng" algn="ctr">
                      <a:solidFill>
                        <a:srgbClr val="F8F4EC"/>
                      </a:solidFill>
                      <a:prstDash val="solid"/>
                      <a:round/>
                      <a:headEnd type="none" w="med" len="med"/>
                      <a:tailEnd type="none" w="med" len="med"/>
                    </a:lnL>
                    <a:lnR w="6350" cap="flat" cmpd="sng" algn="ctr">
                      <a:solidFill>
                        <a:srgbClr val="F8F4EC"/>
                      </a:solidFill>
                      <a:prstDash val="solid"/>
                      <a:round/>
                      <a:headEnd type="none" w="med" len="med"/>
                      <a:tailEnd type="none" w="med" len="med"/>
                    </a:lnR>
                    <a:lnT w="6350" cap="flat" cmpd="sng" algn="ctr">
                      <a:solidFill>
                        <a:srgbClr val="F8F4EC"/>
                      </a:solidFill>
                      <a:prstDash val="solid"/>
                      <a:round/>
                      <a:headEnd type="none" w="med" len="med"/>
                      <a:tailEnd type="none" w="med" len="med"/>
                    </a:lnT>
                    <a:lnB w="6350" cap="flat" cmpd="sng" algn="ctr">
                      <a:solidFill>
                        <a:srgbClr val="F8F4EC"/>
                      </a:solidFill>
                      <a:prstDash val="solid"/>
                      <a:round/>
                      <a:headEnd type="none" w="med" len="med"/>
                      <a:tailEnd type="none" w="med" len="med"/>
                    </a:lnB>
                    <a:solidFill>
                      <a:srgbClr val="16A085"/>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CIDR Block</a:t>
                      </a:r>
                      <a:endParaRPr lang="en-US" sz="1000" dirty="0">
                        <a:latin typeface="Calibri" charset="0"/>
                        <a:ea typeface="Calibri" charset="0"/>
                        <a:cs typeface="Calibri" charset="0"/>
                      </a:endParaRPr>
                    </a:p>
                  </a:txBody>
                  <a:tcPr>
                    <a:lnL w="6350" cap="flat" cmpd="sng" algn="ctr">
                      <a:solidFill>
                        <a:srgbClr val="F8F4EC"/>
                      </a:solidFill>
                      <a:prstDash val="solid"/>
                      <a:round/>
                      <a:headEnd type="none" w="med" len="med"/>
                      <a:tailEnd type="none" w="med" len="med"/>
                    </a:lnL>
                    <a:lnR w="6350" cap="flat" cmpd="sng" algn="ctr">
                      <a:solidFill>
                        <a:srgbClr val="F8F4EC"/>
                      </a:solidFill>
                      <a:prstDash val="solid"/>
                      <a:round/>
                      <a:headEnd type="none" w="med" len="med"/>
                      <a:tailEnd type="none" w="med" len="med"/>
                    </a:lnR>
                    <a:lnT w="6350" cap="flat" cmpd="sng" algn="ctr">
                      <a:solidFill>
                        <a:srgbClr val="F8F4EC"/>
                      </a:solidFill>
                      <a:prstDash val="solid"/>
                      <a:round/>
                      <a:headEnd type="none" w="med" len="med"/>
                      <a:tailEnd type="none" w="med" len="med"/>
                    </a:lnT>
                    <a:lnB w="6350" cap="flat" cmpd="sng" algn="ctr">
                      <a:solidFill>
                        <a:srgbClr val="F8F4EC"/>
                      </a:solidFill>
                      <a:prstDash val="solid"/>
                      <a:round/>
                      <a:headEnd type="none" w="med" len="med"/>
                      <a:tailEnd type="none" w="med" len="med"/>
                    </a:lnB>
                    <a:solidFill>
                      <a:srgbClr val="16A085"/>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1A2B4A"/>
                          </a:solidFill>
                          <a:latin typeface="Calibri" pitchFamily="34" charset="0"/>
                          <a:ea typeface="Calibri" pitchFamily="34" charset="-122"/>
                          <a:cs typeface="Calibri" pitchFamily="34" charset="-120"/>
                        </a:rPr>
                        <a:t>Public Subnet 1a</a:t>
                      </a:r>
                      <a:endParaRPr lang="en-US" sz="900" dirty="0">
                        <a:latin typeface="Calibri" charset="0"/>
                        <a:ea typeface="Calibri" charset="0"/>
                        <a:cs typeface="Calibri" charset="0"/>
                      </a:endParaRPr>
                    </a:p>
                  </a:txBody>
                  <a:tcPr>
                    <a:lnL w="6350" cap="flat" cmpd="sng" algn="ctr">
                      <a:solidFill>
                        <a:srgbClr val="F8F4EC"/>
                      </a:solidFill>
                      <a:prstDash val="solid"/>
                      <a:round/>
                      <a:headEnd type="none" w="med" len="med"/>
                      <a:tailEnd type="none" w="med" len="med"/>
                    </a:lnL>
                    <a:lnR w="6350" cap="flat" cmpd="sng" algn="ctr">
                      <a:solidFill>
                        <a:srgbClr val="F8F4EC"/>
                      </a:solidFill>
                      <a:prstDash val="solid"/>
                      <a:round/>
                      <a:headEnd type="none" w="med" len="med"/>
                      <a:tailEnd type="none" w="med" len="med"/>
                    </a:lnR>
                    <a:lnT w="6350" cap="flat" cmpd="sng" algn="ctr">
                      <a:solidFill>
                        <a:srgbClr val="F8F4EC"/>
                      </a:solidFill>
                      <a:prstDash val="solid"/>
                      <a:round/>
                      <a:headEnd type="none" w="med" len="med"/>
                      <a:tailEnd type="none" w="med" len="med"/>
                    </a:lnT>
                    <a:lnB w="6350" cap="flat" cmpd="sng" algn="ctr">
                      <a:solidFill>
                        <a:srgbClr val="F8F4EC"/>
                      </a:solidFill>
                      <a:prstDash val="solid"/>
                      <a:round/>
                      <a:headEnd type="none" w="med" len="med"/>
                      <a:tailEnd type="none" w="med" len="med"/>
                    </a:lnB>
                  </a:tcPr>
                </a:tc>
                <a:tc>
                  <a:txBody>
                    <a:bodyPr/>
                    <a:lstStyle/>
                    <a:p>
                      <a:pPr marL="0" indent="0">
                        <a:buNone/>
                      </a:pPr>
                      <a:r>
                        <a:rPr lang="en-US" sz="900" dirty="0">
                          <a:solidFill>
                            <a:srgbClr val="1A2B4A"/>
                          </a:solidFill>
                          <a:latin typeface="Calibri" pitchFamily="34" charset="0"/>
                          <a:ea typeface="Calibri" pitchFamily="34" charset="-122"/>
                          <a:cs typeface="Calibri" pitchFamily="34" charset="-120"/>
                        </a:rPr>
                        <a:t>Public</a:t>
                      </a:r>
                      <a:endParaRPr lang="en-US" sz="900" dirty="0">
                        <a:latin typeface="Calibri" charset="0"/>
                        <a:ea typeface="Calibri" charset="0"/>
                        <a:cs typeface="Calibri" charset="0"/>
                      </a:endParaRPr>
                    </a:p>
                  </a:txBody>
                  <a:tcPr>
                    <a:lnL w="6350" cap="flat" cmpd="sng" algn="ctr">
                      <a:solidFill>
                        <a:srgbClr val="F8F4EC"/>
                      </a:solidFill>
                      <a:prstDash val="solid"/>
                      <a:round/>
                      <a:headEnd type="none" w="med" len="med"/>
                      <a:tailEnd type="none" w="med" len="med"/>
                    </a:lnL>
                    <a:lnR w="6350" cap="flat" cmpd="sng" algn="ctr">
                      <a:solidFill>
                        <a:srgbClr val="F8F4EC"/>
                      </a:solidFill>
                      <a:prstDash val="solid"/>
                      <a:round/>
                      <a:headEnd type="none" w="med" len="med"/>
                      <a:tailEnd type="none" w="med" len="med"/>
                    </a:lnR>
                    <a:lnT w="6350" cap="flat" cmpd="sng" algn="ctr">
                      <a:solidFill>
                        <a:srgbClr val="F8F4EC"/>
                      </a:solidFill>
                      <a:prstDash val="solid"/>
                      <a:round/>
                      <a:headEnd type="none" w="med" len="med"/>
                      <a:tailEnd type="none" w="med" len="med"/>
                    </a:lnT>
                    <a:lnB w="6350" cap="flat" cmpd="sng" algn="ctr">
                      <a:solidFill>
                        <a:srgbClr val="F8F4EC"/>
                      </a:solidFill>
                      <a:prstDash val="solid"/>
                      <a:round/>
                      <a:headEnd type="none" w="med" len="med"/>
                      <a:tailEnd type="none" w="med" len="med"/>
                    </a:lnB>
                  </a:tcPr>
                </a:tc>
                <a:tc>
                  <a:txBody>
                    <a:bodyPr/>
                    <a:lstStyle/>
                    <a:p>
                      <a:pPr marL="0" indent="0">
                        <a:buNone/>
                      </a:pPr>
                      <a:r>
                        <a:rPr lang="en-US" sz="900" dirty="0">
                          <a:solidFill>
                            <a:srgbClr val="1A2B4A"/>
                          </a:solidFill>
                          <a:latin typeface="Calibri" pitchFamily="34" charset="0"/>
                          <a:ea typeface="Calibri" pitchFamily="34" charset="-122"/>
                          <a:cs typeface="Calibri" pitchFamily="34" charset="-120"/>
                        </a:rPr>
                        <a:t>us-east-1a</a:t>
                      </a:r>
                      <a:endParaRPr lang="en-US" sz="900" dirty="0">
                        <a:latin typeface="Calibri" charset="0"/>
                        <a:ea typeface="Calibri" charset="0"/>
                        <a:cs typeface="Calibri" charset="0"/>
                      </a:endParaRPr>
                    </a:p>
                  </a:txBody>
                  <a:tcPr>
                    <a:lnL w="6350" cap="flat" cmpd="sng" algn="ctr">
                      <a:solidFill>
                        <a:srgbClr val="F8F4EC"/>
                      </a:solidFill>
                      <a:prstDash val="solid"/>
                      <a:round/>
                      <a:headEnd type="none" w="med" len="med"/>
                      <a:tailEnd type="none" w="med" len="med"/>
                    </a:lnL>
                    <a:lnR w="6350" cap="flat" cmpd="sng" algn="ctr">
                      <a:solidFill>
                        <a:srgbClr val="F8F4EC"/>
                      </a:solidFill>
                      <a:prstDash val="solid"/>
                      <a:round/>
                      <a:headEnd type="none" w="med" len="med"/>
                      <a:tailEnd type="none" w="med" len="med"/>
                    </a:lnR>
                    <a:lnT w="6350" cap="flat" cmpd="sng" algn="ctr">
                      <a:solidFill>
                        <a:srgbClr val="F8F4EC"/>
                      </a:solidFill>
                      <a:prstDash val="solid"/>
                      <a:round/>
                      <a:headEnd type="none" w="med" len="med"/>
                      <a:tailEnd type="none" w="med" len="med"/>
                    </a:lnT>
                    <a:lnB w="6350" cap="flat" cmpd="sng" algn="ctr">
                      <a:solidFill>
                        <a:srgbClr val="F8F4EC"/>
                      </a:solidFill>
                      <a:prstDash val="solid"/>
                      <a:round/>
                      <a:headEnd type="none" w="med" len="med"/>
                      <a:tailEnd type="none" w="med" len="med"/>
                    </a:lnB>
                  </a:tcPr>
                </a:tc>
                <a:tc>
                  <a:txBody>
                    <a:bodyPr/>
                    <a:lstStyle/>
                    <a:p>
                      <a:pPr marL="0" indent="0">
                        <a:buNone/>
                      </a:pPr>
                      <a:r>
                        <a:rPr lang="en-US" sz="900" dirty="0">
                          <a:solidFill>
                            <a:srgbClr val="1A2B4A"/>
                          </a:solidFill>
                          <a:latin typeface="Calibri" pitchFamily="34" charset="0"/>
                          <a:ea typeface="Calibri" pitchFamily="34" charset="-122"/>
                          <a:cs typeface="Calibri" pitchFamily="34" charset="-120"/>
                        </a:rPr>
                        <a:t>10.0.1.0/24</a:t>
                      </a:r>
                      <a:endParaRPr lang="en-US" sz="900" dirty="0">
                        <a:latin typeface="Calibri" charset="0"/>
                        <a:ea typeface="Calibri" charset="0"/>
                        <a:cs typeface="Calibri" charset="0"/>
                      </a:endParaRPr>
                    </a:p>
                  </a:txBody>
                  <a:tcPr>
                    <a:lnL w="6350" cap="flat" cmpd="sng" algn="ctr">
                      <a:solidFill>
                        <a:srgbClr val="F8F4EC"/>
                      </a:solidFill>
                      <a:prstDash val="solid"/>
                      <a:round/>
                      <a:headEnd type="none" w="med" len="med"/>
                      <a:tailEnd type="none" w="med" len="med"/>
                    </a:lnL>
                    <a:lnR w="6350" cap="flat" cmpd="sng" algn="ctr">
                      <a:solidFill>
                        <a:srgbClr val="F8F4EC"/>
                      </a:solidFill>
                      <a:prstDash val="solid"/>
                      <a:round/>
                      <a:headEnd type="none" w="med" len="med"/>
                      <a:tailEnd type="none" w="med" len="med"/>
                    </a:lnR>
                    <a:lnT w="6350" cap="flat" cmpd="sng" algn="ctr">
                      <a:solidFill>
                        <a:srgbClr val="F8F4EC"/>
                      </a:solidFill>
                      <a:prstDash val="solid"/>
                      <a:round/>
                      <a:headEnd type="none" w="med" len="med"/>
                      <a:tailEnd type="none" w="med" len="med"/>
                    </a:lnT>
                    <a:lnB w="6350" cap="flat" cmpd="sng" algn="ctr">
                      <a:solidFill>
                        <a:srgbClr val="F8F4EC"/>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marL="0" indent="0">
                        <a:buNone/>
                      </a:pPr>
                      <a:r>
                        <a:rPr lang="en-US" sz="900" dirty="0">
                          <a:solidFill>
                            <a:srgbClr val="1A2B4A"/>
                          </a:solidFill>
                          <a:latin typeface="Calibri" pitchFamily="34" charset="0"/>
                          <a:ea typeface="Calibri" pitchFamily="34" charset="-122"/>
                          <a:cs typeface="Calibri" pitchFamily="34" charset="-120"/>
                        </a:rPr>
                        <a:t>Public Subnet 1b</a:t>
                      </a:r>
                      <a:endParaRPr lang="en-US" sz="900" dirty="0">
                        <a:latin typeface="Calibri" charset="0"/>
                        <a:ea typeface="Calibri" charset="0"/>
                        <a:cs typeface="Calibri" charset="0"/>
                      </a:endParaRPr>
                    </a:p>
                  </a:txBody>
                  <a:tcPr>
                    <a:lnL w="6350" cap="flat" cmpd="sng" algn="ctr">
                      <a:solidFill>
                        <a:srgbClr val="F8F4EC"/>
                      </a:solidFill>
                      <a:prstDash val="solid"/>
                      <a:round/>
                      <a:headEnd type="none" w="med" len="med"/>
                      <a:tailEnd type="none" w="med" len="med"/>
                    </a:lnL>
                    <a:lnR w="6350" cap="flat" cmpd="sng" algn="ctr">
                      <a:solidFill>
                        <a:srgbClr val="F8F4EC"/>
                      </a:solidFill>
                      <a:prstDash val="solid"/>
                      <a:round/>
                      <a:headEnd type="none" w="med" len="med"/>
                      <a:tailEnd type="none" w="med" len="med"/>
                    </a:lnR>
                    <a:lnT w="6350" cap="flat" cmpd="sng" algn="ctr">
                      <a:solidFill>
                        <a:srgbClr val="F8F4EC"/>
                      </a:solidFill>
                      <a:prstDash val="solid"/>
                      <a:round/>
                      <a:headEnd type="none" w="med" len="med"/>
                      <a:tailEnd type="none" w="med" len="med"/>
                    </a:lnT>
                    <a:lnB w="6350" cap="flat" cmpd="sng" algn="ctr">
                      <a:solidFill>
                        <a:srgbClr val="F8F4EC"/>
                      </a:solidFill>
                      <a:prstDash val="solid"/>
                      <a:round/>
                      <a:headEnd type="none" w="med" len="med"/>
                      <a:tailEnd type="none" w="med" len="med"/>
                    </a:lnB>
                  </a:tcPr>
                </a:tc>
                <a:tc>
                  <a:txBody>
                    <a:bodyPr/>
                    <a:lstStyle/>
                    <a:p>
                      <a:pPr marL="0" indent="0">
                        <a:buNone/>
                      </a:pPr>
                      <a:r>
                        <a:rPr lang="en-US" sz="900" dirty="0">
                          <a:solidFill>
                            <a:srgbClr val="1A2B4A"/>
                          </a:solidFill>
                          <a:latin typeface="Calibri" pitchFamily="34" charset="0"/>
                          <a:ea typeface="Calibri" pitchFamily="34" charset="-122"/>
                          <a:cs typeface="Calibri" pitchFamily="34" charset="-120"/>
                        </a:rPr>
                        <a:t>Public</a:t>
                      </a:r>
                      <a:endParaRPr lang="en-US" sz="900" dirty="0">
                        <a:latin typeface="Calibri" charset="0"/>
                        <a:ea typeface="Calibri" charset="0"/>
                        <a:cs typeface="Calibri" charset="0"/>
                      </a:endParaRPr>
                    </a:p>
                  </a:txBody>
                  <a:tcPr>
                    <a:lnL w="6350" cap="flat" cmpd="sng" algn="ctr">
                      <a:solidFill>
                        <a:srgbClr val="F8F4EC"/>
                      </a:solidFill>
                      <a:prstDash val="solid"/>
                      <a:round/>
                      <a:headEnd type="none" w="med" len="med"/>
                      <a:tailEnd type="none" w="med" len="med"/>
                    </a:lnL>
                    <a:lnR w="6350" cap="flat" cmpd="sng" algn="ctr">
                      <a:solidFill>
                        <a:srgbClr val="F8F4EC"/>
                      </a:solidFill>
                      <a:prstDash val="solid"/>
                      <a:round/>
                      <a:headEnd type="none" w="med" len="med"/>
                      <a:tailEnd type="none" w="med" len="med"/>
                    </a:lnR>
                    <a:lnT w="6350" cap="flat" cmpd="sng" algn="ctr">
                      <a:solidFill>
                        <a:srgbClr val="F8F4EC"/>
                      </a:solidFill>
                      <a:prstDash val="solid"/>
                      <a:round/>
                      <a:headEnd type="none" w="med" len="med"/>
                      <a:tailEnd type="none" w="med" len="med"/>
                    </a:lnT>
                    <a:lnB w="6350" cap="flat" cmpd="sng" algn="ctr">
                      <a:solidFill>
                        <a:srgbClr val="F8F4EC"/>
                      </a:solidFill>
                      <a:prstDash val="solid"/>
                      <a:round/>
                      <a:headEnd type="none" w="med" len="med"/>
                      <a:tailEnd type="none" w="med" len="med"/>
                    </a:lnB>
                  </a:tcPr>
                </a:tc>
                <a:tc>
                  <a:txBody>
                    <a:bodyPr/>
                    <a:lstStyle/>
                    <a:p>
                      <a:pPr marL="0" indent="0">
                        <a:buNone/>
                      </a:pPr>
                      <a:r>
                        <a:rPr lang="en-US" sz="900" dirty="0">
                          <a:solidFill>
                            <a:srgbClr val="1A2B4A"/>
                          </a:solidFill>
                          <a:latin typeface="Calibri" pitchFamily="34" charset="0"/>
                          <a:ea typeface="Calibri" pitchFamily="34" charset="-122"/>
                          <a:cs typeface="Calibri" pitchFamily="34" charset="-120"/>
                        </a:rPr>
                        <a:t>us-east-1b</a:t>
                      </a:r>
                      <a:endParaRPr lang="en-US" sz="900" dirty="0">
                        <a:latin typeface="Calibri" charset="0"/>
                        <a:ea typeface="Calibri" charset="0"/>
                        <a:cs typeface="Calibri" charset="0"/>
                      </a:endParaRPr>
                    </a:p>
                  </a:txBody>
                  <a:tcPr>
                    <a:lnL w="6350" cap="flat" cmpd="sng" algn="ctr">
                      <a:solidFill>
                        <a:srgbClr val="F8F4EC"/>
                      </a:solidFill>
                      <a:prstDash val="solid"/>
                      <a:round/>
                      <a:headEnd type="none" w="med" len="med"/>
                      <a:tailEnd type="none" w="med" len="med"/>
                    </a:lnL>
                    <a:lnR w="6350" cap="flat" cmpd="sng" algn="ctr">
                      <a:solidFill>
                        <a:srgbClr val="F8F4EC"/>
                      </a:solidFill>
                      <a:prstDash val="solid"/>
                      <a:round/>
                      <a:headEnd type="none" w="med" len="med"/>
                      <a:tailEnd type="none" w="med" len="med"/>
                    </a:lnR>
                    <a:lnT w="6350" cap="flat" cmpd="sng" algn="ctr">
                      <a:solidFill>
                        <a:srgbClr val="F8F4EC"/>
                      </a:solidFill>
                      <a:prstDash val="solid"/>
                      <a:round/>
                      <a:headEnd type="none" w="med" len="med"/>
                      <a:tailEnd type="none" w="med" len="med"/>
                    </a:lnT>
                    <a:lnB w="6350" cap="flat" cmpd="sng" algn="ctr">
                      <a:solidFill>
                        <a:srgbClr val="F8F4EC"/>
                      </a:solidFill>
                      <a:prstDash val="solid"/>
                      <a:round/>
                      <a:headEnd type="none" w="med" len="med"/>
                      <a:tailEnd type="none" w="med" len="med"/>
                    </a:lnB>
                  </a:tcPr>
                </a:tc>
                <a:tc>
                  <a:txBody>
                    <a:bodyPr/>
                    <a:lstStyle/>
                    <a:p>
                      <a:pPr marL="0" indent="0">
                        <a:buNone/>
                      </a:pPr>
                      <a:r>
                        <a:rPr lang="en-US" sz="900" dirty="0">
                          <a:solidFill>
                            <a:srgbClr val="1A2B4A"/>
                          </a:solidFill>
                          <a:latin typeface="Calibri" pitchFamily="34" charset="0"/>
                          <a:ea typeface="Calibri" pitchFamily="34" charset="-122"/>
                          <a:cs typeface="Calibri" pitchFamily="34" charset="-120"/>
                        </a:rPr>
                        <a:t>10.0.2.0/24</a:t>
                      </a:r>
                      <a:endParaRPr lang="en-US" sz="900" dirty="0">
                        <a:latin typeface="Calibri" charset="0"/>
                        <a:ea typeface="Calibri" charset="0"/>
                        <a:cs typeface="Calibri" charset="0"/>
                      </a:endParaRPr>
                    </a:p>
                  </a:txBody>
                  <a:tcPr>
                    <a:lnL w="6350" cap="flat" cmpd="sng" algn="ctr">
                      <a:solidFill>
                        <a:srgbClr val="F8F4EC"/>
                      </a:solidFill>
                      <a:prstDash val="solid"/>
                      <a:round/>
                      <a:headEnd type="none" w="med" len="med"/>
                      <a:tailEnd type="none" w="med" len="med"/>
                    </a:lnL>
                    <a:lnR w="6350" cap="flat" cmpd="sng" algn="ctr">
                      <a:solidFill>
                        <a:srgbClr val="F8F4EC"/>
                      </a:solidFill>
                      <a:prstDash val="solid"/>
                      <a:round/>
                      <a:headEnd type="none" w="med" len="med"/>
                      <a:tailEnd type="none" w="med" len="med"/>
                    </a:lnR>
                    <a:lnT w="6350" cap="flat" cmpd="sng" algn="ctr">
                      <a:solidFill>
                        <a:srgbClr val="F8F4EC"/>
                      </a:solidFill>
                      <a:prstDash val="solid"/>
                      <a:round/>
                      <a:headEnd type="none" w="med" len="med"/>
                      <a:tailEnd type="none" w="med" len="med"/>
                    </a:lnT>
                    <a:lnB w="6350" cap="flat" cmpd="sng" algn="ctr">
                      <a:solidFill>
                        <a:srgbClr val="F8F4EC"/>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marL="0" indent="0">
                        <a:buNone/>
                      </a:pPr>
                      <a:r>
                        <a:rPr lang="en-US" sz="900" dirty="0">
                          <a:solidFill>
                            <a:srgbClr val="1A2B4A"/>
                          </a:solidFill>
                          <a:latin typeface="Calibri" pitchFamily="34" charset="0"/>
                          <a:ea typeface="Calibri" pitchFamily="34" charset="-122"/>
                          <a:cs typeface="Calibri" pitchFamily="34" charset="-120"/>
                        </a:rPr>
                        <a:t>App Private 1a</a:t>
                      </a:r>
                      <a:endParaRPr lang="en-US" sz="900" dirty="0">
                        <a:latin typeface="Calibri" charset="0"/>
                        <a:ea typeface="Calibri" charset="0"/>
                        <a:cs typeface="Calibri" charset="0"/>
                      </a:endParaRPr>
                    </a:p>
                  </a:txBody>
                  <a:tcPr>
                    <a:lnL w="6350" cap="flat" cmpd="sng" algn="ctr">
                      <a:solidFill>
                        <a:srgbClr val="F8F4EC"/>
                      </a:solidFill>
                      <a:prstDash val="solid"/>
                      <a:round/>
                      <a:headEnd type="none" w="med" len="med"/>
                      <a:tailEnd type="none" w="med" len="med"/>
                    </a:lnL>
                    <a:lnR w="6350" cap="flat" cmpd="sng" algn="ctr">
                      <a:solidFill>
                        <a:srgbClr val="F8F4EC"/>
                      </a:solidFill>
                      <a:prstDash val="solid"/>
                      <a:round/>
                      <a:headEnd type="none" w="med" len="med"/>
                      <a:tailEnd type="none" w="med" len="med"/>
                    </a:lnR>
                    <a:lnT w="6350" cap="flat" cmpd="sng" algn="ctr">
                      <a:solidFill>
                        <a:srgbClr val="F8F4EC"/>
                      </a:solidFill>
                      <a:prstDash val="solid"/>
                      <a:round/>
                      <a:headEnd type="none" w="med" len="med"/>
                      <a:tailEnd type="none" w="med" len="med"/>
                    </a:lnT>
                    <a:lnB w="6350" cap="flat" cmpd="sng" algn="ctr">
                      <a:solidFill>
                        <a:srgbClr val="F8F4EC"/>
                      </a:solidFill>
                      <a:prstDash val="solid"/>
                      <a:round/>
                      <a:headEnd type="none" w="med" len="med"/>
                      <a:tailEnd type="none" w="med" len="med"/>
                    </a:lnB>
                  </a:tcPr>
                </a:tc>
                <a:tc>
                  <a:txBody>
                    <a:bodyPr/>
                    <a:lstStyle/>
                    <a:p>
                      <a:pPr marL="0" indent="0">
                        <a:buNone/>
                      </a:pPr>
                      <a:r>
                        <a:rPr lang="en-US" sz="900" dirty="0">
                          <a:solidFill>
                            <a:srgbClr val="1A2B4A"/>
                          </a:solidFill>
                          <a:latin typeface="Calibri" pitchFamily="34" charset="0"/>
                          <a:ea typeface="Calibri" pitchFamily="34" charset="-122"/>
                          <a:cs typeface="Calibri" pitchFamily="34" charset="-120"/>
                        </a:rPr>
                        <a:t>Private (App)</a:t>
                      </a:r>
                      <a:endParaRPr lang="en-US" sz="900" dirty="0">
                        <a:latin typeface="Calibri" charset="0"/>
                        <a:ea typeface="Calibri" charset="0"/>
                        <a:cs typeface="Calibri" charset="0"/>
                      </a:endParaRPr>
                    </a:p>
                  </a:txBody>
                  <a:tcPr>
                    <a:lnL w="6350" cap="flat" cmpd="sng" algn="ctr">
                      <a:solidFill>
                        <a:srgbClr val="F8F4EC"/>
                      </a:solidFill>
                      <a:prstDash val="solid"/>
                      <a:round/>
                      <a:headEnd type="none" w="med" len="med"/>
                      <a:tailEnd type="none" w="med" len="med"/>
                    </a:lnL>
                    <a:lnR w="6350" cap="flat" cmpd="sng" algn="ctr">
                      <a:solidFill>
                        <a:srgbClr val="F8F4EC"/>
                      </a:solidFill>
                      <a:prstDash val="solid"/>
                      <a:round/>
                      <a:headEnd type="none" w="med" len="med"/>
                      <a:tailEnd type="none" w="med" len="med"/>
                    </a:lnR>
                    <a:lnT w="6350" cap="flat" cmpd="sng" algn="ctr">
                      <a:solidFill>
                        <a:srgbClr val="F8F4EC"/>
                      </a:solidFill>
                      <a:prstDash val="solid"/>
                      <a:round/>
                      <a:headEnd type="none" w="med" len="med"/>
                      <a:tailEnd type="none" w="med" len="med"/>
                    </a:lnT>
                    <a:lnB w="6350" cap="flat" cmpd="sng" algn="ctr">
                      <a:solidFill>
                        <a:srgbClr val="F8F4EC"/>
                      </a:solidFill>
                      <a:prstDash val="solid"/>
                      <a:round/>
                      <a:headEnd type="none" w="med" len="med"/>
                      <a:tailEnd type="none" w="med" len="med"/>
                    </a:lnB>
                  </a:tcPr>
                </a:tc>
                <a:tc>
                  <a:txBody>
                    <a:bodyPr/>
                    <a:lstStyle/>
                    <a:p>
                      <a:pPr marL="0" indent="0">
                        <a:buNone/>
                      </a:pPr>
                      <a:r>
                        <a:rPr lang="en-US" sz="900" dirty="0">
                          <a:solidFill>
                            <a:srgbClr val="1A2B4A"/>
                          </a:solidFill>
                          <a:latin typeface="Calibri" pitchFamily="34" charset="0"/>
                          <a:ea typeface="Calibri" pitchFamily="34" charset="-122"/>
                          <a:cs typeface="Calibri" pitchFamily="34" charset="-120"/>
                        </a:rPr>
                        <a:t>us-east-1a</a:t>
                      </a:r>
                      <a:endParaRPr lang="en-US" sz="900" dirty="0">
                        <a:latin typeface="Calibri" charset="0"/>
                        <a:ea typeface="Calibri" charset="0"/>
                        <a:cs typeface="Calibri" charset="0"/>
                      </a:endParaRPr>
                    </a:p>
                  </a:txBody>
                  <a:tcPr>
                    <a:lnL w="6350" cap="flat" cmpd="sng" algn="ctr">
                      <a:solidFill>
                        <a:srgbClr val="F8F4EC"/>
                      </a:solidFill>
                      <a:prstDash val="solid"/>
                      <a:round/>
                      <a:headEnd type="none" w="med" len="med"/>
                      <a:tailEnd type="none" w="med" len="med"/>
                    </a:lnL>
                    <a:lnR w="6350" cap="flat" cmpd="sng" algn="ctr">
                      <a:solidFill>
                        <a:srgbClr val="F8F4EC"/>
                      </a:solidFill>
                      <a:prstDash val="solid"/>
                      <a:round/>
                      <a:headEnd type="none" w="med" len="med"/>
                      <a:tailEnd type="none" w="med" len="med"/>
                    </a:lnR>
                    <a:lnT w="6350" cap="flat" cmpd="sng" algn="ctr">
                      <a:solidFill>
                        <a:srgbClr val="F8F4EC"/>
                      </a:solidFill>
                      <a:prstDash val="solid"/>
                      <a:round/>
                      <a:headEnd type="none" w="med" len="med"/>
                      <a:tailEnd type="none" w="med" len="med"/>
                    </a:lnT>
                    <a:lnB w="6350" cap="flat" cmpd="sng" algn="ctr">
                      <a:solidFill>
                        <a:srgbClr val="F8F4EC"/>
                      </a:solidFill>
                      <a:prstDash val="solid"/>
                      <a:round/>
                      <a:headEnd type="none" w="med" len="med"/>
                      <a:tailEnd type="none" w="med" len="med"/>
                    </a:lnB>
                  </a:tcPr>
                </a:tc>
                <a:tc>
                  <a:txBody>
                    <a:bodyPr/>
                    <a:lstStyle/>
                    <a:p>
                      <a:pPr marL="0" indent="0">
                        <a:buNone/>
                      </a:pPr>
                      <a:r>
                        <a:rPr lang="en-US" sz="900" dirty="0">
                          <a:solidFill>
                            <a:srgbClr val="1A2B4A"/>
                          </a:solidFill>
                          <a:latin typeface="Calibri" pitchFamily="34" charset="0"/>
                          <a:ea typeface="Calibri" pitchFamily="34" charset="-122"/>
                          <a:cs typeface="Calibri" pitchFamily="34" charset="-120"/>
                        </a:rPr>
                        <a:t>10.0.3.0/24</a:t>
                      </a:r>
                      <a:endParaRPr lang="en-US" sz="900" dirty="0">
                        <a:latin typeface="Calibri" charset="0"/>
                        <a:ea typeface="Calibri" charset="0"/>
                        <a:cs typeface="Calibri" charset="0"/>
                      </a:endParaRPr>
                    </a:p>
                  </a:txBody>
                  <a:tcPr>
                    <a:lnL w="6350" cap="flat" cmpd="sng" algn="ctr">
                      <a:solidFill>
                        <a:srgbClr val="F8F4EC"/>
                      </a:solidFill>
                      <a:prstDash val="solid"/>
                      <a:round/>
                      <a:headEnd type="none" w="med" len="med"/>
                      <a:tailEnd type="none" w="med" len="med"/>
                    </a:lnL>
                    <a:lnR w="6350" cap="flat" cmpd="sng" algn="ctr">
                      <a:solidFill>
                        <a:srgbClr val="F8F4EC"/>
                      </a:solidFill>
                      <a:prstDash val="solid"/>
                      <a:round/>
                      <a:headEnd type="none" w="med" len="med"/>
                      <a:tailEnd type="none" w="med" len="med"/>
                    </a:lnR>
                    <a:lnT w="6350" cap="flat" cmpd="sng" algn="ctr">
                      <a:solidFill>
                        <a:srgbClr val="F8F4EC"/>
                      </a:solidFill>
                      <a:prstDash val="solid"/>
                      <a:round/>
                      <a:headEnd type="none" w="med" len="med"/>
                      <a:tailEnd type="none" w="med" len="med"/>
                    </a:lnT>
                    <a:lnB w="6350" cap="flat" cmpd="sng" algn="ctr">
                      <a:solidFill>
                        <a:srgbClr val="F8F4EC"/>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marL="0" indent="0">
                        <a:buNone/>
                      </a:pPr>
                      <a:r>
                        <a:rPr lang="en-US" sz="900" dirty="0">
                          <a:solidFill>
                            <a:srgbClr val="1A2B4A"/>
                          </a:solidFill>
                          <a:latin typeface="Calibri" pitchFamily="34" charset="0"/>
                          <a:ea typeface="Calibri" pitchFamily="34" charset="-122"/>
                          <a:cs typeface="Calibri" pitchFamily="34" charset="-120"/>
                        </a:rPr>
                        <a:t>App Private 1b</a:t>
                      </a:r>
                      <a:endParaRPr lang="en-US" sz="900" dirty="0">
                        <a:latin typeface="Calibri" charset="0"/>
                        <a:ea typeface="Calibri" charset="0"/>
                        <a:cs typeface="Calibri" charset="0"/>
                      </a:endParaRPr>
                    </a:p>
                  </a:txBody>
                  <a:tcPr>
                    <a:lnL w="6350" cap="flat" cmpd="sng" algn="ctr">
                      <a:solidFill>
                        <a:srgbClr val="F8F4EC"/>
                      </a:solidFill>
                      <a:prstDash val="solid"/>
                      <a:round/>
                      <a:headEnd type="none" w="med" len="med"/>
                      <a:tailEnd type="none" w="med" len="med"/>
                    </a:lnL>
                    <a:lnR w="6350" cap="flat" cmpd="sng" algn="ctr">
                      <a:solidFill>
                        <a:srgbClr val="F8F4EC"/>
                      </a:solidFill>
                      <a:prstDash val="solid"/>
                      <a:round/>
                      <a:headEnd type="none" w="med" len="med"/>
                      <a:tailEnd type="none" w="med" len="med"/>
                    </a:lnR>
                    <a:lnT w="6350" cap="flat" cmpd="sng" algn="ctr">
                      <a:solidFill>
                        <a:srgbClr val="F8F4EC"/>
                      </a:solidFill>
                      <a:prstDash val="solid"/>
                      <a:round/>
                      <a:headEnd type="none" w="med" len="med"/>
                      <a:tailEnd type="none" w="med" len="med"/>
                    </a:lnT>
                    <a:lnB w="6350" cap="flat" cmpd="sng" algn="ctr">
                      <a:solidFill>
                        <a:srgbClr val="F8F4EC"/>
                      </a:solidFill>
                      <a:prstDash val="solid"/>
                      <a:round/>
                      <a:headEnd type="none" w="med" len="med"/>
                      <a:tailEnd type="none" w="med" len="med"/>
                    </a:lnB>
                  </a:tcPr>
                </a:tc>
                <a:tc>
                  <a:txBody>
                    <a:bodyPr/>
                    <a:lstStyle/>
                    <a:p>
                      <a:pPr marL="0" indent="0">
                        <a:buNone/>
                      </a:pPr>
                      <a:r>
                        <a:rPr lang="en-US" sz="900" dirty="0">
                          <a:solidFill>
                            <a:srgbClr val="1A2B4A"/>
                          </a:solidFill>
                          <a:latin typeface="Calibri" pitchFamily="34" charset="0"/>
                          <a:ea typeface="Calibri" pitchFamily="34" charset="-122"/>
                          <a:cs typeface="Calibri" pitchFamily="34" charset="-120"/>
                        </a:rPr>
                        <a:t>Private (App)</a:t>
                      </a:r>
                      <a:endParaRPr lang="en-US" sz="900" dirty="0">
                        <a:latin typeface="Calibri" charset="0"/>
                        <a:ea typeface="Calibri" charset="0"/>
                        <a:cs typeface="Calibri" charset="0"/>
                      </a:endParaRPr>
                    </a:p>
                  </a:txBody>
                  <a:tcPr>
                    <a:lnL w="6350" cap="flat" cmpd="sng" algn="ctr">
                      <a:solidFill>
                        <a:srgbClr val="F8F4EC"/>
                      </a:solidFill>
                      <a:prstDash val="solid"/>
                      <a:round/>
                      <a:headEnd type="none" w="med" len="med"/>
                      <a:tailEnd type="none" w="med" len="med"/>
                    </a:lnL>
                    <a:lnR w="6350" cap="flat" cmpd="sng" algn="ctr">
                      <a:solidFill>
                        <a:srgbClr val="F8F4EC"/>
                      </a:solidFill>
                      <a:prstDash val="solid"/>
                      <a:round/>
                      <a:headEnd type="none" w="med" len="med"/>
                      <a:tailEnd type="none" w="med" len="med"/>
                    </a:lnR>
                    <a:lnT w="6350" cap="flat" cmpd="sng" algn="ctr">
                      <a:solidFill>
                        <a:srgbClr val="F8F4EC"/>
                      </a:solidFill>
                      <a:prstDash val="solid"/>
                      <a:round/>
                      <a:headEnd type="none" w="med" len="med"/>
                      <a:tailEnd type="none" w="med" len="med"/>
                    </a:lnT>
                    <a:lnB w="6350" cap="flat" cmpd="sng" algn="ctr">
                      <a:solidFill>
                        <a:srgbClr val="F8F4EC"/>
                      </a:solidFill>
                      <a:prstDash val="solid"/>
                      <a:round/>
                      <a:headEnd type="none" w="med" len="med"/>
                      <a:tailEnd type="none" w="med" len="med"/>
                    </a:lnB>
                  </a:tcPr>
                </a:tc>
                <a:tc>
                  <a:txBody>
                    <a:bodyPr/>
                    <a:lstStyle/>
                    <a:p>
                      <a:pPr marL="0" indent="0">
                        <a:buNone/>
                      </a:pPr>
                      <a:r>
                        <a:rPr lang="en-US" sz="900" dirty="0">
                          <a:solidFill>
                            <a:srgbClr val="1A2B4A"/>
                          </a:solidFill>
                          <a:latin typeface="Calibri" pitchFamily="34" charset="0"/>
                          <a:ea typeface="Calibri" pitchFamily="34" charset="-122"/>
                          <a:cs typeface="Calibri" pitchFamily="34" charset="-120"/>
                        </a:rPr>
                        <a:t>us-east-1b</a:t>
                      </a:r>
                      <a:endParaRPr lang="en-US" sz="900" dirty="0">
                        <a:latin typeface="Calibri" charset="0"/>
                        <a:ea typeface="Calibri" charset="0"/>
                        <a:cs typeface="Calibri" charset="0"/>
                      </a:endParaRPr>
                    </a:p>
                  </a:txBody>
                  <a:tcPr>
                    <a:lnL w="6350" cap="flat" cmpd="sng" algn="ctr">
                      <a:solidFill>
                        <a:srgbClr val="F8F4EC"/>
                      </a:solidFill>
                      <a:prstDash val="solid"/>
                      <a:round/>
                      <a:headEnd type="none" w="med" len="med"/>
                      <a:tailEnd type="none" w="med" len="med"/>
                    </a:lnL>
                    <a:lnR w="6350" cap="flat" cmpd="sng" algn="ctr">
                      <a:solidFill>
                        <a:srgbClr val="F8F4EC"/>
                      </a:solidFill>
                      <a:prstDash val="solid"/>
                      <a:round/>
                      <a:headEnd type="none" w="med" len="med"/>
                      <a:tailEnd type="none" w="med" len="med"/>
                    </a:lnR>
                    <a:lnT w="6350" cap="flat" cmpd="sng" algn="ctr">
                      <a:solidFill>
                        <a:srgbClr val="F8F4EC"/>
                      </a:solidFill>
                      <a:prstDash val="solid"/>
                      <a:round/>
                      <a:headEnd type="none" w="med" len="med"/>
                      <a:tailEnd type="none" w="med" len="med"/>
                    </a:lnT>
                    <a:lnB w="6350" cap="flat" cmpd="sng" algn="ctr">
                      <a:solidFill>
                        <a:srgbClr val="F8F4EC"/>
                      </a:solidFill>
                      <a:prstDash val="solid"/>
                      <a:round/>
                      <a:headEnd type="none" w="med" len="med"/>
                      <a:tailEnd type="none" w="med" len="med"/>
                    </a:lnB>
                  </a:tcPr>
                </a:tc>
                <a:tc>
                  <a:txBody>
                    <a:bodyPr/>
                    <a:lstStyle/>
                    <a:p>
                      <a:pPr marL="0" indent="0">
                        <a:buNone/>
                      </a:pPr>
                      <a:r>
                        <a:rPr lang="en-US" sz="900" dirty="0">
                          <a:solidFill>
                            <a:srgbClr val="1A2B4A"/>
                          </a:solidFill>
                          <a:latin typeface="Calibri" pitchFamily="34" charset="0"/>
                          <a:ea typeface="Calibri" pitchFamily="34" charset="-122"/>
                          <a:cs typeface="Calibri" pitchFamily="34" charset="-120"/>
                        </a:rPr>
                        <a:t>10.0.4.0/24</a:t>
                      </a:r>
                      <a:endParaRPr lang="en-US" sz="900" dirty="0">
                        <a:latin typeface="Calibri" charset="0"/>
                        <a:ea typeface="Calibri" charset="0"/>
                        <a:cs typeface="Calibri" charset="0"/>
                      </a:endParaRPr>
                    </a:p>
                  </a:txBody>
                  <a:tcPr>
                    <a:lnL w="6350" cap="flat" cmpd="sng" algn="ctr">
                      <a:solidFill>
                        <a:srgbClr val="F8F4EC"/>
                      </a:solidFill>
                      <a:prstDash val="solid"/>
                      <a:round/>
                      <a:headEnd type="none" w="med" len="med"/>
                      <a:tailEnd type="none" w="med" len="med"/>
                    </a:lnL>
                    <a:lnR w="6350" cap="flat" cmpd="sng" algn="ctr">
                      <a:solidFill>
                        <a:srgbClr val="F8F4EC"/>
                      </a:solidFill>
                      <a:prstDash val="solid"/>
                      <a:round/>
                      <a:headEnd type="none" w="med" len="med"/>
                      <a:tailEnd type="none" w="med" len="med"/>
                    </a:lnR>
                    <a:lnT w="6350" cap="flat" cmpd="sng" algn="ctr">
                      <a:solidFill>
                        <a:srgbClr val="F8F4EC"/>
                      </a:solidFill>
                      <a:prstDash val="solid"/>
                      <a:round/>
                      <a:headEnd type="none" w="med" len="med"/>
                      <a:tailEnd type="none" w="med" len="med"/>
                    </a:lnT>
                    <a:lnB w="6350" cap="flat" cmpd="sng" algn="ctr">
                      <a:solidFill>
                        <a:srgbClr val="F8F4EC"/>
                      </a:solidFill>
                      <a:prstDash val="solid"/>
                      <a:round/>
                      <a:headEnd type="none" w="med" len="med"/>
                      <a:tailEnd type="none" w="med" len="med"/>
                    </a:lnB>
                  </a:tcPr>
                </a:tc>
                <a:extLst>
                  <a:ext uri="{0D108BD9-81ED-4DB2-BD59-A6C34878D82A}">
                    <a16:rowId xmlns:a16="http://schemas.microsoft.com/office/drawing/2014/main" val="10004"/>
                  </a:ext>
                </a:extLst>
              </a:tr>
              <a:tr h="274320">
                <a:tc>
                  <a:txBody>
                    <a:bodyPr/>
                    <a:lstStyle/>
                    <a:p>
                      <a:pPr marL="0" indent="0">
                        <a:buNone/>
                      </a:pPr>
                      <a:r>
                        <a:rPr lang="en-US" sz="900" dirty="0">
                          <a:solidFill>
                            <a:srgbClr val="1A2B4A"/>
                          </a:solidFill>
                          <a:latin typeface="Calibri" pitchFamily="34" charset="0"/>
                          <a:ea typeface="Calibri" pitchFamily="34" charset="-122"/>
                          <a:cs typeface="Calibri" pitchFamily="34" charset="-120"/>
                        </a:rPr>
                        <a:t>DB Private 1a</a:t>
                      </a:r>
                      <a:endParaRPr lang="en-US" sz="900" dirty="0">
                        <a:latin typeface="Calibri" charset="0"/>
                        <a:ea typeface="Calibri" charset="0"/>
                        <a:cs typeface="Calibri" charset="0"/>
                      </a:endParaRPr>
                    </a:p>
                  </a:txBody>
                  <a:tcPr>
                    <a:lnL w="6350" cap="flat" cmpd="sng" algn="ctr">
                      <a:solidFill>
                        <a:srgbClr val="F8F4EC"/>
                      </a:solidFill>
                      <a:prstDash val="solid"/>
                      <a:round/>
                      <a:headEnd type="none" w="med" len="med"/>
                      <a:tailEnd type="none" w="med" len="med"/>
                    </a:lnL>
                    <a:lnR w="6350" cap="flat" cmpd="sng" algn="ctr">
                      <a:solidFill>
                        <a:srgbClr val="F8F4EC"/>
                      </a:solidFill>
                      <a:prstDash val="solid"/>
                      <a:round/>
                      <a:headEnd type="none" w="med" len="med"/>
                      <a:tailEnd type="none" w="med" len="med"/>
                    </a:lnR>
                    <a:lnT w="6350" cap="flat" cmpd="sng" algn="ctr">
                      <a:solidFill>
                        <a:srgbClr val="F8F4EC"/>
                      </a:solidFill>
                      <a:prstDash val="solid"/>
                      <a:round/>
                      <a:headEnd type="none" w="med" len="med"/>
                      <a:tailEnd type="none" w="med" len="med"/>
                    </a:lnT>
                    <a:lnB w="6350" cap="flat" cmpd="sng" algn="ctr">
                      <a:solidFill>
                        <a:srgbClr val="F8F4EC"/>
                      </a:solidFill>
                      <a:prstDash val="solid"/>
                      <a:round/>
                      <a:headEnd type="none" w="med" len="med"/>
                      <a:tailEnd type="none" w="med" len="med"/>
                    </a:lnB>
                  </a:tcPr>
                </a:tc>
                <a:tc>
                  <a:txBody>
                    <a:bodyPr/>
                    <a:lstStyle/>
                    <a:p>
                      <a:pPr marL="0" indent="0">
                        <a:buNone/>
                      </a:pPr>
                      <a:r>
                        <a:rPr lang="en-US" sz="900" dirty="0">
                          <a:solidFill>
                            <a:srgbClr val="1A2B4A"/>
                          </a:solidFill>
                          <a:latin typeface="Calibri" pitchFamily="34" charset="0"/>
                          <a:ea typeface="Calibri" pitchFamily="34" charset="-122"/>
                          <a:cs typeface="Calibri" pitchFamily="34" charset="-120"/>
                        </a:rPr>
                        <a:t>Private (DB)</a:t>
                      </a:r>
                      <a:endParaRPr lang="en-US" sz="900" dirty="0">
                        <a:latin typeface="Calibri" charset="0"/>
                        <a:ea typeface="Calibri" charset="0"/>
                        <a:cs typeface="Calibri" charset="0"/>
                      </a:endParaRPr>
                    </a:p>
                  </a:txBody>
                  <a:tcPr>
                    <a:lnL w="6350" cap="flat" cmpd="sng" algn="ctr">
                      <a:solidFill>
                        <a:srgbClr val="F8F4EC"/>
                      </a:solidFill>
                      <a:prstDash val="solid"/>
                      <a:round/>
                      <a:headEnd type="none" w="med" len="med"/>
                      <a:tailEnd type="none" w="med" len="med"/>
                    </a:lnL>
                    <a:lnR w="6350" cap="flat" cmpd="sng" algn="ctr">
                      <a:solidFill>
                        <a:srgbClr val="F8F4EC"/>
                      </a:solidFill>
                      <a:prstDash val="solid"/>
                      <a:round/>
                      <a:headEnd type="none" w="med" len="med"/>
                      <a:tailEnd type="none" w="med" len="med"/>
                    </a:lnR>
                    <a:lnT w="6350" cap="flat" cmpd="sng" algn="ctr">
                      <a:solidFill>
                        <a:srgbClr val="F8F4EC"/>
                      </a:solidFill>
                      <a:prstDash val="solid"/>
                      <a:round/>
                      <a:headEnd type="none" w="med" len="med"/>
                      <a:tailEnd type="none" w="med" len="med"/>
                    </a:lnT>
                    <a:lnB w="6350" cap="flat" cmpd="sng" algn="ctr">
                      <a:solidFill>
                        <a:srgbClr val="F8F4EC"/>
                      </a:solidFill>
                      <a:prstDash val="solid"/>
                      <a:round/>
                      <a:headEnd type="none" w="med" len="med"/>
                      <a:tailEnd type="none" w="med" len="med"/>
                    </a:lnB>
                  </a:tcPr>
                </a:tc>
                <a:tc>
                  <a:txBody>
                    <a:bodyPr/>
                    <a:lstStyle/>
                    <a:p>
                      <a:pPr marL="0" indent="0">
                        <a:buNone/>
                      </a:pPr>
                      <a:r>
                        <a:rPr lang="en-US" sz="900" dirty="0">
                          <a:solidFill>
                            <a:srgbClr val="1A2B4A"/>
                          </a:solidFill>
                          <a:latin typeface="Calibri" pitchFamily="34" charset="0"/>
                          <a:ea typeface="Calibri" pitchFamily="34" charset="-122"/>
                          <a:cs typeface="Calibri" pitchFamily="34" charset="-120"/>
                        </a:rPr>
                        <a:t>us-east-1a</a:t>
                      </a:r>
                      <a:endParaRPr lang="en-US" sz="900" dirty="0">
                        <a:latin typeface="Calibri" charset="0"/>
                        <a:ea typeface="Calibri" charset="0"/>
                        <a:cs typeface="Calibri" charset="0"/>
                      </a:endParaRPr>
                    </a:p>
                  </a:txBody>
                  <a:tcPr>
                    <a:lnL w="6350" cap="flat" cmpd="sng" algn="ctr">
                      <a:solidFill>
                        <a:srgbClr val="F8F4EC"/>
                      </a:solidFill>
                      <a:prstDash val="solid"/>
                      <a:round/>
                      <a:headEnd type="none" w="med" len="med"/>
                      <a:tailEnd type="none" w="med" len="med"/>
                    </a:lnL>
                    <a:lnR w="6350" cap="flat" cmpd="sng" algn="ctr">
                      <a:solidFill>
                        <a:srgbClr val="F8F4EC"/>
                      </a:solidFill>
                      <a:prstDash val="solid"/>
                      <a:round/>
                      <a:headEnd type="none" w="med" len="med"/>
                      <a:tailEnd type="none" w="med" len="med"/>
                    </a:lnR>
                    <a:lnT w="6350" cap="flat" cmpd="sng" algn="ctr">
                      <a:solidFill>
                        <a:srgbClr val="F8F4EC"/>
                      </a:solidFill>
                      <a:prstDash val="solid"/>
                      <a:round/>
                      <a:headEnd type="none" w="med" len="med"/>
                      <a:tailEnd type="none" w="med" len="med"/>
                    </a:lnT>
                    <a:lnB w="6350" cap="flat" cmpd="sng" algn="ctr">
                      <a:solidFill>
                        <a:srgbClr val="F8F4EC"/>
                      </a:solidFill>
                      <a:prstDash val="solid"/>
                      <a:round/>
                      <a:headEnd type="none" w="med" len="med"/>
                      <a:tailEnd type="none" w="med" len="med"/>
                    </a:lnB>
                  </a:tcPr>
                </a:tc>
                <a:tc>
                  <a:txBody>
                    <a:bodyPr/>
                    <a:lstStyle/>
                    <a:p>
                      <a:pPr marL="0" indent="0">
                        <a:buNone/>
                      </a:pPr>
                      <a:r>
                        <a:rPr lang="en-US" sz="900" dirty="0">
                          <a:solidFill>
                            <a:srgbClr val="1A2B4A"/>
                          </a:solidFill>
                          <a:latin typeface="Calibri" pitchFamily="34" charset="0"/>
                          <a:ea typeface="Calibri" pitchFamily="34" charset="-122"/>
                          <a:cs typeface="Calibri" pitchFamily="34" charset="-120"/>
                        </a:rPr>
                        <a:t>10.0.5.0/24</a:t>
                      </a:r>
                      <a:endParaRPr lang="en-US" sz="900" dirty="0">
                        <a:latin typeface="Calibri" charset="0"/>
                        <a:ea typeface="Calibri" charset="0"/>
                        <a:cs typeface="Calibri" charset="0"/>
                      </a:endParaRPr>
                    </a:p>
                  </a:txBody>
                  <a:tcPr>
                    <a:lnL w="6350" cap="flat" cmpd="sng" algn="ctr">
                      <a:solidFill>
                        <a:srgbClr val="F8F4EC"/>
                      </a:solidFill>
                      <a:prstDash val="solid"/>
                      <a:round/>
                      <a:headEnd type="none" w="med" len="med"/>
                      <a:tailEnd type="none" w="med" len="med"/>
                    </a:lnL>
                    <a:lnR w="6350" cap="flat" cmpd="sng" algn="ctr">
                      <a:solidFill>
                        <a:srgbClr val="F8F4EC"/>
                      </a:solidFill>
                      <a:prstDash val="solid"/>
                      <a:round/>
                      <a:headEnd type="none" w="med" len="med"/>
                      <a:tailEnd type="none" w="med" len="med"/>
                    </a:lnR>
                    <a:lnT w="6350" cap="flat" cmpd="sng" algn="ctr">
                      <a:solidFill>
                        <a:srgbClr val="F8F4EC"/>
                      </a:solidFill>
                      <a:prstDash val="solid"/>
                      <a:round/>
                      <a:headEnd type="none" w="med" len="med"/>
                      <a:tailEnd type="none" w="med" len="med"/>
                    </a:lnT>
                    <a:lnB w="6350" cap="flat" cmpd="sng" algn="ctr">
                      <a:solidFill>
                        <a:srgbClr val="F8F4EC"/>
                      </a:solidFill>
                      <a:prstDash val="solid"/>
                      <a:round/>
                      <a:headEnd type="none" w="med" len="med"/>
                      <a:tailEnd type="none" w="med" len="med"/>
                    </a:lnB>
                  </a:tcPr>
                </a:tc>
                <a:extLst>
                  <a:ext uri="{0D108BD9-81ED-4DB2-BD59-A6C34878D82A}">
                    <a16:rowId xmlns:a16="http://schemas.microsoft.com/office/drawing/2014/main" val="10005"/>
                  </a:ext>
                </a:extLst>
              </a:tr>
              <a:tr h="274320">
                <a:tc>
                  <a:txBody>
                    <a:bodyPr/>
                    <a:lstStyle/>
                    <a:p>
                      <a:pPr marL="0" indent="0">
                        <a:buNone/>
                      </a:pPr>
                      <a:r>
                        <a:rPr lang="en-US" sz="900" dirty="0">
                          <a:solidFill>
                            <a:srgbClr val="1A2B4A"/>
                          </a:solidFill>
                          <a:latin typeface="Calibri" pitchFamily="34" charset="0"/>
                          <a:ea typeface="Calibri" pitchFamily="34" charset="-122"/>
                          <a:cs typeface="Calibri" pitchFamily="34" charset="-120"/>
                        </a:rPr>
                        <a:t>DB Private 1b</a:t>
                      </a:r>
                      <a:endParaRPr lang="en-US" sz="900" dirty="0">
                        <a:latin typeface="Calibri" charset="0"/>
                        <a:ea typeface="Calibri" charset="0"/>
                        <a:cs typeface="Calibri" charset="0"/>
                      </a:endParaRPr>
                    </a:p>
                  </a:txBody>
                  <a:tcPr>
                    <a:lnL w="6350" cap="flat" cmpd="sng" algn="ctr">
                      <a:solidFill>
                        <a:srgbClr val="F8F4EC"/>
                      </a:solidFill>
                      <a:prstDash val="solid"/>
                      <a:round/>
                      <a:headEnd type="none" w="med" len="med"/>
                      <a:tailEnd type="none" w="med" len="med"/>
                    </a:lnL>
                    <a:lnR w="6350" cap="flat" cmpd="sng" algn="ctr">
                      <a:solidFill>
                        <a:srgbClr val="F8F4EC"/>
                      </a:solidFill>
                      <a:prstDash val="solid"/>
                      <a:round/>
                      <a:headEnd type="none" w="med" len="med"/>
                      <a:tailEnd type="none" w="med" len="med"/>
                    </a:lnR>
                    <a:lnT w="6350" cap="flat" cmpd="sng" algn="ctr">
                      <a:solidFill>
                        <a:srgbClr val="F8F4EC"/>
                      </a:solidFill>
                      <a:prstDash val="solid"/>
                      <a:round/>
                      <a:headEnd type="none" w="med" len="med"/>
                      <a:tailEnd type="none" w="med" len="med"/>
                    </a:lnT>
                    <a:lnB w="6350" cap="flat" cmpd="sng" algn="ctr">
                      <a:solidFill>
                        <a:srgbClr val="F8F4EC"/>
                      </a:solidFill>
                      <a:prstDash val="solid"/>
                      <a:round/>
                      <a:headEnd type="none" w="med" len="med"/>
                      <a:tailEnd type="none" w="med" len="med"/>
                    </a:lnB>
                  </a:tcPr>
                </a:tc>
                <a:tc>
                  <a:txBody>
                    <a:bodyPr/>
                    <a:lstStyle/>
                    <a:p>
                      <a:pPr marL="0" indent="0">
                        <a:buNone/>
                      </a:pPr>
                      <a:r>
                        <a:rPr lang="en-US" sz="900" dirty="0">
                          <a:solidFill>
                            <a:srgbClr val="1A2B4A"/>
                          </a:solidFill>
                          <a:latin typeface="Calibri" pitchFamily="34" charset="0"/>
                          <a:ea typeface="Calibri" pitchFamily="34" charset="-122"/>
                          <a:cs typeface="Calibri" pitchFamily="34" charset="-120"/>
                        </a:rPr>
                        <a:t>Private (DB)</a:t>
                      </a:r>
                      <a:endParaRPr lang="en-US" sz="900" dirty="0">
                        <a:latin typeface="Calibri" charset="0"/>
                        <a:ea typeface="Calibri" charset="0"/>
                        <a:cs typeface="Calibri" charset="0"/>
                      </a:endParaRPr>
                    </a:p>
                  </a:txBody>
                  <a:tcPr>
                    <a:lnL w="6350" cap="flat" cmpd="sng" algn="ctr">
                      <a:solidFill>
                        <a:srgbClr val="F8F4EC"/>
                      </a:solidFill>
                      <a:prstDash val="solid"/>
                      <a:round/>
                      <a:headEnd type="none" w="med" len="med"/>
                      <a:tailEnd type="none" w="med" len="med"/>
                    </a:lnL>
                    <a:lnR w="6350" cap="flat" cmpd="sng" algn="ctr">
                      <a:solidFill>
                        <a:srgbClr val="F8F4EC"/>
                      </a:solidFill>
                      <a:prstDash val="solid"/>
                      <a:round/>
                      <a:headEnd type="none" w="med" len="med"/>
                      <a:tailEnd type="none" w="med" len="med"/>
                    </a:lnR>
                    <a:lnT w="6350" cap="flat" cmpd="sng" algn="ctr">
                      <a:solidFill>
                        <a:srgbClr val="F8F4EC"/>
                      </a:solidFill>
                      <a:prstDash val="solid"/>
                      <a:round/>
                      <a:headEnd type="none" w="med" len="med"/>
                      <a:tailEnd type="none" w="med" len="med"/>
                    </a:lnT>
                    <a:lnB w="6350" cap="flat" cmpd="sng" algn="ctr">
                      <a:solidFill>
                        <a:srgbClr val="F8F4EC"/>
                      </a:solidFill>
                      <a:prstDash val="solid"/>
                      <a:round/>
                      <a:headEnd type="none" w="med" len="med"/>
                      <a:tailEnd type="none" w="med" len="med"/>
                    </a:lnB>
                  </a:tcPr>
                </a:tc>
                <a:tc>
                  <a:txBody>
                    <a:bodyPr/>
                    <a:lstStyle/>
                    <a:p>
                      <a:pPr marL="0" indent="0">
                        <a:buNone/>
                      </a:pPr>
                      <a:r>
                        <a:rPr lang="en-US" sz="900" dirty="0">
                          <a:solidFill>
                            <a:srgbClr val="1A2B4A"/>
                          </a:solidFill>
                          <a:latin typeface="Calibri" pitchFamily="34" charset="0"/>
                          <a:ea typeface="Calibri" pitchFamily="34" charset="-122"/>
                          <a:cs typeface="Calibri" pitchFamily="34" charset="-120"/>
                        </a:rPr>
                        <a:t>us-east-1b</a:t>
                      </a:r>
                      <a:endParaRPr lang="en-US" sz="900" dirty="0">
                        <a:latin typeface="Calibri" charset="0"/>
                        <a:ea typeface="Calibri" charset="0"/>
                        <a:cs typeface="Calibri" charset="0"/>
                      </a:endParaRPr>
                    </a:p>
                  </a:txBody>
                  <a:tcPr>
                    <a:lnL w="6350" cap="flat" cmpd="sng" algn="ctr">
                      <a:solidFill>
                        <a:srgbClr val="F8F4EC"/>
                      </a:solidFill>
                      <a:prstDash val="solid"/>
                      <a:round/>
                      <a:headEnd type="none" w="med" len="med"/>
                      <a:tailEnd type="none" w="med" len="med"/>
                    </a:lnL>
                    <a:lnR w="6350" cap="flat" cmpd="sng" algn="ctr">
                      <a:solidFill>
                        <a:srgbClr val="F8F4EC"/>
                      </a:solidFill>
                      <a:prstDash val="solid"/>
                      <a:round/>
                      <a:headEnd type="none" w="med" len="med"/>
                      <a:tailEnd type="none" w="med" len="med"/>
                    </a:lnR>
                    <a:lnT w="6350" cap="flat" cmpd="sng" algn="ctr">
                      <a:solidFill>
                        <a:srgbClr val="F8F4EC"/>
                      </a:solidFill>
                      <a:prstDash val="solid"/>
                      <a:round/>
                      <a:headEnd type="none" w="med" len="med"/>
                      <a:tailEnd type="none" w="med" len="med"/>
                    </a:lnT>
                    <a:lnB w="6350" cap="flat" cmpd="sng" algn="ctr">
                      <a:solidFill>
                        <a:srgbClr val="F8F4EC"/>
                      </a:solidFill>
                      <a:prstDash val="solid"/>
                      <a:round/>
                      <a:headEnd type="none" w="med" len="med"/>
                      <a:tailEnd type="none" w="med" len="med"/>
                    </a:lnB>
                  </a:tcPr>
                </a:tc>
                <a:tc>
                  <a:txBody>
                    <a:bodyPr/>
                    <a:lstStyle/>
                    <a:p>
                      <a:pPr marL="0" indent="0">
                        <a:buNone/>
                      </a:pPr>
                      <a:r>
                        <a:rPr lang="en-US" sz="900" dirty="0">
                          <a:solidFill>
                            <a:srgbClr val="1A2B4A"/>
                          </a:solidFill>
                          <a:latin typeface="Calibri" pitchFamily="34" charset="0"/>
                          <a:ea typeface="Calibri" pitchFamily="34" charset="-122"/>
                          <a:cs typeface="Calibri" pitchFamily="34" charset="-120"/>
                        </a:rPr>
                        <a:t>10.0.6.0/24</a:t>
                      </a:r>
                      <a:endParaRPr lang="en-US" sz="900" dirty="0">
                        <a:latin typeface="Calibri" charset="0"/>
                        <a:ea typeface="Calibri" charset="0"/>
                        <a:cs typeface="Calibri" charset="0"/>
                      </a:endParaRPr>
                    </a:p>
                  </a:txBody>
                  <a:tcPr>
                    <a:lnL w="6350" cap="flat" cmpd="sng" algn="ctr">
                      <a:solidFill>
                        <a:srgbClr val="F8F4EC"/>
                      </a:solidFill>
                      <a:prstDash val="solid"/>
                      <a:round/>
                      <a:headEnd type="none" w="med" len="med"/>
                      <a:tailEnd type="none" w="med" len="med"/>
                    </a:lnL>
                    <a:lnR w="6350" cap="flat" cmpd="sng" algn="ctr">
                      <a:solidFill>
                        <a:srgbClr val="F8F4EC"/>
                      </a:solidFill>
                      <a:prstDash val="solid"/>
                      <a:round/>
                      <a:headEnd type="none" w="med" len="med"/>
                      <a:tailEnd type="none" w="med" len="med"/>
                    </a:lnR>
                    <a:lnT w="6350" cap="flat" cmpd="sng" algn="ctr">
                      <a:solidFill>
                        <a:srgbClr val="F8F4EC"/>
                      </a:solidFill>
                      <a:prstDash val="solid"/>
                      <a:round/>
                      <a:headEnd type="none" w="med" len="med"/>
                      <a:tailEnd type="none" w="med" len="med"/>
                    </a:lnT>
                    <a:lnB w="6350" cap="flat" cmpd="sng" algn="ctr">
                      <a:solidFill>
                        <a:srgbClr val="F8F4EC"/>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pic>
        <p:nvPicPr>
          <p:cNvPr id="6" name="Image 1" descr="preencoded.png"/>
          <p:cNvPicPr>
            <a:picLocks noChangeAspect="1"/>
          </p:cNvPicPr>
          <p:nvPr/>
        </p:nvPicPr>
        <p:blipFill>
          <a:blip r:embed="rId4"/>
          <a:stretch>
            <a:fillRect/>
          </a:stretch>
        </p:blipFill>
        <p:spPr>
          <a:xfrm>
            <a:off x="5760720" y="1325880"/>
            <a:ext cx="228600" cy="228600"/>
          </a:xfrm>
          <a:prstGeom prst="rect">
            <a:avLst/>
          </a:prstGeom>
        </p:spPr>
      </p:pic>
      <p:sp>
        <p:nvSpPr>
          <p:cNvPr id="8" name="Text 3"/>
          <p:cNvSpPr/>
          <p:nvPr/>
        </p:nvSpPr>
        <p:spPr>
          <a:xfrm>
            <a:off x="6080760" y="1280160"/>
            <a:ext cx="2743200" cy="320040"/>
          </a:xfrm>
          <a:prstGeom prst="rect">
            <a:avLst/>
          </a:prstGeom>
          <a:noFill/>
          <a:ln/>
        </p:spPr>
        <p:txBody>
          <a:bodyPr wrap="square" lIns="0" tIns="0" rIns="0" bIns="0" rtlCol="0" anchor="ctr"/>
          <a:lstStyle/>
          <a:p>
            <a:pPr marL="0" indent="0">
              <a:buNone/>
            </a:pPr>
            <a:r>
              <a:rPr lang="en-US" sz="1000" dirty="0">
                <a:solidFill>
                  <a:srgbClr val="1A6B5A"/>
                </a:solidFill>
                <a:latin typeface="Calibri" pitchFamily="34" charset="0"/>
                <a:ea typeface="Calibri" pitchFamily="34" charset="-122"/>
                <a:cs typeface="Calibri" pitchFamily="34" charset="-120"/>
              </a:rPr>
              <a:t>6 subnets across 2 Availability Zones (N. Virginia)</a:t>
            </a:r>
            <a:endParaRPr lang="en-US" sz="1000" dirty="0"/>
          </a:p>
        </p:txBody>
      </p:sp>
      <p:pic>
        <p:nvPicPr>
          <p:cNvPr id="9" name="Image 2" descr="preencoded.png"/>
          <p:cNvPicPr>
            <a:picLocks noChangeAspect="1"/>
          </p:cNvPicPr>
          <p:nvPr/>
        </p:nvPicPr>
        <p:blipFill>
          <a:blip r:embed="rId4"/>
          <a:stretch>
            <a:fillRect/>
          </a:stretch>
        </p:blipFill>
        <p:spPr>
          <a:xfrm>
            <a:off x="5760720" y="1828800"/>
            <a:ext cx="228600" cy="228600"/>
          </a:xfrm>
          <a:prstGeom prst="rect">
            <a:avLst/>
          </a:prstGeom>
        </p:spPr>
      </p:pic>
      <p:sp>
        <p:nvSpPr>
          <p:cNvPr id="10" name="Text 4"/>
          <p:cNvSpPr/>
          <p:nvPr/>
        </p:nvSpPr>
        <p:spPr>
          <a:xfrm>
            <a:off x="6080760" y="1783080"/>
            <a:ext cx="2743200" cy="320040"/>
          </a:xfrm>
          <a:prstGeom prst="rect">
            <a:avLst/>
          </a:prstGeom>
          <a:noFill/>
          <a:ln/>
        </p:spPr>
        <p:txBody>
          <a:bodyPr wrap="square" lIns="0" tIns="0" rIns="0" bIns="0" rtlCol="0" anchor="ctr"/>
          <a:lstStyle/>
          <a:p>
            <a:pPr marL="0" indent="0">
              <a:buNone/>
            </a:pPr>
            <a:r>
              <a:rPr lang="en-US" sz="1000" dirty="0">
                <a:solidFill>
                  <a:srgbClr val="1A6B5A"/>
                </a:solidFill>
                <a:latin typeface="Calibri" pitchFamily="34" charset="0"/>
                <a:ea typeface="Calibri" pitchFamily="34" charset="-122"/>
                <a:cs typeface="Calibri" pitchFamily="34" charset="-120"/>
              </a:rPr>
              <a:t>Public subnets host ALB &amp; NAT Gateway</a:t>
            </a:r>
            <a:endParaRPr lang="en-US" sz="1000" dirty="0"/>
          </a:p>
        </p:txBody>
      </p:sp>
      <p:pic>
        <p:nvPicPr>
          <p:cNvPr id="11" name="Image 3" descr="preencoded.png"/>
          <p:cNvPicPr>
            <a:picLocks noChangeAspect="1"/>
          </p:cNvPicPr>
          <p:nvPr/>
        </p:nvPicPr>
        <p:blipFill>
          <a:blip r:embed="rId4"/>
          <a:stretch>
            <a:fillRect/>
          </a:stretch>
        </p:blipFill>
        <p:spPr>
          <a:xfrm>
            <a:off x="5760720" y="2331720"/>
            <a:ext cx="228600" cy="228600"/>
          </a:xfrm>
          <a:prstGeom prst="rect">
            <a:avLst/>
          </a:prstGeom>
        </p:spPr>
      </p:pic>
      <p:sp>
        <p:nvSpPr>
          <p:cNvPr id="12" name="Text 5"/>
          <p:cNvSpPr/>
          <p:nvPr/>
        </p:nvSpPr>
        <p:spPr>
          <a:xfrm>
            <a:off x="6080760" y="2286000"/>
            <a:ext cx="2743200" cy="320040"/>
          </a:xfrm>
          <a:prstGeom prst="rect">
            <a:avLst/>
          </a:prstGeom>
          <a:noFill/>
          <a:ln/>
        </p:spPr>
        <p:txBody>
          <a:bodyPr wrap="square" lIns="0" tIns="0" rIns="0" bIns="0" rtlCol="0" anchor="ctr"/>
          <a:lstStyle/>
          <a:p>
            <a:pPr marL="0" indent="0">
              <a:buNone/>
            </a:pPr>
            <a:r>
              <a:rPr lang="en-US" sz="1000" dirty="0">
                <a:solidFill>
                  <a:srgbClr val="1A6B5A"/>
                </a:solidFill>
                <a:latin typeface="Calibri" pitchFamily="34" charset="0"/>
                <a:ea typeface="Calibri" pitchFamily="34" charset="-122"/>
                <a:cs typeface="Calibri" pitchFamily="34" charset="-120"/>
              </a:rPr>
              <a:t>App servers in private subnets (no direct internet)</a:t>
            </a:r>
            <a:endParaRPr lang="en-US" sz="1000" dirty="0"/>
          </a:p>
        </p:txBody>
      </p:sp>
      <p:pic>
        <p:nvPicPr>
          <p:cNvPr id="13" name="Image 4" descr="preencoded.png"/>
          <p:cNvPicPr>
            <a:picLocks noChangeAspect="1"/>
          </p:cNvPicPr>
          <p:nvPr/>
        </p:nvPicPr>
        <p:blipFill>
          <a:blip r:embed="rId4"/>
          <a:stretch>
            <a:fillRect/>
          </a:stretch>
        </p:blipFill>
        <p:spPr>
          <a:xfrm>
            <a:off x="5760720" y="2834640"/>
            <a:ext cx="228600" cy="228600"/>
          </a:xfrm>
          <a:prstGeom prst="rect">
            <a:avLst/>
          </a:prstGeom>
        </p:spPr>
      </p:pic>
      <p:sp>
        <p:nvSpPr>
          <p:cNvPr id="14" name="Text 6"/>
          <p:cNvSpPr/>
          <p:nvPr/>
        </p:nvSpPr>
        <p:spPr>
          <a:xfrm>
            <a:off x="6080760" y="2788920"/>
            <a:ext cx="2743200" cy="320040"/>
          </a:xfrm>
          <a:prstGeom prst="rect">
            <a:avLst/>
          </a:prstGeom>
          <a:noFill/>
          <a:ln/>
        </p:spPr>
        <p:txBody>
          <a:bodyPr wrap="square" lIns="0" tIns="0" rIns="0" bIns="0" rtlCol="0" anchor="ctr"/>
          <a:lstStyle/>
          <a:p>
            <a:pPr marL="0" indent="0">
              <a:buNone/>
            </a:pPr>
            <a:r>
              <a:rPr lang="en-US" sz="1000" dirty="0">
                <a:solidFill>
                  <a:srgbClr val="1A6B5A"/>
                </a:solidFill>
                <a:latin typeface="Calibri" pitchFamily="34" charset="0"/>
                <a:ea typeface="Calibri" pitchFamily="34" charset="-122"/>
                <a:cs typeface="Calibri" pitchFamily="34" charset="-120"/>
              </a:rPr>
              <a:t>Database in dedicated private subnets for isolation</a:t>
            </a:r>
            <a:endParaRPr lang="en-US" sz="1000" dirty="0"/>
          </a:p>
        </p:txBody>
      </p:sp>
      <p:pic>
        <p:nvPicPr>
          <p:cNvPr id="15" name="Image 5" descr="preencoded.png"/>
          <p:cNvPicPr>
            <a:picLocks noChangeAspect="1"/>
          </p:cNvPicPr>
          <p:nvPr/>
        </p:nvPicPr>
        <p:blipFill>
          <a:blip r:embed="rId4"/>
          <a:stretch>
            <a:fillRect/>
          </a:stretch>
        </p:blipFill>
        <p:spPr>
          <a:xfrm>
            <a:off x="5760720" y="3337560"/>
            <a:ext cx="228600" cy="228600"/>
          </a:xfrm>
          <a:prstGeom prst="rect">
            <a:avLst/>
          </a:prstGeom>
        </p:spPr>
      </p:pic>
      <p:sp>
        <p:nvSpPr>
          <p:cNvPr id="16" name="Text 7"/>
          <p:cNvSpPr/>
          <p:nvPr/>
        </p:nvSpPr>
        <p:spPr>
          <a:xfrm>
            <a:off x="6080760" y="3291840"/>
            <a:ext cx="2743200" cy="320040"/>
          </a:xfrm>
          <a:prstGeom prst="rect">
            <a:avLst/>
          </a:prstGeom>
          <a:noFill/>
          <a:ln/>
        </p:spPr>
        <p:txBody>
          <a:bodyPr wrap="square" lIns="0" tIns="0" rIns="0" bIns="0" rtlCol="0" anchor="ctr"/>
          <a:lstStyle/>
          <a:p>
            <a:pPr marL="0" indent="0">
              <a:buNone/>
            </a:pPr>
            <a:r>
              <a:rPr lang="en-US" sz="1000" dirty="0">
                <a:solidFill>
                  <a:srgbClr val="1A6B5A"/>
                </a:solidFill>
                <a:latin typeface="Calibri" pitchFamily="34" charset="0"/>
                <a:ea typeface="Calibri" pitchFamily="34" charset="-122"/>
                <a:cs typeface="Calibri" pitchFamily="34" charset="-120"/>
              </a:rPr>
              <a:t>/24 CIDR for optimal IP capacity</a:t>
            </a:r>
            <a:endParaRPr lang="en-US" sz="1000" dirty="0"/>
          </a:p>
        </p:txBody>
      </p:sp>
      <p:pic>
        <p:nvPicPr>
          <p:cNvPr id="17" name="Image 6" descr="/home/claude/media/image7.jpg"/>
          <p:cNvPicPr>
            <a:picLocks noChangeAspect="1"/>
          </p:cNvPicPr>
          <p:nvPr/>
        </p:nvPicPr>
        <p:blipFill>
          <a:blip r:embed="rId5"/>
          <a:srcRect b="48244"/>
          <a:stretch>
            <a:fillRect/>
          </a:stretch>
        </p:blipFill>
        <p:spPr>
          <a:xfrm>
            <a:off x="120963" y="3508856"/>
            <a:ext cx="4922589" cy="1382671"/>
          </a:xfrm>
          <a:prstGeom prst="rect">
            <a:avLst/>
          </a:prstGeom>
        </p:spPr>
      </p:pic>
      <p:sp>
        <p:nvSpPr>
          <p:cNvPr id="18" name="Text 8"/>
          <p:cNvSpPr/>
          <p:nvPr/>
        </p:nvSpPr>
        <p:spPr>
          <a:xfrm>
            <a:off x="120963" y="4832379"/>
            <a:ext cx="3657600" cy="274320"/>
          </a:xfrm>
          <a:prstGeom prst="rect">
            <a:avLst/>
          </a:prstGeom>
          <a:noFill/>
          <a:ln/>
        </p:spPr>
        <p:txBody>
          <a:bodyPr wrap="square" lIns="0" tIns="0" rIns="0" bIns="0" rtlCol="0" anchor="ctr"/>
          <a:lstStyle/>
          <a:p>
            <a:pPr marL="0" indent="0">
              <a:buNone/>
            </a:pPr>
            <a:r>
              <a:rPr lang="en-US" sz="900" i="1" dirty="0">
                <a:solidFill>
                  <a:srgbClr val="5A6B7F"/>
                </a:solidFill>
                <a:latin typeface="Calibri" pitchFamily="34" charset="0"/>
                <a:ea typeface="Calibri" pitchFamily="34" charset="-122"/>
                <a:cs typeface="Calibri" pitchFamily="34" charset="-120"/>
              </a:rPr>
              <a:t>All six subnets created in the VPC</a:t>
            </a:r>
            <a:endParaRPr lang="en-US" sz="900" dirty="0"/>
          </a:p>
        </p:txBody>
      </p:sp>
      <p:sp>
        <p:nvSpPr>
          <p:cNvPr id="19" name="Text 9"/>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5A6B7F"/>
                </a:solidFill>
                <a:latin typeface="Calibri" pitchFamily="34" charset="0"/>
                <a:ea typeface="Calibri" pitchFamily="34" charset="-122"/>
                <a:cs typeface="Calibri" pitchFamily="34" charset="-120"/>
              </a:rPr>
              <a:t>6 / 25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8"/>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16A085"/>
          </a:solidFill>
          <a:ln/>
        </p:spPr>
        <p:txBody>
          <a:bodyPr/>
          <a:lstStyle/>
          <a:p>
            <a:endParaRPr lang="en-US"/>
          </a:p>
        </p:txBody>
      </p:sp>
      <p:sp>
        <p:nvSpPr>
          <p:cNvPr id="3" name="Text 1"/>
          <p:cNvSpPr/>
          <p:nvPr/>
        </p:nvSpPr>
        <p:spPr>
          <a:xfrm>
            <a:off x="457200" y="182880"/>
            <a:ext cx="6400800" cy="457200"/>
          </a:xfrm>
          <a:prstGeom prst="rect">
            <a:avLst/>
          </a:prstGeom>
          <a:noFill/>
          <a:ln/>
        </p:spPr>
        <p:txBody>
          <a:bodyPr wrap="square" lIns="0" tIns="0" rIns="0" bIns="0" rtlCol="0" anchor="ctr"/>
          <a:lstStyle/>
          <a:p>
            <a:pPr marL="0" indent="0">
              <a:buNone/>
            </a:pPr>
            <a:r>
              <a:rPr lang="en-US" sz="2400" b="1" dirty="0">
                <a:solidFill>
                  <a:srgbClr val="1A2B4A"/>
                </a:solidFill>
                <a:latin typeface="Georgia" pitchFamily="34" charset="0"/>
                <a:ea typeface="Georgia" pitchFamily="34" charset="-122"/>
                <a:cs typeface="Georgia" pitchFamily="34" charset="-120"/>
              </a:rPr>
              <a:t>INTERNET &amp; NAT GATEWAYS</a:t>
            </a:r>
            <a:endParaRPr lang="en-US" sz="2400" dirty="0"/>
          </a:p>
        </p:txBody>
      </p:sp>
      <p:sp>
        <p:nvSpPr>
          <p:cNvPr id="4" name="Shape 2"/>
          <p:cNvSpPr/>
          <p:nvPr/>
        </p:nvSpPr>
        <p:spPr>
          <a:xfrm>
            <a:off x="365760" y="822960"/>
            <a:ext cx="4114800" cy="40233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5" name="Shape 3"/>
          <p:cNvSpPr/>
          <p:nvPr/>
        </p:nvSpPr>
        <p:spPr>
          <a:xfrm>
            <a:off x="365760" y="822960"/>
            <a:ext cx="4114800" cy="54864"/>
          </a:xfrm>
          <a:prstGeom prst="rect">
            <a:avLst/>
          </a:prstGeom>
          <a:solidFill>
            <a:srgbClr val="16A085"/>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548640" y="1005840"/>
            <a:ext cx="320040" cy="320040"/>
          </a:xfrm>
          <a:prstGeom prst="rect">
            <a:avLst/>
          </a:prstGeom>
        </p:spPr>
      </p:pic>
      <p:sp>
        <p:nvSpPr>
          <p:cNvPr id="7" name="Text 4"/>
          <p:cNvSpPr/>
          <p:nvPr/>
        </p:nvSpPr>
        <p:spPr>
          <a:xfrm>
            <a:off x="960120" y="1005840"/>
            <a:ext cx="2743200" cy="320040"/>
          </a:xfrm>
          <a:prstGeom prst="rect">
            <a:avLst/>
          </a:prstGeom>
          <a:noFill/>
          <a:ln/>
        </p:spPr>
        <p:txBody>
          <a:bodyPr wrap="square" lIns="0" tIns="0" rIns="0" bIns="0" rtlCol="0" anchor="ctr"/>
          <a:lstStyle/>
          <a:p>
            <a:pPr marL="0" indent="0">
              <a:buNone/>
            </a:pPr>
            <a:r>
              <a:rPr lang="en-US" sz="1500" b="1" dirty="0">
                <a:solidFill>
                  <a:srgbClr val="1A2B4A"/>
                </a:solidFill>
                <a:latin typeface="Georgia" pitchFamily="34" charset="0"/>
                <a:ea typeface="Georgia" pitchFamily="34" charset="-122"/>
                <a:cs typeface="Georgia" pitchFamily="34" charset="-120"/>
              </a:rPr>
              <a:t>Internet Gateway</a:t>
            </a:r>
            <a:endParaRPr lang="en-US" sz="1500" dirty="0"/>
          </a:p>
        </p:txBody>
      </p:sp>
      <p:sp>
        <p:nvSpPr>
          <p:cNvPr id="8" name="Text 5"/>
          <p:cNvSpPr/>
          <p:nvPr/>
        </p:nvSpPr>
        <p:spPr>
          <a:xfrm>
            <a:off x="548640" y="1417320"/>
            <a:ext cx="3749040" cy="457200"/>
          </a:xfrm>
          <a:prstGeom prst="rect">
            <a:avLst/>
          </a:prstGeom>
          <a:noFill/>
          <a:ln/>
        </p:spPr>
        <p:txBody>
          <a:bodyPr wrap="square" lIns="0" tIns="0" rIns="0" bIns="0" rtlCol="0" anchor="ctr"/>
          <a:lstStyle/>
          <a:p>
            <a:pPr marL="0" indent="0">
              <a:buNone/>
            </a:pPr>
            <a:r>
              <a:rPr lang="en-US" sz="1100" dirty="0">
                <a:solidFill>
                  <a:srgbClr val="5A6B7F"/>
                </a:solidFill>
                <a:latin typeface="Calibri" pitchFamily="34" charset="0"/>
                <a:ea typeface="Calibri" pitchFamily="34" charset="-122"/>
                <a:cs typeface="Calibri" pitchFamily="34" charset="-120"/>
              </a:rPr>
              <a:t>Allows communication between public resources and the Internet. Attached to the VPC for external accessibility.</a:t>
            </a:r>
            <a:endParaRPr lang="en-US" sz="1100" dirty="0"/>
          </a:p>
        </p:txBody>
      </p:sp>
      <p:pic>
        <p:nvPicPr>
          <p:cNvPr id="9" name="Image 1" descr="/home/claude/media/image8.jpg"/>
          <p:cNvPicPr>
            <a:picLocks noChangeAspect="1"/>
          </p:cNvPicPr>
          <p:nvPr/>
        </p:nvPicPr>
        <p:blipFill>
          <a:blip r:embed="rId4"/>
          <a:srcRect/>
          <a:stretch/>
        </p:blipFill>
        <p:spPr>
          <a:xfrm>
            <a:off x="548640" y="1965960"/>
            <a:ext cx="3749040" cy="2384616"/>
          </a:xfrm>
          <a:prstGeom prst="rect">
            <a:avLst/>
          </a:prstGeom>
        </p:spPr>
      </p:pic>
      <p:sp>
        <p:nvSpPr>
          <p:cNvPr id="10" name="Shape 6"/>
          <p:cNvSpPr/>
          <p:nvPr/>
        </p:nvSpPr>
        <p:spPr>
          <a:xfrm>
            <a:off x="4663440" y="822960"/>
            <a:ext cx="4114800" cy="40233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1" name="Shape 7"/>
          <p:cNvSpPr/>
          <p:nvPr/>
        </p:nvSpPr>
        <p:spPr>
          <a:xfrm>
            <a:off x="4663440" y="822960"/>
            <a:ext cx="4114800" cy="54864"/>
          </a:xfrm>
          <a:prstGeom prst="rect">
            <a:avLst/>
          </a:prstGeom>
          <a:solidFill>
            <a:srgbClr val="F8F4EC"/>
          </a:solidFill>
          <a:ln/>
        </p:spPr>
        <p:txBody>
          <a:bodyPr/>
          <a:lstStyle/>
          <a:p>
            <a:endParaRPr lang="en-US"/>
          </a:p>
        </p:txBody>
      </p:sp>
      <p:pic>
        <p:nvPicPr>
          <p:cNvPr id="12" name="Image 2" descr="preencoded.png"/>
          <p:cNvPicPr>
            <a:picLocks noChangeAspect="1"/>
          </p:cNvPicPr>
          <p:nvPr/>
        </p:nvPicPr>
        <p:blipFill>
          <a:blip r:embed="rId5"/>
          <a:stretch>
            <a:fillRect/>
          </a:stretch>
        </p:blipFill>
        <p:spPr>
          <a:xfrm>
            <a:off x="4846320" y="1005840"/>
            <a:ext cx="320040" cy="320040"/>
          </a:xfrm>
          <a:prstGeom prst="rect">
            <a:avLst/>
          </a:prstGeom>
        </p:spPr>
      </p:pic>
      <p:sp>
        <p:nvSpPr>
          <p:cNvPr id="13" name="Text 8"/>
          <p:cNvSpPr/>
          <p:nvPr/>
        </p:nvSpPr>
        <p:spPr>
          <a:xfrm>
            <a:off x="5257800" y="1005840"/>
            <a:ext cx="2743200" cy="320040"/>
          </a:xfrm>
          <a:prstGeom prst="rect">
            <a:avLst/>
          </a:prstGeom>
          <a:noFill/>
          <a:ln/>
        </p:spPr>
        <p:txBody>
          <a:bodyPr wrap="square" lIns="0" tIns="0" rIns="0" bIns="0" rtlCol="0" anchor="ctr"/>
          <a:lstStyle/>
          <a:p>
            <a:pPr marL="0" indent="0">
              <a:buNone/>
            </a:pPr>
            <a:r>
              <a:rPr lang="en-US" sz="1500" b="1" dirty="0">
                <a:solidFill>
                  <a:srgbClr val="1A2B4A"/>
                </a:solidFill>
                <a:latin typeface="Georgia" pitchFamily="34" charset="0"/>
                <a:ea typeface="Georgia" pitchFamily="34" charset="-122"/>
                <a:cs typeface="Georgia" pitchFamily="34" charset="-120"/>
              </a:rPr>
              <a:t>NAT Gateway</a:t>
            </a:r>
            <a:endParaRPr lang="en-US" sz="1500" dirty="0"/>
          </a:p>
        </p:txBody>
      </p:sp>
      <p:sp>
        <p:nvSpPr>
          <p:cNvPr id="14" name="Text 9"/>
          <p:cNvSpPr/>
          <p:nvPr/>
        </p:nvSpPr>
        <p:spPr>
          <a:xfrm>
            <a:off x="4846320" y="1417320"/>
            <a:ext cx="3749040" cy="457200"/>
          </a:xfrm>
          <a:prstGeom prst="rect">
            <a:avLst/>
          </a:prstGeom>
          <a:noFill/>
          <a:ln/>
        </p:spPr>
        <p:txBody>
          <a:bodyPr wrap="square" lIns="0" tIns="0" rIns="0" bIns="0" rtlCol="0" anchor="ctr"/>
          <a:lstStyle/>
          <a:p>
            <a:pPr marL="0" indent="0">
              <a:buNone/>
            </a:pPr>
            <a:r>
              <a:rPr lang="en-US" sz="1100" dirty="0">
                <a:solidFill>
                  <a:srgbClr val="5A6B7F"/>
                </a:solidFill>
                <a:latin typeface="Calibri" pitchFamily="34" charset="0"/>
                <a:ea typeface="Calibri" pitchFamily="34" charset="-122"/>
                <a:cs typeface="Calibri" pitchFamily="34" charset="-120"/>
              </a:rPr>
              <a:t>Deployed in public subnet with Elastic IP. Enables private subnet outbound internet without inbound public access.</a:t>
            </a:r>
            <a:endParaRPr lang="en-US" sz="1100" dirty="0"/>
          </a:p>
        </p:txBody>
      </p:sp>
      <p:pic>
        <p:nvPicPr>
          <p:cNvPr id="15" name="Image 3" descr="/home/claude/media/image9.jpg"/>
          <p:cNvPicPr>
            <a:picLocks noChangeAspect="1"/>
          </p:cNvPicPr>
          <p:nvPr/>
        </p:nvPicPr>
        <p:blipFill>
          <a:blip r:embed="rId6"/>
          <a:srcRect/>
          <a:stretch/>
        </p:blipFill>
        <p:spPr>
          <a:xfrm>
            <a:off x="4846320" y="1965960"/>
            <a:ext cx="3749040" cy="2278004"/>
          </a:xfrm>
          <a:prstGeom prst="rect">
            <a:avLst/>
          </a:prstGeom>
        </p:spPr>
      </p:pic>
      <p:sp>
        <p:nvSpPr>
          <p:cNvPr id="16" name="Text 10"/>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5A6B7F"/>
                </a:solidFill>
                <a:latin typeface="Calibri" pitchFamily="34" charset="0"/>
                <a:ea typeface="Calibri" pitchFamily="34" charset="-122"/>
                <a:cs typeface="Calibri" pitchFamily="34" charset="-120"/>
              </a:rPr>
              <a:t>7 / 25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8"/>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16A085"/>
          </a:solidFill>
          <a:ln/>
        </p:spPr>
        <p:txBody>
          <a:bodyPr/>
          <a:lstStyle/>
          <a:p>
            <a:endParaRPr lang="en-US"/>
          </a:p>
        </p:txBody>
      </p:sp>
      <p:sp>
        <p:nvSpPr>
          <p:cNvPr id="3" name="Text 1"/>
          <p:cNvSpPr/>
          <p:nvPr/>
        </p:nvSpPr>
        <p:spPr>
          <a:xfrm>
            <a:off x="457200" y="182880"/>
            <a:ext cx="6400800" cy="457200"/>
          </a:xfrm>
          <a:prstGeom prst="rect">
            <a:avLst/>
          </a:prstGeom>
          <a:noFill/>
          <a:ln/>
        </p:spPr>
        <p:txBody>
          <a:bodyPr wrap="square" lIns="0" tIns="0" rIns="0" bIns="0" rtlCol="0" anchor="ctr"/>
          <a:lstStyle/>
          <a:p>
            <a:pPr marL="0" indent="0">
              <a:buNone/>
            </a:pPr>
            <a:r>
              <a:rPr lang="en-US" sz="2400" b="1" dirty="0">
                <a:solidFill>
                  <a:srgbClr val="1A2B4A"/>
                </a:solidFill>
                <a:latin typeface="Georgia" pitchFamily="34" charset="0"/>
                <a:ea typeface="Georgia" pitchFamily="34" charset="-122"/>
                <a:cs typeface="Georgia" pitchFamily="34" charset="-120"/>
              </a:rPr>
              <a:t>ROUTE TABLES</a:t>
            </a:r>
            <a:endParaRPr lang="en-US" sz="2400" dirty="0"/>
          </a:p>
        </p:txBody>
      </p:sp>
      <p:sp>
        <p:nvSpPr>
          <p:cNvPr id="4" name="Text 2"/>
          <p:cNvSpPr/>
          <p:nvPr/>
        </p:nvSpPr>
        <p:spPr>
          <a:xfrm>
            <a:off x="457200" y="640080"/>
            <a:ext cx="7315200" cy="274320"/>
          </a:xfrm>
          <a:prstGeom prst="rect">
            <a:avLst/>
          </a:prstGeom>
          <a:noFill/>
          <a:ln/>
        </p:spPr>
        <p:txBody>
          <a:bodyPr wrap="square" lIns="0" tIns="0" rIns="0" bIns="0" rtlCol="0" anchor="ctr"/>
          <a:lstStyle/>
          <a:p>
            <a:pPr marL="0" indent="0">
              <a:buNone/>
            </a:pPr>
            <a:r>
              <a:rPr lang="en-US" sz="1100" i="1" dirty="0">
                <a:solidFill>
                  <a:srgbClr val="5A6B7F"/>
                </a:solidFill>
                <a:latin typeface="Calibri" pitchFamily="34" charset="0"/>
                <a:ea typeface="Calibri" pitchFamily="34" charset="-122"/>
                <a:cs typeface="Calibri" pitchFamily="34" charset="-120"/>
              </a:rPr>
              <a:t>Directing traffic through Internet Gateway (public) and NAT Gateway (private)</a:t>
            </a:r>
            <a:endParaRPr lang="en-US" sz="1100" dirty="0"/>
          </a:p>
        </p:txBody>
      </p:sp>
      <p:sp>
        <p:nvSpPr>
          <p:cNvPr id="5" name="Shape 3"/>
          <p:cNvSpPr/>
          <p:nvPr/>
        </p:nvSpPr>
        <p:spPr>
          <a:xfrm>
            <a:off x="365760" y="1097280"/>
            <a:ext cx="4114800" cy="37490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6" name="Shape 4"/>
          <p:cNvSpPr/>
          <p:nvPr/>
        </p:nvSpPr>
        <p:spPr>
          <a:xfrm>
            <a:off x="365760" y="1097280"/>
            <a:ext cx="4114800" cy="54864"/>
          </a:xfrm>
          <a:prstGeom prst="rect">
            <a:avLst/>
          </a:prstGeom>
          <a:solidFill>
            <a:srgbClr val="16A085"/>
          </a:solidFill>
          <a:ln/>
        </p:spPr>
        <p:txBody>
          <a:bodyPr/>
          <a:lstStyle/>
          <a:p>
            <a:endParaRPr lang="en-US"/>
          </a:p>
        </p:txBody>
      </p:sp>
      <p:sp>
        <p:nvSpPr>
          <p:cNvPr id="7" name="Text 5"/>
          <p:cNvSpPr/>
          <p:nvPr/>
        </p:nvSpPr>
        <p:spPr>
          <a:xfrm>
            <a:off x="548640" y="1280160"/>
            <a:ext cx="2743200" cy="320040"/>
          </a:xfrm>
          <a:prstGeom prst="rect">
            <a:avLst/>
          </a:prstGeom>
          <a:noFill/>
          <a:ln/>
        </p:spPr>
        <p:txBody>
          <a:bodyPr wrap="square" lIns="0" tIns="0" rIns="0" bIns="0" rtlCol="0" anchor="ctr"/>
          <a:lstStyle/>
          <a:p>
            <a:pPr marL="0" indent="0">
              <a:buNone/>
            </a:pPr>
            <a:r>
              <a:rPr lang="en-US" sz="1500" b="1" dirty="0">
                <a:solidFill>
                  <a:srgbClr val="16A085"/>
                </a:solidFill>
                <a:latin typeface="Georgia" pitchFamily="34" charset="0"/>
                <a:ea typeface="Georgia" pitchFamily="34" charset="-122"/>
                <a:cs typeface="Georgia" pitchFamily="34" charset="-120"/>
              </a:rPr>
              <a:t>Public Route Table</a:t>
            </a:r>
            <a:endParaRPr lang="en-US" sz="1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3749040" cy="883920"/>
        </p:xfrm>
        <a:graphic>
          <a:graphicData uri="http://schemas.openxmlformats.org/drawingml/2006/table">
            <a:tbl>
              <a:tblPr/>
              <a:tblGrid>
                <a:gridCol w="118872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0">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Destination</a:t>
                      </a:r>
                      <a:endParaRPr lang="en-US" sz="1000" dirty="0">
                        <a:latin typeface="Calibri" charset="0"/>
                        <a:ea typeface="Calibri" charset="0"/>
                        <a:cs typeface="Calibri" charset="0"/>
                      </a:endParaRPr>
                    </a:p>
                  </a:txBody>
                  <a:tcPr>
                    <a:lnL w="6350" cap="flat" cmpd="sng" algn="ctr">
                      <a:solidFill>
                        <a:srgbClr val="D0C8B8"/>
                      </a:solidFill>
                      <a:prstDash val="solid"/>
                      <a:round/>
                      <a:headEnd type="none" w="med" len="med"/>
                      <a:tailEnd type="none" w="med" len="med"/>
                    </a:lnL>
                    <a:lnR w="6350" cap="flat" cmpd="sng" algn="ctr">
                      <a:solidFill>
                        <a:srgbClr val="D0C8B8"/>
                      </a:solidFill>
                      <a:prstDash val="solid"/>
                      <a:round/>
                      <a:headEnd type="none" w="med" len="med"/>
                      <a:tailEnd type="none" w="med" len="med"/>
                    </a:lnR>
                    <a:lnT w="6350" cap="flat" cmpd="sng" algn="ctr">
                      <a:solidFill>
                        <a:srgbClr val="D0C8B8"/>
                      </a:solidFill>
                      <a:prstDash val="solid"/>
                      <a:round/>
                      <a:headEnd type="none" w="med" len="med"/>
                      <a:tailEnd type="none" w="med" len="med"/>
                    </a:lnT>
                    <a:lnB w="6350" cap="flat" cmpd="sng" algn="ctr">
                      <a:solidFill>
                        <a:srgbClr val="D0C8B8"/>
                      </a:solidFill>
                      <a:prstDash val="solid"/>
                      <a:round/>
                      <a:headEnd type="none" w="med" len="med"/>
                      <a:tailEnd type="none" w="med" len="med"/>
                    </a:lnB>
                    <a:solidFill>
                      <a:srgbClr val="16A085"/>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Target</a:t>
                      </a:r>
                      <a:endParaRPr lang="en-US" sz="1000" dirty="0">
                        <a:latin typeface="Calibri" charset="0"/>
                        <a:ea typeface="Calibri" charset="0"/>
                        <a:cs typeface="Calibri" charset="0"/>
                      </a:endParaRPr>
                    </a:p>
                  </a:txBody>
                  <a:tcPr>
                    <a:lnL w="6350" cap="flat" cmpd="sng" algn="ctr">
                      <a:solidFill>
                        <a:srgbClr val="D0C8B8"/>
                      </a:solidFill>
                      <a:prstDash val="solid"/>
                      <a:round/>
                      <a:headEnd type="none" w="med" len="med"/>
                      <a:tailEnd type="none" w="med" len="med"/>
                    </a:lnL>
                    <a:lnR w="6350" cap="flat" cmpd="sng" algn="ctr">
                      <a:solidFill>
                        <a:srgbClr val="D0C8B8"/>
                      </a:solidFill>
                      <a:prstDash val="solid"/>
                      <a:round/>
                      <a:headEnd type="none" w="med" len="med"/>
                      <a:tailEnd type="none" w="med" len="med"/>
                    </a:lnR>
                    <a:lnT w="6350" cap="flat" cmpd="sng" algn="ctr">
                      <a:solidFill>
                        <a:srgbClr val="D0C8B8"/>
                      </a:solidFill>
                      <a:prstDash val="solid"/>
                      <a:round/>
                      <a:headEnd type="none" w="med" len="med"/>
                      <a:tailEnd type="none" w="med" len="med"/>
                    </a:lnT>
                    <a:lnB w="6350" cap="flat" cmpd="sng" algn="ctr">
                      <a:solidFill>
                        <a:srgbClr val="D0C8B8"/>
                      </a:solidFill>
                      <a:prstDash val="solid"/>
                      <a:round/>
                      <a:headEnd type="none" w="med" len="med"/>
                      <a:tailEnd type="none" w="med" len="med"/>
                    </a:lnB>
                    <a:solidFill>
                      <a:srgbClr val="16A085"/>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Purpose</a:t>
                      </a:r>
                      <a:endParaRPr lang="en-US" sz="1000" dirty="0">
                        <a:latin typeface="Calibri" charset="0"/>
                        <a:ea typeface="Calibri" charset="0"/>
                        <a:cs typeface="Calibri" charset="0"/>
                      </a:endParaRPr>
                    </a:p>
                  </a:txBody>
                  <a:tcPr>
                    <a:lnL w="6350" cap="flat" cmpd="sng" algn="ctr">
                      <a:solidFill>
                        <a:srgbClr val="D0C8B8"/>
                      </a:solidFill>
                      <a:prstDash val="solid"/>
                      <a:round/>
                      <a:headEnd type="none" w="med" len="med"/>
                      <a:tailEnd type="none" w="med" len="med"/>
                    </a:lnL>
                    <a:lnR w="6350" cap="flat" cmpd="sng" algn="ctr">
                      <a:solidFill>
                        <a:srgbClr val="D0C8B8"/>
                      </a:solidFill>
                      <a:prstDash val="solid"/>
                      <a:round/>
                      <a:headEnd type="none" w="med" len="med"/>
                      <a:tailEnd type="none" w="med" len="med"/>
                    </a:lnR>
                    <a:lnT w="6350" cap="flat" cmpd="sng" algn="ctr">
                      <a:solidFill>
                        <a:srgbClr val="D0C8B8"/>
                      </a:solidFill>
                      <a:prstDash val="solid"/>
                      <a:round/>
                      <a:headEnd type="none" w="med" len="med"/>
                      <a:tailEnd type="none" w="med" len="med"/>
                    </a:lnT>
                    <a:lnB w="6350" cap="flat" cmpd="sng" algn="ctr">
                      <a:solidFill>
                        <a:srgbClr val="D0C8B8"/>
                      </a:solidFill>
                      <a:prstDash val="solid"/>
                      <a:round/>
                      <a:headEnd type="none" w="med" len="med"/>
                      <a:tailEnd type="none" w="med" len="med"/>
                    </a:lnB>
                    <a:solidFill>
                      <a:srgbClr val="16A085"/>
                    </a:solidFill>
                  </a:tcPr>
                </a:tc>
                <a:extLst>
                  <a:ext uri="{0D108BD9-81ED-4DB2-BD59-A6C34878D82A}">
                    <a16:rowId xmlns:a16="http://schemas.microsoft.com/office/drawing/2014/main" val="10000"/>
                  </a:ext>
                </a:extLst>
              </a:tr>
              <a:tr h="0">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0.0.0.0/0</a:t>
                      </a:r>
                      <a:endParaRPr lang="en-US" sz="1000" dirty="0">
                        <a:latin typeface="Calibri" charset="0"/>
                        <a:ea typeface="Calibri" charset="0"/>
                        <a:cs typeface="Calibri" charset="0"/>
                      </a:endParaRPr>
                    </a:p>
                  </a:txBody>
                  <a:tcPr>
                    <a:lnL w="6350" cap="flat" cmpd="sng" algn="ctr">
                      <a:solidFill>
                        <a:srgbClr val="D0C8B8"/>
                      </a:solidFill>
                      <a:prstDash val="solid"/>
                      <a:round/>
                      <a:headEnd type="none" w="med" len="med"/>
                      <a:tailEnd type="none" w="med" len="med"/>
                    </a:lnL>
                    <a:lnR w="6350" cap="flat" cmpd="sng" algn="ctr">
                      <a:solidFill>
                        <a:srgbClr val="D0C8B8"/>
                      </a:solidFill>
                      <a:prstDash val="solid"/>
                      <a:round/>
                      <a:headEnd type="none" w="med" len="med"/>
                      <a:tailEnd type="none" w="med" len="med"/>
                    </a:lnR>
                    <a:lnT w="6350" cap="flat" cmpd="sng" algn="ctr">
                      <a:solidFill>
                        <a:srgbClr val="D0C8B8"/>
                      </a:solidFill>
                      <a:prstDash val="solid"/>
                      <a:round/>
                      <a:headEnd type="none" w="med" len="med"/>
                      <a:tailEnd type="none" w="med" len="med"/>
                    </a:lnT>
                    <a:lnB w="6350" cap="flat" cmpd="sng" algn="ctr">
                      <a:solidFill>
                        <a:srgbClr val="D0C8B8"/>
                      </a:solidFill>
                      <a:prstDash val="solid"/>
                      <a:round/>
                      <a:headEnd type="none" w="med" len="med"/>
                      <a:tailEnd type="none" w="med" len="med"/>
                    </a:lnB>
                  </a:tcPr>
                </a:tc>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Internet Gateway</a:t>
                      </a:r>
                      <a:endParaRPr lang="en-US" sz="1000" dirty="0">
                        <a:latin typeface="Calibri" charset="0"/>
                        <a:ea typeface="Calibri" charset="0"/>
                        <a:cs typeface="Calibri" charset="0"/>
                      </a:endParaRPr>
                    </a:p>
                  </a:txBody>
                  <a:tcPr>
                    <a:lnL w="6350" cap="flat" cmpd="sng" algn="ctr">
                      <a:solidFill>
                        <a:srgbClr val="D0C8B8"/>
                      </a:solidFill>
                      <a:prstDash val="solid"/>
                      <a:round/>
                      <a:headEnd type="none" w="med" len="med"/>
                      <a:tailEnd type="none" w="med" len="med"/>
                    </a:lnL>
                    <a:lnR w="6350" cap="flat" cmpd="sng" algn="ctr">
                      <a:solidFill>
                        <a:srgbClr val="D0C8B8"/>
                      </a:solidFill>
                      <a:prstDash val="solid"/>
                      <a:round/>
                      <a:headEnd type="none" w="med" len="med"/>
                      <a:tailEnd type="none" w="med" len="med"/>
                    </a:lnR>
                    <a:lnT w="6350" cap="flat" cmpd="sng" algn="ctr">
                      <a:solidFill>
                        <a:srgbClr val="D0C8B8"/>
                      </a:solidFill>
                      <a:prstDash val="solid"/>
                      <a:round/>
                      <a:headEnd type="none" w="med" len="med"/>
                      <a:tailEnd type="none" w="med" len="med"/>
                    </a:lnT>
                    <a:lnB w="6350" cap="flat" cmpd="sng" algn="ctr">
                      <a:solidFill>
                        <a:srgbClr val="D0C8B8"/>
                      </a:solidFill>
                      <a:prstDash val="solid"/>
                      <a:round/>
                      <a:headEnd type="none" w="med" len="med"/>
                      <a:tailEnd type="none" w="med" len="med"/>
                    </a:lnB>
                  </a:tcPr>
                </a:tc>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Internet-bound traffic</a:t>
                      </a:r>
                      <a:endParaRPr lang="en-US" sz="1000" dirty="0">
                        <a:latin typeface="Calibri" charset="0"/>
                        <a:ea typeface="Calibri" charset="0"/>
                        <a:cs typeface="Calibri" charset="0"/>
                      </a:endParaRPr>
                    </a:p>
                  </a:txBody>
                  <a:tcPr>
                    <a:lnL w="6350" cap="flat" cmpd="sng" algn="ctr">
                      <a:solidFill>
                        <a:srgbClr val="D0C8B8"/>
                      </a:solidFill>
                      <a:prstDash val="solid"/>
                      <a:round/>
                      <a:headEnd type="none" w="med" len="med"/>
                      <a:tailEnd type="none" w="med" len="med"/>
                    </a:lnL>
                    <a:lnR w="6350" cap="flat" cmpd="sng" algn="ctr">
                      <a:solidFill>
                        <a:srgbClr val="D0C8B8"/>
                      </a:solidFill>
                      <a:prstDash val="solid"/>
                      <a:round/>
                      <a:headEnd type="none" w="med" len="med"/>
                      <a:tailEnd type="none" w="med" len="med"/>
                    </a:lnR>
                    <a:lnT w="6350" cap="flat" cmpd="sng" algn="ctr">
                      <a:solidFill>
                        <a:srgbClr val="D0C8B8"/>
                      </a:solidFill>
                      <a:prstDash val="solid"/>
                      <a:round/>
                      <a:headEnd type="none" w="med" len="med"/>
                      <a:tailEnd type="none" w="med" len="med"/>
                    </a:lnT>
                    <a:lnB w="6350" cap="flat" cmpd="sng" algn="ctr">
                      <a:solidFill>
                        <a:srgbClr val="D0C8B8"/>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10.0.0.0/16</a:t>
                      </a:r>
                      <a:endParaRPr lang="en-US" sz="1000" dirty="0">
                        <a:latin typeface="Calibri" charset="0"/>
                        <a:ea typeface="Calibri" charset="0"/>
                        <a:cs typeface="Calibri" charset="0"/>
                      </a:endParaRPr>
                    </a:p>
                  </a:txBody>
                  <a:tcPr>
                    <a:lnL w="6350" cap="flat" cmpd="sng" algn="ctr">
                      <a:solidFill>
                        <a:srgbClr val="D0C8B8"/>
                      </a:solidFill>
                      <a:prstDash val="solid"/>
                      <a:round/>
                      <a:headEnd type="none" w="med" len="med"/>
                      <a:tailEnd type="none" w="med" len="med"/>
                    </a:lnL>
                    <a:lnR w="6350" cap="flat" cmpd="sng" algn="ctr">
                      <a:solidFill>
                        <a:srgbClr val="D0C8B8"/>
                      </a:solidFill>
                      <a:prstDash val="solid"/>
                      <a:round/>
                      <a:headEnd type="none" w="med" len="med"/>
                      <a:tailEnd type="none" w="med" len="med"/>
                    </a:lnR>
                    <a:lnT w="6350" cap="flat" cmpd="sng" algn="ctr">
                      <a:solidFill>
                        <a:srgbClr val="D0C8B8"/>
                      </a:solidFill>
                      <a:prstDash val="solid"/>
                      <a:round/>
                      <a:headEnd type="none" w="med" len="med"/>
                      <a:tailEnd type="none" w="med" len="med"/>
                    </a:lnT>
                    <a:lnB w="6350" cap="flat" cmpd="sng" algn="ctr">
                      <a:solidFill>
                        <a:srgbClr val="D0C8B8"/>
                      </a:solidFill>
                      <a:prstDash val="solid"/>
                      <a:round/>
                      <a:headEnd type="none" w="med" len="med"/>
                      <a:tailEnd type="none" w="med" len="med"/>
                    </a:lnB>
                  </a:tcPr>
                </a:tc>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Local</a:t>
                      </a:r>
                      <a:endParaRPr lang="en-US" sz="1000" dirty="0">
                        <a:latin typeface="Calibri" charset="0"/>
                        <a:ea typeface="Calibri" charset="0"/>
                        <a:cs typeface="Calibri" charset="0"/>
                      </a:endParaRPr>
                    </a:p>
                  </a:txBody>
                  <a:tcPr>
                    <a:lnL w="6350" cap="flat" cmpd="sng" algn="ctr">
                      <a:solidFill>
                        <a:srgbClr val="D0C8B8"/>
                      </a:solidFill>
                      <a:prstDash val="solid"/>
                      <a:round/>
                      <a:headEnd type="none" w="med" len="med"/>
                      <a:tailEnd type="none" w="med" len="med"/>
                    </a:lnL>
                    <a:lnR w="6350" cap="flat" cmpd="sng" algn="ctr">
                      <a:solidFill>
                        <a:srgbClr val="D0C8B8"/>
                      </a:solidFill>
                      <a:prstDash val="solid"/>
                      <a:round/>
                      <a:headEnd type="none" w="med" len="med"/>
                      <a:tailEnd type="none" w="med" len="med"/>
                    </a:lnR>
                    <a:lnT w="6350" cap="flat" cmpd="sng" algn="ctr">
                      <a:solidFill>
                        <a:srgbClr val="D0C8B8"/>
                      </a:solidFill>
                      <a:prstDash val="solid"/>
                      <a:round/>
                      <a:headEnd type="none" w="med" len="med"/>
                      <a:tailEnd type="none" w="med" len="med"/>
                    </a:lnT>
                    <a:lnB w="6350" cap="flat" cmpd="sng" algn="ctr">
                      <a:solidFill>
                        <a:srgbClr val="D0C8B8"/>
                      </a:solidFill>
                      <a:prstDash val="solid"/>
                      <a:round/>
                      <a:headEnd type="none" w="med" len="med"/>
                      <a:tailEnd type="none" w="med" len="med"/>
                    </a:lnB>
                  </a:tcPr>
                </a:tc>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Internal VPC traffic</a:t>
                      </a:r>
                      <a:endParaRPr lang="en-US" sz="1000" dirty="0">
                        <a:latin typeface="Calibri" charset="0"/>
                        <a:ea typeface="Calibri" charset="0"/>
                        <a:cs typeface="Calibri" charset="0"/>
                      </a:endParaRPr>
                    </a:p>
                  </a:txBody>
                  <a:tcPr>
                    <a:lnL w="6350" cap="flat" cmpd="sng" algn="ctr">
                      <a:solidFill>
                        <a:srgbClr val="D0C8B8"/>
                      </a:solidFill>
                      <a:prstDash val="solid"/>
                      <a:round/>
                      <a:headEnd type="none" w="med" len="med"/>
                      <a:tailEnd type="none" w="med" len="med"/>
                    </a:lnL>
                    <a:lnR w="6350" cap="flat" cmpd="sng" algn="ctr">
                      <a:solidFill>
                        <a:srgbClr val="D0C8B8"/>
                      </a:solidFill>
                      <a:prstDash val="solid"/>
                      <a:round/>
                      <a:headEnd type="none" w="med" len="med"/>
                      <a:tailEnd type="none" w="med" len="med"/>
                    </a:lnR>
                    <a:lnT w="6350" cap="flat" cmpd="sng" algn="ctr">
                      <a:solidFill>
                        <a:srgbClr val="D0C8B8"/>
                      </a:solidFill>
                      <a:prstDash val="solid"/>
                      <a:round/>
                      <a:headEnd type="none" w="med" len="med"/>
                      <a:tailEnd type="none" w="med" len="med"/>
                    </a:lnT>
                    <a:lnB w="6350" cap="flat" cmpd="sng" algn="ctr">
                      <a:solidFill>
                        <a:srgbClr val="D0C8B8"/>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8" name="Text 6"/>
          <p:cNvSpPr/>
          <p:nvPr/>
        </p:nvSpPr>
        <p:spPr>
          <a:xfrm>
            <a:off x="539496" y="2537460"/>
            <a:ext cx="3657600" cy="228600"/>
          </a:xfrm>
          <a:prstGeom prst="rect">
            <a:avLst/>
          </a:prstGeom>
          <a:noFill/>
          <a:ln/>
        </p:spPr>
        <p:txBody>
          <a:bodyPr wrap="square" lIns="0" tIns="0" rIns="0" bIns="0" rtlCol="0" anchor="ctr"/>
          <a:lstStyle/>
          <a:p>
            <a:pPr marL="0" indent="0">
              <a:buNone/>
            </a:pPr>
            <a:r>
              <a:rPr lang="en-US" sz="1000" i="1" dirty="0">
                <a:solidFill>
                  <a:srgbClr val="5A6B7F"/>
                </a:solidFill>
                <a:latin typeface="Calibri" pitchFamily="34" charset="0"/>
                <a:ea typeface="Calibri" pitchFamily="34" charset="-122"/>
                <a:cs typeface="Calibri" pitchFamily="34" charset="-120"/>
              </a:rPr>
              <a:t>Public subnets 1a and 1b explicitly associated</a:t>
            </a:r>
            <a:endParaRPr lang="en-US" sz="1000" dirty="0"/>
          </a:p>
        </p:txBody>
      </p:sp>
      <p:pic>
        <p:nvPicPr>
          <p:cNvPr id="10" name="Image 0" descr="/home/claude/media/image11.jpg"/>
          <p:cNvPicPr>
            <a:picLocks noChangeAspect="1"/>
          </p:cNvPicPr>
          <p:nvPr/>
        </p:nvPicPr>
        <p:blipFill>
          <a:blip r:embed="rId3"/>
          <a:srcRect/>
          <a:stretch/>
        </p:blipFill>
        <p:spPr>
          <a:xfrm>
            <a:off x="548640" y="2743200"/>
            <a:ext cx="3749040" cy="1920240"/>
          </a:xfrm>
          <a:prstGeom prst="rect">
            <a:avLst/>
          </a:prstGeom>
        </p:spPr>
      </p:pic>
      <p:sp>
        <p:nvSpPr>
          <p:cNvPr id="11" name="Shape 7"/>
          <p:cNvSpPr/>
          <p:nvPr/>
        </p:nvSpPr>
        <p:spPr>
          <a:xfrm>
            <a:off x="4663440" y="1097280"/>
            <a:ext cx="4114800" cy="37490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2" name="Shape 8"/>
          <p:cNvSpPr/>
          <p:nvPr/>
        </p:nvSpPr>
        <p:spPr>
          <a:xfrm>
            <a:off x="4663440" y="1097280"/>
            <a:ext cx="4114800" cy="54864"/>
          </a:xfrm>
          <a:prstGeom prst="rect">
            <a:avLst/>
          </a:prstGeom>
          <a:solidFill>
            <a:srgbClr val="F8F4EC"/>
          </a:solidFill>
          <a:ln/>
        </p:spPr>
        <p:txBody>
          <a:bodyPr/>
          <a:lstStyle/>
          <a:p>
            <a:endParaRPr lang="en-US"/>
          </a:p>
        </p:txBody>
      </p:sp>
      <p:sp>
        <p:nvSpPr>
          <p:cNvPr id="13" name="Text 9"/>
          <p:cNvSpPr/>
          <p:nvPr/>
        </p:nvSpPr>
        <p:spPr>
          <a:xfrm>
            <a:off x="4846320" y="1280160"/>
            <a:ext cx="2743200" cy="320040"/>
          </a:xfrm>
          <a:prstGeom prst="rect">
            <a:avLst/>
          </a:prstGeom>
          <a:noFill/>
          <a:ln/>
        </p:spPr>
        <p:txBody>
          <a:bodyPr wrap="square" lIns="0" tIns="0" rIns="0" bIns="0" rtlCol="0" anchor="ctr"/>
          <a:lstStyle/>
          <a:p>
            <a:pPr marL="0" indent="0">
              <a:buNone/>
            </a:pPr>
            <a:r>
              <a:rPr lang="en-US" sz="1500" b="1" dirty="0">
                <a:solidFill>
                  <a:srgbClr val="1A2B4A"/>
                </a:solidFill>
                <a:latin typeface="Georgia" pitchFamily="34" charset="0"/>
                <a:ea typeface="Georgia" pitchFamily="34" charset="-122"/>
                <a:cs typeface="Georgia" pitchFamily="34" charset="-120"/>
              </a:rPr>
              <a:t>Private Route Table</a:t>
            </a:r>
            <a:endParaRPr lang="en-US" sz="15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4846320" y="1691640"/>
          <a:ext cx="3749040" cy="731520"/>
        </p:xfrm>
        <a:graphic>
          <a:graphicData uri="http://schemas.openxmlformats.org/drawingml/2006/table">
            <a:tbl>
              <a:tblPr/>
              <a:tblGrid>
                <a:gridCol w="118872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0">
                <a:tc>
                  <a:txBody>
                    <a:bodyPr/>
                    <a:lstStyle/>
                    <a:p>
                      <a:pPr marL="0" indent="0">
                        <a:buNone/>
                      </a:pPr>
                      <a:r>
                        <a:rPr lang="en-US" sz="1000" b="1" dirty="0">
                          <a:solidFill>
                            <a:srgbClr val="1A2B4A"/>
                          </a:solidFill>
                          <a:latin typeface="Calibri" pitchFamily="34" charset="0"/>
                          <a:ea typeface="Calibri" pitchFamily="34" charset="-122"/>
                          <a:cs typeface="Calibri" pitchFamily="34" charset="-120"/>
                        </a:rPr>
                        <a:t>Destination</a:t>
                      </a:r>
                      <a:endParaRPr lang="en-US" sz="1000" dirty="0">
                        <a:latin typeface="Calibri" charset="0"/>
                        <a:ea typeface="Calibri" charset="0"/>
                        <a:cs typeface="Calibri" charset="0"/>
                      </a:endParaRPr>
                    </a:p>
                  </a:txBody>
                  <a:tcPr>
                    <a:lnL w="6350" cap="flat" cmpd="sng" algn="ctr">
                      <a:solidFill>
                        <a:srgbClr val="D0C8B8"/>
                      </a:solidFill>
                      <a:prstDash val="solid"/>
                      <a:round/>
                      <a:headEnd type="none" w="med" len="med"/>
                      <a:tailEnd type="none" w="med" len="med"/>
                    </a:lnL>
                    <a:lnR w="6350" cap="flat" cmpd="sng" algn="ctr">
                      <a:solidFill>
                        <a:srgbClr val="D0C8B8"/>
                      </a:solidFill>
                      <a:prstDash val="solid"/>
                      <a:round/>
                      <a:headEnd type="none" w="med" len="med"/>
                      <a:tailEnd type="none" w="med" len="med"/>
                    </a:lnR>
                    <a:lnT w="6350" cap="flat" cmpd="sng" algn="ctr">
                      <a:solidFill>
                        <a:srgbClr val="D0C8B8"/>
                      </a:solidFill>
                      <a:prstDash val="solid"/>
                      <a:round/>
                      <a:headEnd type="none" w="med" len="med"/>
                      <a:tailEnd type="none" w="med" len="med"/>
                    </a:lnT>
                    <a:lnB w="6350" cap="flat" cmpd="sng" algn="ctr">
                      <a:solidFill>
                        <a:srgbClr val="D0C8B8"/>
                      </a:solidFill>
                      <a:prstDash val="solid"/>
                      <a:round/>
                      <a:headEnd type="none" w="med" len="med"/>
                      <a:tailEnd type="none" w="med" len="med"/>
                    </a:lnB>
                    <a:solidFill>
                      <a:srgbClr val="F8F4EC"/>
                    </a:solidFill>
                  </a:tcPr>
                </a:tc>
                <a:tc>
                  <a:txBody>
                    <a:bodyPr/>
                    <a:lstStyle/>
                    <a:p>
                      <a:pPr marL="0" indent="0">
                        <a:buNone/>
                      </a:pPr>
                      <a:r>
                        <a:rPr lang="en-US" sz="1000" b="1" dirty="0">
                          <a:solidFill>
                            <a:srgbClr val="1A2B4A"/>
                          </a:solidFill>
                          <a:latin typeface="Calibri" pitchFamily="34" charset="0"/>
                          <a:ea typeface="Calibri" pitchFamily="34" charset="-122"/>
                          <a:cs typeface="Calibri" pitchFamily="34" charset="-120"/>
                        </a:rPr>
                        <a:t>Target</a:t>
                      </a:r>
                      <a:endParaRPr lang="en-US" sz="1000" dirty="0">
                        <a:latin typeface="Calibri" charset="0"/>
                        <a:ea typeface="Calibri" charset="0"/>
                        <a:cs typeface="Calibri" charset="0"/>
                      </a:endParaRPr>
                    </a:p>
                  </a:txBody>
                  <a:tcPr>
                    <a:lnL w="6350" cap="flat" cmpd="sng" algn="ctr">
                      <a:solidFill>
                        <a:srgbClr val="D0C8B8"/>
                      </a:solidFill>
                      <a:prstDash val="solid"/>
                      <a:round/>
                      <a:headEnd type="none" w="med" len="med"/>
                      <a:tailEnd type="none" w="med" len="med"/>
                    </a:lnL>
                    <a:lnR w="6350" cap="flat" cmpd="sng" algn="ctr">
                      <a:solidFill>
                        <a:srgbClr val="D0C8B8"/>
                      </a:solidFill>
                      <a:prstDash val="solid"/>
                      <a:round/>
                      <a:headEnd type="none" w="med" len="med"/>
                      <a:tailEnd type="none" w="med" len="med"/>
                    </a:lnR>
                    <a:lnT w="6350" cap="flat" cmpd="sng" algn="ctr">
                      <a:solidFill>
                        <a:srgbClr val="D0C8B8"/>
                      </a:solidFill>
                      <a:prstDash val="solid"/>
                      <a:round/>
                      <a:headEnd type="none" w="med" len="med"/>
                      <a:tailEnd type="none" w="med" len="med"/>
                    </a:lnT>
                    <a:lnB w="6350" cap="flat" cmpd="sng" algn="ctr">
                      <a:solidFill>
                        <a:srgbClr val="D0C8B8"/>
                      </a:solidFill>
                      <a:prstDash val="solid"/>
                      <a:round/>
                      <a:headEnd type="none" w="med" len="med"/>
                      <a:tailEnd type="none" w="med" len="med"/>
                    </a:lnB>
                    <a:solidFill>
                      <a:srgbClr val="F8F4EC"/>
                    </a:solidFill>
                  </a:tcPr>
                </a:tc>
                <a:tc>
                  <a:txBody>
                    <a:bodyPr/>
                    <a:lstStyle/>
                    <a:p>
                      <a:pPr marL="0" indent="0">
                        <a:buNone/>
                      </a:pPr>
                      <a:r>
                        <a:rPr lang="en-US" sz="1000" b="1" dirty="0">
                          <a:solidFill>
                            <a:srgbClr val="1A2B4A"/>
                          </a:solidFill>
                          <a:latin typeface="Calibri" pitchFamily="34" charset="0"/>
                          <a:ea typeface="Calibri" pitchFamily="34" charset="-122"/>
                          <a:cs typeface="Calibri" pitchFamily="34" charset="-120"/>
                        </a:rPr>
                        <a:t>Purpose</a:t>
                      </a:r>
                      <a:endParaRPr lang="en-US" sz="1000" dirty="0">
                        <a:latin typeface="Calibri" charset="0"/>
                        <a:ea typeface="Calibri" charset="0"/>
                        <a:cs typeface="Calibri" charset="0"/>
                      </a:endParaRPr>
                    </a:p>
                  </a:txBody>
                  <a:tcPr>
                    <a:lnL w="6350" cap="flat" cmpd="sng" algn="ctr">
                      <a:solidFill>
                        <a:srgbClr val="D0C8B8"/>
                      </a:solidFill>
                      <a:prstDash val="solid"/>
                      <a:round/>
                      <a:headEnd type="none" w="med" len="med"/>
                      <a:tailEnd type="none" w="med" len="med"/>
                    </a:lnL>
                    <a:lnR w="6350" cap="flat" cmpd="sng" algn="ctr">
                      <a:solidFill>
                        <a:srgbClr val="D0C8B8"/>
                      </a:solidFill>
                      <a:prstDash val="solid"/>
                      <a:round/>
                      <a:headEnd type="none" w="med" len="med"/>
                      <a:tailEnd type="none" w="med" len="med"/>
                    </a:lnR>
                    <a:lnT w="6350" cap="flat" cmpd="sng" algn="ctr">
                      <a:solidFill>
                        <a:srgbClr val="D0C8B8"/>
                      </a:solidFill>
                      <a:prstDash val="solid"/>
                      <a:round/>
                      <a:headEnd type="none" w="med" len="med"/>
                      <a:tailEnd type="none" w="med" len="med"/>
                    </a:lnT>
                    <a:lnB w="6350" cap="flat" cmpd="sng" algn="ctr">
                      <a:solidFill>
                        <a:srgbClr val="D0C8B8"/>
                      </a:solidFill>
                      <a:prstDash val="solid"/>
                      <a:round/>
                      <a:headEnd type="none" w="med" len="med"/>
                      <a:tailEnd type="none" w="med" len="med"/>
                    </a:lnB>
                    <a:solidFill>
                      <a:srgbClr val="F8F4EC"/>
                    </a:solidFill>
                  </a:tcPr>
                </a:tc>
                <a:extLst>
                  <a:ext uri="{0D108BD9-81ED-4DB2-BD59-A6C34878D82A}">
                    <a16:rowId xmlns:a16="http://schemas.microsoft.com/office/drawing/2014/main" val="10000"/>
                  </a:ext>
                </a:extLst>
              </a:tr>
              <a:tr h="0">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0.0.0.0/0</a:t>
                      </a:r>
                      <a:endParaRPr lang="en-US" sz="1000" dirty="0">
                        <a:latin typeface="Calibri" charset="0"/>
                        <a:ea typeface="Calibri" charset="0"/>
                        <a:cs typeface="Calibri" charset="0"/>
                      </a:endParaRPr>
                    </a:p>
                  </a:txBody>
                  <a:tcPr>
                    <a:lnL w="6350" cap="flat" cmpd="sng" algn="ctr">
                      <a:solidFill>
                        <a:srgbClr val="D0C8B8"/>
                      </a:solidFill>
                      <a:prstDash val="solid"/>
                      <a:round/>
                      <a:headEnd type="none" w="med" len="med"/>
                      <a:tailEnd type="none" w="med" len="med"/>
                    </a:lnL>
                    <a:lnR w="6350" cap="flat" cmpd="sng" algn="ctr">
                      <a:solidFill>
                        <a:srgbClr val="D0C8B8"/>
                      </a:solidFill>
                      <a:prstDash val="solid"/>
                      <a:round/>
                      <a:headEnd type="none" w="med" len="med"/>
                      <a:tailEnd type="none" w="med" len="med"/>
                    </a:lnR>
                    <a:lnT w="6350" cap="flat" cmpd="sng" algn="ctr">
                      <a:solidFill>
                        <a:srgbClr val="D0C8B8"/>
                      </a:solidFill>
                      <a:prstDash val="solid"/>
                      <a:round/>
                      <a:headEnd type="none" w="med" len="med"/>
                      <a:tailEnd type="none" w="med" len="med"/>
                    </a:lnT>
                    <a:lnB w="6350" cap="flat" cmpd="sng" algn="ctr">
                      <a:solidFill>
                        <a:srgbClr val="D0C8B8"/>
                      </a:solidFill>
                      <a:prstDash val="solid"/>
                      <a:round/>
                      <a:headEnd type="none" w="med" len="med"/>
                      <a:tailEnd type="none" w="med" len="med"/>
                    </a:lnB>
                  </a:tcPr>
                </a:tc>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NAT Gateway</a:t>
                      </a:r>
                      <a:endParaRPr lang="en-US" sz="1000" dirty="0">
                        <a:latin typeface="Calibri" charset="0"/>
                        <a:ea typeface="Calibri" charset="0"/>
                        <a:cs typeface="Calibri" charset="0"/>
                      </a:endParaRPr>
                    </a:p>
                  </a:txBody>
                  <a:tcPr>
                    <a:lnL w="6350" cap="flat" cmpd="sng" algn="ctr">
                      <a:solidFill>
                        <a:srgbClr val="D0C8B8"/>
                      </a:solidFill>
                      <a:prstDash val="solid"/>
                      <a:round/>
                      <a:headEnd type="none" w="med" len="med"/>
                      <a:tailEnd type="none" w="med" len="med"/>
                    </a:lnL>
                    <a:lnR w="6350" cap="flat" cmpd="sng" algn="ctr">
                      <a:solidFill>
                        <a:srgbClr val="D0C8B8"/>
                      </a:solidFill>
                      <a:prstDash val="solid"/>
                      <a:round/>
                      <a:headEnd type="none" w="med" len="med"/>
                      <a:tailEnd type="none" w="med" len="med"/>
                    </a:lnR>
                    <a:lnT w="6350" cap="flat" cmpd="sng" algn="ctr">
                      <a:solidFill>
                        <a:srgbClr val="D0C8B8"/>
                      </a:solidFill>
                      <a:prstDash val="solid"/>
                      <a:round/>
                      <a:headEnd type="none" w="med" len="med"/>
                      <a:tailEnd type="none" w="med" len="med"/>
                    </a:lnT>
                    <a:lnB w="6350" cap="flat" cmpd="sng" algn="ctr">
                      <a:solidFill>
                        <a:srgbClr val="D0C8B8"/>
                      </a:solidFill>
                      <a:prstDash val="solid"/>
                      <a:round/>
                      <a:headEnd type="none" w="med" len="med"/>
                      <a:tailEnd type="none" w="med" len="med"/>
                    </a:lnB>
                  </a:tcPr>
                </a:tc>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Outbound internet</a:t>
                      </a:r>
                      <a:endParaRPr lang="en-US" sz="1000" dirty="0">
                        <a:latin typeface="Calibri" charset="0"/>
                        <a:ea typeface="Calibri" charset="0"/>
                        <a:cs typeface="Calibri" charset="0"/>
                      </a:endParaRPr>
                    </a:p>
                  </a:txBody>
                  <a:tcPr>
                    <a:lnL w="6350" cap="flat" cmpd="sng" algn="ctr">
                      <a:solidFill>
                        <a:srgbClr val="D0C8B8"/>
                      </a:solidFill>
                      <a:prstDash val="solid"/>
                      <a:round/>
                      <a:headEnd type="none" w="med" len="med"/>
                      <a:tailEnd type="none" w="med" len="med"/>
                    </a:lnL>
                    <a:lnR w="6350" cap="flat" cmpd="sng" algn="ctr">
                      <a:solidFill>
                        <a:srgbClr val="D0C8B8"/>
                      </a:solidFill>
                      <a:prstDash val="solid"/>
                      <a:round/>
                      <a:headEnd type="none" w="med" len="med"/>
                      <a:tailEnd type="none" w="med" len="med"/>
                    </a:lnR>
                    <a:lnT w="6350" cap="flat" cmpd="sng" algn="ctr">
                      <a:solidFill>
                        <a:srgbClr val="D0C8B8"/>
                      </a:solidFill>
                      <a:prstDash val="solid"/>
                      <a:round/>
                      <a:headEnd type="none" w="med" len="med"/>
                      <a:tailEnd type="none" w="med" len="med"/>
                    </a:lnT>
                    <a:lnB w="6350" cap="flat" cmpd="sng" algn="ctr">
                      <a:solidFill>
                        <a:srgbClr val="D0C8B8"/>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10.0.0.0/16</a:t>
                      </a:r>
                      <a:endParaRPr lang="en-US" sz="1000" dirty="0">
                        <a:latin typeface="Calibri" charset="0"/>
                        <a:ea typeface="Calibri" charset="0"/>
                        <a:cs typeface="Calibri" charset="0"/>
                      </a:endParaRPr>
                    </a:p>
                  </a:txBody>
                  <a:tcPr>
                    <a:lnL w="6350" cap="flat" cmpd="sng" algn="ctr">
                      <a:solidFill>
                        <a:srgbClr val="D0C8B8"/>
                      </a:solidFill>
                      <a:prstDash val="solid"/>
                      <a:round/>
                      <a:headEnd type="none" w="med" len="med"/>
                      <a:tailEnd type="none" w="med" len="med"/>
                    </a:lnL>
                    <a:lnR w="6350" cap="flat" cmpd="sng" algn="ctr">
                      <a:solidFill>
                        <a:srgbClr val="D0C8B8"/>
                      </a:solidFill>
                      <a:prstDash val="solid"/>
                      <a:round/>
                      <a:headEnd type="none" w="med" len="med"/>
                      <a:tailEnd type="none" w="med" len="med"/>
                    </a:lnR>
                    <a:lnT w="6350" cap="flat" cmpd="sng" algn="ctr">
                      <a:solidFill>
                        <a:srgbClr val="D0C8B8"/>
                      </a:solidFill>
                      <a:prstDash val="solid"/>
                      <a:round/>
                      <a:headEnd type="none" w="med" len="med"/>
                      <a:tailEnd type="none" w="med" len="med"/>
                    </a:lnT>
                    <a:lnB w="6350" cap="flat" cmpd="sng" algn="ctr">
                      <a:solidFill>
                        <a:srgbClr val="D0C8B8"/>
                      </a:solidFill>
                      <a:prstDash val="solid"/>
                      <a:round/>
                      <a:headEnd type="none" w="med" len="med"/>
                      <a:tailEnd type="none" w="med" len="med"/>
                    </a:lnB>
                  </a:tcPr>
                </a:tc>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Local</a:t>
                      </a:r>
                      <a:endParaRPr lang="en-US" sz="1000" dirty="0">
                        <a:latin typeface="Calibri" charset="0"/>
                        <a:ea typeface="Calibri" charset="0"/>
                        <a:cs typeface="Calibri" charset="0"/>
                      </a:endParaRPr>
                    </a:p>
                  </a:txBody>
                  <a:tcPr>
                    <a:lnL w="6350" cap="flat" cmpd="sng" algn="ctr">
                      <a:solidFill>
                        <a:srgbClr val="D0C8B8"/>
                      </a:solidFill>
                      <a:prstDash val="solid"/>
                      <a:round/>
                      <a:headEnd type="none" w="med" len="med"/>
                      <a:tailEnd type="none" w="med" len="med"/>
                    </a:lnL>
                    <a:lnR w="6350" cap="flat" cmpd="sng" algn="ctr">
                      <a:solidFill>
                        <a:srgbClr val="D0C8B8"/>
                      </a:solidFill>
                      <a:prstDash val="solid"/>
                      <a:round/>
                      <a:headEnd type="none" w="med" len="med"/>
                      <a:tailEnd type="none" w="med" len="med"/>
                    </a:lnR>
                    <a:lnT w="6350" cap="flat" cmpd="sng" algn="ctr">
                      <a:solidFill>
                        <a:srgbClr val="D0C8B8"/>
                      </a:solidFill>
                      <a:prstDash val="solid"/>
                      <a:round/>
                      <a:headEnd type="none" w="med" len="med"/>
                      <a:tailEnd type="none" w="med" len="med"/>
                    </a:lnT>
                    <a:lnB w="6350" cap="flat" cmpd="sng" algn="ctr">
                      <a:solidFill>
                        <a:srgbClr val="D0C8B8"/>
                      </a:solidFill>
                      <a:prstDash val="solid"/>
                      <a:round/>
                      <a:headEnd type="none" w="med" len="med"/>
                      <a:tailEnd type="none" w="med" len="med"/>
                    </a:lnB>
                  </a:tcPr>
                </a:tc>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Internal VPC traffic</a:t>
                      </a:r>
                      <a:endParaRPr lang="en-US" sz="1000" dirty="0">
                        <a:latin typeface="Calibri" charset="0"/>
                        <a:ea typeface="Calibri" charset="0"/>
                        <a:cs typeface="Calibri" charset="0"/>
                      </a:endParaRPr>
                    </a:p>
                  </a:txBody>
                  <a:tcPr>
                    <a:lnL w="6350" cap="flat" cmpd="sng" algn="ctr">
                      <a:solidFill>
                        <a:srgbClr val="D0C8B8"/>
                      </a:solidFill>
                      <a:prstDash val="solid"/>
                      <a:round/>
                      <a:headEnd type="none" w="med" len="med"/>
                      <a:tailEnd type="none" w="med" len="med"/>
                    </a:lnL>
                    <a:lnR w="6350" cap="flat" cmpd="sng" algn="ctr">
                      <a:solidFill>
                        <a:srgbClr val="D0C8B8"/>
                      </a:solidFill>
                      <a:prstDash val="solid"/>
                      <a:round/>
                      <a:headEnd type="none" w="med" len="med"/>
                      <a:tailEnd type="none" w="med" len="med"/>
                    </a:lnR>
                    <a:lnT w="6350" cap="flat" cmpd="sng" algn="ctr">
                      <a:solidFill>
                        <a:srgbClr val="D0C8B8"/>
                      </a:solidFill>
                      <a:prstDash val="solid"/>
                      <a:round/>
                      <a:headEnd type="none" w="med" len="med"/>
                      <a:tailEnd type="none" w="med" len="med"/>
                    </a:lnT>
                    <a:lnB w="6350" cap="flat" cmpd="sng" algn="ctr">
                      <a:solidFill>
                        <a:srgbClr val="D0C8B8"/>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5" name="Text 10"/>
          <p:cNvSpPr/>
          <p:nvPr/>
        </p:nvSpPr>
        <p:spPr>
          <a:xfrm>
            <a:off x="4846320" y="2423160"/>
            <a:ext cx="3657600" cy="228600"/>
          </a:xfrm>
          <a:prstGeom prst="rect">
            <a:avLst/>
          </a:prstGeom>
          <a:noFill/>
          <a:ln/>
        </p:spPr>
        <p:txBody>
          <a:bodyPr wrap="square" lIns="0" tIns="0" rIns="0" bIns="0" rtlCol="0" anchor="ctr"/>
          <a:lstStyle/>
          <a:p>
            <a:pPr marL="0" indent="0">
              <a:buNone/>
            </a:pPr>
            <a:r>
              <a:rPr lang="en-US" sz="1000" i="1" dirty="0">
                <a:solidFill>
                  <a:srgbClr val="5A6B7F"/>
                </a:solidFill>
                <a:latin typeface="Calibri" pitchFamily="34" charset="0"/>
                <a:ea typeface="Calibri" pitchFamily="34" charset="-122"/>
                <a:cs typeface="Calibri" pitchFamily="34" charset="-120"/>
              </a:rPr>
              <a:t>App &amp; DB private subnets (1a, 1b) associated</a:t>
            </a:r>
            <a:endParaRPr lang="en-US" sz="1000" dirty="0"/>
          </a:p>
        </p:txBody>
      </p:sp>
      <p:pic>
        <p:nvPicPr>
          <p:cNvPr id="16" name="Image 1" descr="/home/claude/media/image13.jpg"/>
          <p:cNvPicPr>
            <a:picLocks noChangeAspect="1"/>
          </p:cNvPicPr>
          <p:nvPr/>
        </p:nvPicPr>
        <p:blipFill>
          <a:blip r:embed="rId4"/>
          <a:srcRect/>
          <a:stretch/>
        </p:blipFill>
        <p:spPr>
          <a:xfrm>
            <a:off x="4846320" y="2788920"/>
            <a:ext cx="3749040" cy="1920240"/>
          </a:xfrm>
          <a:prstGeom prst="rect">
            <a:avLst/>
          </a:prstGeom>
        </p:spPr>
      </p:pic>
      <p:sp>
        <p:nvSpPr>
          <p:cNvPr id="14" name="Text 11"/>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5A6B7F"/>
                </a:solidFill>
                <a:latin typeface="Calibri" pitchFamily="34" charset="0"/>
                <a:ea typeface="Calibri" pitchFamily="34" charset="-122"/>
                <a:cs typeface="Calibri" pitchFamily="34" charset="-120"/>
              </a:rPr>
              <a:t>8 / 25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DE8D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74C3C"/>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457200" y="274320"/>
            <a:ext cx="365760" cy="365760"/>
          </a:xfrm>
          <a:prstGeom prst="rect">
            <a:avLst/>
          </a:prstGeom>
        </p:spPr>
      </p:pic>
      <p:sp>
        <p:nvSpPr>
          <p:cNvPr id="4" name="Text 1"/>
          <p:cNvSpPr/>
          <p:nvPr/>
        </p:nvSpPr>
        <p:spPr>
          <a:xfrm>
            <a:off x="914400" y="228600"/>
            <a:ext cx="7132320" cy="502920"/>
          </a:xfrm>
          <a:prstGeom prst="rect">
            <a:avLst/>
          </a:prstGeom>
          <a:noFill/>
          <a:ln/>
        </p:spPr>
        <p:txBody>
          <a:bodyPr wrap="square" lIns="0" tIns="0" rIns="0" bIns="0" rtlCol="0" anchor="ctr"/>
          <a:lstStyle/>
          <a:p>
            <a:pPr marL="0" indent="0">
              <a:buNone/>
            </a:pPr>
            <a:r>
              <a:rPr lang="en-US" sz="2800" b="1" dirty="0">
                <a:solidFill>
                  <a:srgbClr val="1A2B4A"/>
                </a:solidFill>
                <a:latin typeface="Georgia" pitchFamily="34" charset="0"/>
                <a:ea typeface="Georgia" pitchFamily="34" charset="-122"/>
                <a:cs typeface="Georgia" pitchFamily="34" charset="-120"/>
              </a:rPr>
              <a:t>SECURITY IMPLEMENTATION</a:t>
            </a:r>
            <a:endParaRPr lang="en-US" sz="2800" dirty="0"/>
          </a:p>
        </p:txBody>
      </p:sp>
      <p:sp>
        <p:nvSpPr>
          <p:cNvPr id="5" name="Text 2"/>
          <p:cNvSpPr/>
          <p:nvPr/>
        </p:nvSpPr>
        <p:spPr>
          <a:xfrm>
            <a:off x="457200" y="749808"/>
            <a:ext cx="7315200" cy="274320"/>
          </a:xfrm>
          <a:prstGeom prst="rect">
            <a:avLst/>
          </a:prstGeom>
          <a:noFill/>
          <a:ln/>
        </p:spPr>
        <p:txBody>
          <a:bodyPr wrap="square" lIns="0" tIns="0" rIns="0" bIns="0" rtlCol="0" anchor="ctr"/>
          <a:lstStyle/>
          <a:p>
            <a:pPr marL="0" indent="0">
              <a:buNone/>
            </a:pPr>
            <a:r>
              <a:rPr lang="en-US" sz="1200" i="1" dirty="0">
                <a:solidFill>
                  <a:srgbClr val="1A6B5A"/>
                </a:solidFill>
                <a:latin typeface="Calibri" pitchFamily="34" charset="0"/>
                <a:ea typeface="Calibri" pitchFamily="34" charset="-122"/>
                <a:cs typeface="Calibri" pitchFamily="34" charset="-120"/>
              </a:rPr>
              <a:t>Multi-layered security architecture with controlled access between tiers</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65493999"/>
              </p:ext>
            </p:extLst>
          </p:nvPr>
        </p:nvGraphicFramePr>
        <p:xfrm>
          <a:off x="457200" y="1175206"/>
          <a:ext cx="8229600" cy="975360"/>
        </p:xfrm>
        <a:graphic>
          <a:graphicData uri="http://schemas.openxmlformats.org/drawingml/2006/table">
            <a:tbl>
              <a:tblPr/>
              <a:tblGrid>
                <a:gridCol w="146304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3108960">
                  <a:extLst>
                    <a:ext uri="{9D8B030D-6E8A-4147-A177-3AD203B41FA5}">
                      <a16:colId xmlns:a16="http://schemas.microsoft.com/office/drawing/2014/main" val="20004"/>
                    </a:ext>
                  </a:extLst>
                </a:gridCol>
              </a:tblGrid>
              <a:tr h="0">
                <a:tc>
                  <a:txBody>
                    <a:bodyPr/>
                    <a:lstStyle/>
                    <a:p>
                      <a:pPr marL="0" indent="0">
                        <a:buNone/>
                      </a:pPr>
                      <a:r>
                        <a:rPr lang="en-US" sz="1000" b="1" dirty="0">
                          <a:solidFill>
                            <a:srgbClr val="1A2B4A"/>
                          </a:solidFill>
                          <a:latin typeface="Calibri" pitchFamily="34" charset="0"/>
                          <a:ea typeface="Calibri" pitchFamily="34" charset="-122"/>
                          <a:cs typeface="Calibri" pitchFamily="34" charset="-120"/>
                        </a:rPr>
                        <a:t>Security Group</a:t>
                      </a:r>
                      <a:endParaRPr lang="en-US" sz="1000" dirty="0">
                        <a:latin typeface="Calibri" charset="0"/>
                        <a:ea typeface="Calibri" charset="0"/>
                        <a:cs typeface="Calibri" charset="0"/>
                      </a:endParaRPr>
                    </a:p>
                  </a:txBody>
                  <a:tcPr>
                    <a:lnL w="6350" cap="flat" cmpd="sng" algn="ctr">
                      <a:solidFill>
                        <a:srgbClr val="F8F4EC"/>
                      </a:solidFill>
                      <a:prstDash val="solid"/>
                      <a:round/>
                      <a:headEnd type="none" w="med" len="med"/>
                      <a:tailEnd type="none" w="med" len="med"/>
                    </a:lnL>
                    <a:lnR w="6350" cap="flat" cmpd="sng" algn="ctr">
                      <a:solidFill>
                        <a:srgbClr val="F8F4EC"/>
                      </a:solidFill>
                      <a:prstDash val="solid"/>
                      <a:round/>
                      <a:headEnd type="none" w="med" len="med"/>
                      <a:tailEnd type="none" w="med" len="med"/>
                    </a:lnR>
                    <a:lnT w="6350" cap="flat" cmpd="sng" algn="ctr">
                      <a:solidFill>
                        <a:srgbClr val="F8F4EC"/>
                      </a:solidFill>
                      <a:prstDash val="solid"/>
                      <a:round/>
                      <a:headEnd type="none" w="med" len="med"/>
                      <a:tailEnd type="none" w="med" len="med"/>
                    </a:lnT>
                    <a:lnB w="6350" cap="flat" cmpd="sng" algn="ctr">
                      <a:solidFill>
                        <a:srgbClr val="F8F4EC"/>
                      </a:solidFill>
                      <a:prstDash val="solid"/>
                      <a:round/>
                      <a:headEnd type="none" w="med" len="med"/>
                      <a:tailEnd type="none" w="med" len="med"/>
                    </a:lnB>
                    <a:solidFill>
                      <a:srgbClr val="E74C3C"/>
                    </a:solidFill>
                  </a:tcPr>
                </a:tc>
                <a:tc>
                  <a:txBody>
                    <a:bodyPr/>
                    <a:lstStyle/>
                    <a:p>
                      <a:pPr marL="0" indent="0">
                        <a:buNone/>
                      </a:pPr>
                      <a:r>
                        <a:rPr lang="en-US" sz="1000" b="1" dirty="0">
                          <a:solidFill>
                            <a:srgbClr val="1A2B4A"/>
                          </a:solidFill>
                          <a:latin typeface="Calibri" pitchFamily="34" charset="0"/>
                          <a:ea typeface="Calibri" pitchFamily="34" charset="-122"/>
                          <a:cs typeface="Calibri" pitchFamily="34" charset="-120"/>
                        </a:rPr>
                        <a:t>Protocol</a:t>
                      </a:r>
                      <a:endParaRPr lang="en-US" sz="1000" dirty="0">
                        <a:latin typeface="Calibri" charset="0"/>
                        <a:ea typeface="Calibri" charset="0"/>
                        <a:cs typeface="Calibri" charset="0"/>
                      </a:endParaRPr>
                    </a:p>
                  </a:txBody>
                  <a:tcPr>
                    <a:lnL w="6350" cap="flat" cmpd="sng" algn="ctr">
                      <a:solidFill>
                        <a:srgbClr val="F8F4EC"/>
                      </a:solidFill>
                      <a:prstDash val="solid"/>
                      <a:round/>
                      <a:headEnd type="none" w="med" len="med"/>
                      <a:tailEnd type="none" w="med" len="med"/>
                    </a:lnL>
                    <a:lnR w="6350" cap="flat" cmpd="sng" algn="ctr">
                      <a:solidFill>
                        <a:srgbClr val="F8F4EC"/>
                      </a:solidFill>
                      <a:prstDash val="solid"/>
                      <a:round/>
                      <a:headEnd type="none" w="med" len="med"/>
                      <a:tailEnd type="none" w="med" len="med"/>
                    </a:lnR>
                    <a:lnT w="6350" cap="flat" cmpd="sng" algn="ctr">
                      <a:solidFill>
                        <a:srgbClr val="F8F4EC"/>
                      </a:solidFill>
                      <a:prstDash val="solid"/>
                      <a:round/>
                      <a:headEnd type="none" w="med" len="med"/>
                      <a:tailEnd type="none" w="med" len="med"/>
                    </a:lnT>
                    <a:lnB w="6350" cap="flat" cmpd="sng" algn="ctr">
                      <a:solidFill>
                        <a:srgbClr val="F8F4EC"/>
                      </a:solidFill>
                      <a:prstDash val="solid"/>
                      <a:round/>
                      <a:headEnd type="none" w="med" len="med"/>
                      <a:tailEnd type="none" w="med" len="med"/>
                    </a:lnB>
                    <a:solidFill>
                      <a:srgbClr val="E74C3C"/>
                    </a:solidFill>
                  </a:tcPr>
                </a:tc>
                <a:tc>
                  <a:txBody>
                    <a:bodyPr/>
                    <a:lstStyle/>
                    <a:p>
                      <a:pPr marL="0" indent="0">
                        <a:buNone/>
                      </a:pPr>
                      <a:r>
                        <a:rPr lang="en-US" sz="1000" b="1" dirty="0">
                          <a:solidFill>
                            <a:srgbClr val="1A2B4A"/>
                          </a:solidFill>
                          <a:latin typeface="Calibri" pitchFamily="34" charset="0"/>
                          <a:ea typeface="Calibri" pitchFamily="34" charset="-122"/>
                          <a:cs typeface="Calibri" pitchFamily="34" charset="-120"/>
                        </a:rPr>
                        <a:t>Port</a:t>
                      </a:r>
                      <a:endParaRPr lang="en-US" sz="1000" dirty="0">
                        <a:latin typeface="Calibri" charset="0"/>
                        <a:ea typeface="Calibri" charset="0"/>
                        <a:cs typeface="Calibri" charset="0"/>
                      </a:endParaRPr>
                    </a:p>
                  </a:txBody>
                  <a:tcPr>
                    <a:lnL w="6350" cap="flat" cmpd="sng" algn="ctr">
                      <a:solidFill>
                        <a:srgbClr val="F8F4EC"/>
                      </a:solidFill>
                      <a:prstDash val="solid"/>
                      <a:round/>
                      <a:headEnd type="none" w="med" len="med"/>
                      <a:tailEnd type="none" w="med" len="med"/>
                    </a:lnL>
                    <a:lnR w="6350" cap="flat" cmpd="sng" algn="ctr">
                      <a:solidFill>
                        <a:srgbClr val="F8F4EC"/>
                      </a:solidFill>
                      <a:prstDash val="solid"/>
                      <a:round/>
                      <a:headEnd type="none" w="med" len="med"/>
                      <a:tailEnd type="none" w="med" len="med"/>
                    </a:lnR>
                    <a:lnT w="6350" cap="flat" cmpd="sng" algn="ctr">
                      <a:solidFill>
                        <a:srgbClr val="F8F4EC"/>
                      </a:solidFill>
                      <a:prstDash val="solid"/>
                      <a:round/>
                      <a:headEnd type="none" w="med" len="med"/>
                      <a:tailEnd type="none" w="med" len="med"/>
                    </a:lnT>
                    <a:lnB w="6350" cap="flat" cmpd="sng" algn="ctr">
                      <a:solidFill>
                        <a:srgbClr val="F8F4EC"/>
                      </a:solidFill>
                      <a:prstDash val="solid"/>
                      <a:round/>
                      <a:headEnd type="none" w="med" len="med"/>
                      <a:tailEnd type="none" w="med" len="med"/>
                    </a:lnB>
                    <a:solidFill>
                      <a:srgbClr val="E74C3C"/>
                    </a:solidFill>
                  </a:tcPr>
                </a:tc>
                <a:tc>
                  <a:txBody>
                    <a:bodyPr/>
                    <a:lstStyle/>
                    <a:p>
                      <a:pPr marL="0" indent="0">
                        <a:buNone/>
                      </a:pPr>
                      <a:r>
                        <a:rPr lang="en-US" sz="1000" b="1" dirty="0">
                          <a:solidFill>
                            <a:srgbClr val="1A2B4A"/>
                          </a:solidFill>
                          <a:latin typeface="Calibri" pitchFamily="34" charset="0"/>
                          <a:ea typeface="Calibri" pitchFamily="34" charset="-122"/>
                          <a:cs typeface="Calibri" pitchFamily="34" charset="-120"/>
                        </a:rPr>
                        <a:t>Source</a:t>
                      </a:r>
                      <a:endParaRPr lang="en-US" sz="1000" dirty="0">
                        <a:latin typeface="Calibri" charset="0"/>
                        <a:ea typeface="Calibri" charset="0"/>
                        <a:cs typeface="Calibri" charset="0"/>
                      </a:endParaRPr>
                    </a:p>
                  </a:txBody>
                  <a:tcPr>
                    <a:lnL w="6350" cap="flat" cmpd="sng" algn="ctr">
                      <a:solidFill>
                        <a:srgbClr val="F8F4EC"/>
                      </a:solidFill>
                      <a:prstDash val="solid"/>
                      <a:round/>
                      <a:headEnd type="none" w="med" len="med"/>
                      <a:tailEnd type="none" w="med" len="med"/>
                    </a:lnL>
                    <a:lnR w="6350" cap="flat" cmpd="sng" algn="ctr">
                      <a:solidFill>
                        <a:srgbClr val="F8F4EC"/>
                      </a:solidFill>
                      <a:prstDash val="solid"/>
                      <a:round/>
                      <a:headEnd type="none" w="med" len="med"/>
                      <a:tailEnd type="none" w="med" len="med"/>
                    </a:lnR>
                    <a:lnT w="6350" cap="flat" cmpd="sng" algn="ctr">
                      <a:solidFill>
                        <a:srgbClr val="F8F4EC"/>
                      </a:solidFill>
                      <a:prstDash val="solid"/>
                      <a:round/>
                      <a:headEnd type="none" w="med" len="med"/>
                      <a:tailEnd type="none" w="med" len="med"/>
                    </a:lnT>
                    <a:lnB w="6350" cap="flat" cmpd="sng" algn="ctr">
                      <a:solidFill>
                        <a:srgbClr val="F8F4EC"/>
                      </a:solidFill>
                      <a:prstDash val="solid"/>
                      <a:round/>
                      <a:headEnd type="none" w="med" len="med"/>
                      <a:tailEnd type="none" w="med" len="med"/>
                    </a:lnB>
                    <a:solidFill>
                      <a:srgbClr val="E74C3C"/>
                    </a:solidFill>
                  </a:tcPr>
                </a:tc>
                <a:tc>
                  <a:txBody>
                    <a:bodyPr/>
                    <a:lstStyle/>
                    <a:p>
                      <a:pPr marL="0" indent="0">
                        <a:buNone/>
                      </a:pPr>
                      <a:r>
                        <a:rPr lang="en-US" sz="1000" b="1" dirty="0">
                          <a:solidFill>
                            <a:srgbClr val="1A2B4A"/>
                          </a:solidFill>
                          <a:latin typeface="Calibri" pitchFamily="34" charset="0"/>
                          <a:ea typeface="Calibri" pitchFamily="34" charset="-122"/>
                          <a:cs typeface="Calibri" pitchFamily="34" charset="-120"/>
                        </a:rPr>
                        <a:t>Purpose</a:t>
                      </a:r>
                      <a:endParaRPr lang="en-US" sz="1000" dirty="0">
                        <a:latin typeface="Calibri" charset="0"/>
                        <a:ea typeface="Calibri" charset="0"/>
                        <a:cs typeface="Calibri" charset="0"/>
                      </a:endParaRPr>
                    </a:p>
                  </a:txBody>
                  <a:tcPr>
                    <a:lnL w="6350" cap="flat" cmpd="sng" algn="ctr">
                      <a:solidFill>
                        <a:srgbClr val="F8F4EC"/>
                      </a:solidFill>
                      <a:prstDash val="solid"/>
                      <a:round/>
                      <a:headEnd type="none" w="med" len="med"/>
                      <a:tailEnd type="none" w="med" len="med"/>
                    </a:lnL>
                    <a:lnR w="6350" cap="flat" cmpd="sng" algn="ctr">
                      <a:solidFill>
                        <a:srgbClr val="F8F4EC"/>
                      </a:solidFill>
                      <a:prstDash val="solid"/>
                      <a:round/>
                      <a:headEnd type="none" w="med" len="med"/>
                      <a:tailEnd type="none" w="med" len="med"/>
                    </a:lnR>
                    <a:lnT w="6350" cap="flat" cmpd="sng" algn="ctr">
                      <a:solidFill>
                        <a:srgbClr val="F8F4EC"/>
                      </a:solidFill>
                      <a:prstDash val="solid"/>
                      <a:round/>
                      <a:headEnd type="none" w="med" len="med"/>
                      <a:tailEnd type="none" w="med" len="med"/>
                    </a:lnT>
                    <a:lnB w="6350" cap="flat" cmpd="sng" algn="ctr">
                      <a:solidFill>
                        <a:srgbClr val="F8F4EC"/>
                      </a:solidFill>
                      <a:prstDash val="solid"/>
                      <a:round/>
                      <a:headEnd type="none" w="med" len="med"/>
                      <a:tailEnd type="none" w="med" len="med"/>
                    </a:lnB>
                    <a:solidFill>
                      <a:srgbClr val="E74C3C"/>
                    </a:solidFill>
                  </a:tcPr>
                </a:tc>
                <a:extLst>
                  <a:ext uri="{0D108BD9-81ED-4DB2-BD59-A6C34878D82A}">
                    <a16:rowId xmlns:a16="http://schemas.microsoft.com/office/drawing/2014/main" val="10000"/>
                  </a:ext>
                </a:extLst>
              </a:tr>
              <a:tr h="0">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ALB SG</a:t>
                      </a:r>
                      <a:endParaRPr lang="en-US" sz="1000" dirty="0">
                        <a:latin typeface="Calibri" charset="0"/>
                        <a:ea typeface="Calibri" charset="0"/>
                        <a:cs typeface="Calibri" charset="0"/>
                      </a:endParaRPr>
                    </a:p>
                  </a:txBody>
                  <a:tcPr>
                    <a:lnL w="6350" cap="flat" cmpd="sng" algn="ctr">
                      <a:solidFill>
                        <a:srgbClr val="F8F4EC"/>
                      </a:solidFill>
                      <a:prstDash val="solid"/>
                      <a:round/>
                      <a:headEnd type="none" w="med" len="med"/>
                      <a:tailEnd type="none" w="med" len="med"/>
                    </a:lnL>
                    <a:lnR w="6350" cap="flat" cmpd="sng" algn="ctr">
                      <a:solidFill>
                        <a:srgbClr val="F8F4EC"/>
                      </a:solidFill>
                      <a:prstDash val="solid"/>
                      <a:round/>
                      <a:headEnd type="none" w="med" len="med"/>
                      <a:tailEnd type="none" w="med" len="med"/>
                    </a:lnR>
                    <a:lnT w="6350" cap="flat" cmpd="sng" algn="ctr">
                      <a:solidFill>
                        <a:srgbClr val="F8F4EC"/>
                      </a:solidFill>
                      <a:prstDash val="solid"/>
                      <a:round/>
                      <a:headEnd type="none" w="med" len="med"/>
                      <a:tailEnd type="none" w="med" len="med"/>
                    </a:lnT>
                    <a:lnB w="6350" cap="flat" cmpd="sng" algn="ctr">
                      <a:solidFill>
                        <a:srgbClr val="F8F4EC"/>
                      </a:solidFill>
                      <a:prstDash val="solid"/>
                      <a:round/>
                      <a:headEnd type="none" w="med" len="med"/>
                      <a:tailEnd type="none" w="med" len="med"/>
                    </a:lnB>
                  </a:tcPr>
                </a:tc>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HTTP/HTTPS</a:t>
                      </a:r>
                      <a:endParaRPr lang="en-US" sz="1000" dirty="0">
                        <a:latin typeface="Calibri" charset="0"/>
                        <a:ea typeface="Calibri" charset="0"/>
                        <a:cs typeface="Calibri" charset="0"/>
                      </a:endParaRPr>
                    </a:p>
                  </a:txBody>
                  <a:tcPr>
                    <a:lnL w="6350" cap="flat" cmpd="sng" algn="ctr">
                      <a:solidFill>
                        <a:srgbClr val="F8F4EC"/>
                      </a:solidFill>
                      <a:prstDash val="solid"/>
                      <a:round/>
                      <a:headEnd type="none" w="med" len="med"/>
                      <a:tailEnd type="none" w="med" len="med"/>
                    </a:lnL>
                    <a:lnR w="6350" cap="flat" cmpd="sng" algn="ctr">
                      <a:solidFill>
                        <a:srgbClr val="F8F4EC"/>
                      </a:solidFill>
                      <a:prstDash val="solid"/>
                      <a:round/>
                      <a:headEnd type="none" w="med" len="med"/>
                      <a:tailEnd type="none" w="med" len="med"/>
                    </a:lnR>
                    <a:lnT w="6350" cap="flat" cmpd="sng" algn="ctr">
                      <a:solidFill>
                        <a:srgbClr val="F8F4EC"/>
                      </a:solidFill>
                      <a:prstDash val="solid"/>
                      <a:round/>
                      <a:headEnd type="none" w="med" len="med"/>
                      <a:tailEnd type="none" w="med" len="med"/>
                    </a:lnT>
                    <a:lnB w="6350" cap="flat" cmpd="sng" algn="ctr">
                      <a:solidFill>
                        <a:srgbClr val="F8F4EC"/>
                      </a:solidFill>
                      <a:prstDash val="solid"/>
                      <a:round/>
                      <a:headEnd type="none" w="med" len="med"/>
                      <a:tailEnd type="none" w="med" len="med"/>
                    </a:lnB>
                  </a:tcPr>
                </a:tc>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80/443</a:t>
                      </a:r>
                      <a:endParaRPr lang="en-US" sz="1000" dirty="0">
                        <a:latin typeface="Calibri" charset="0"/>
                        <a:ea typeface="Calibri" charset="0"/>
                        <a:cs typeface="Calibri" charset="0"/>
                      </a:endParaRPr>
                    </a:p>
                  </a:txBody>
                  <a:tcPr>
                    <a:lnL w="6350" cap="flat" cmpd="sng" algn="ctr">
                      <a:solidFill>
                        <a:srgbClr val="F8F4EC"/>
                      </a:solidFill>
                      <a:prstDash val="solid"/>
                      <a:round/>
                      <a:headEnd type="none" w="med" len="med"/>
                      <a:tailEnd type="none" w="med" len="med"/>
                    </a:lnL>
                    <a:lnR w="6350" cap="flat" cmpd="sng" algn="ctr">
                      <a:solidFill>
                        <a:srgbClr val="F8F4EC"/>
                      </a:solidFill>
                      <a:prstDash val="solid"/>
                      <a:round/>
                      <a:headEnd type="none" w="med" len="med"/>
                      <a:tailEnd type="none" w="med" len="med"/>
                    </a:lnR>
                    <a:lnT w="6350" cap="flat" cmpd="sng" algn="ctr">
                      <a:solidFill>
                        <a:srgbClr val="F8F4EC"/>
                      </a:solidFill>
                      <a:prstDash val="solid"/>
                      <a:round/>
                      <a:headEnd type="none" w="med" len="med"/>
                      <a:tailEnd type="none" w="med" len="med"/>
                    </a:lnT>
                    <a:lnB w="6350" cap="flat" cmpd="sng" algn="ctr">
                      <a:solidFill>
                        <a:srgbClr val="F8F4EC"/>
                      </a:solidFill>
                      <a:prstDash val="solid"/>
                      <a:round/>
                      <a:headEnd type="none" w="med" len="med"/>
                      <a:tailEnd type="none" w="med" len="med"/>
                    </a:lnB>
                  </a:tcPr>
                </a:tc>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0.0.0.0/0</a:t>
                      </a:r>
                      <a:endParaRPr lang="en-US" sz="1000" dirty="0">
                        <a:latin typeface="Calibri" charset="0"/>
                        <a:ea typeface="Calibri" charset="0"/>
                        <a:cs typeface="Calibri" charset="0"/>
                      </a:endParaRPr>
                    </a:p>
                  </a:txBody>
                  <a:tcPr>
                    <a:lnL w="6350" cap="flat" cmpd="sng" algn="ctr">
                      <a:solidFill>
                        <a:srgbClr val="F8F4EC"/>
                      </a:solidFill>
                      <a:prstDash val="solid"/>
                      <a:round/>
                      <a:headEnd type="none" w="med" len="med"/>
                      <a:tailEnd type="none" w="med" len="med"/>
                    </a:lnL>
                    <a:lnR w="6350" cap="flat" cmpd="sng" algn="ctr">
                      <a:solidFill>
                        <a:srgbClr val="F8F4EC"/>
                      </a:solidFill>
                      <a:prstDash val="solid"/>
                      <a:round/>
                      <a:headEnd type="none" w="med" len="med"/>
                      <a:tailEnd type="none" w="med" len="med"/>
                    </a:lnR>
                    <a:lnT w="6350" cap="flat" cmpd="sng" algn="ctr">
                      <a:solidFill>
                        <a:srgbClr val="F8F4EC"/>
                      </a:solidFill>
                      <a:prstDash val="solid"/>
                      <a:round/>
                      <a:headEnd type="none" w="med" len="med"/>
                      <a:tailEnd type="none" w="med" len="med"/>
                    </a:lnT>
                    <a:lnB w="6350" cap="flat" cmpd="sng" algn="ctr">
                      <a:solidFill>
                        <a:srgbClr val="F8F4EC"/>
                      </a:solidFill>
                      <a:prstDash val="solid"/>
                      <a:round/>
                      <a:headEnd type="none" w="med" len="med"/>
                      <a:tailEnd type="none" w="med" len="med"/>
                    </a:lnB>
                  </a:tcPr>
                </a:tc>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Public web access</a:t>
                      </a:r>
                      <a:endParaRPr lang="en-US" sz="1000" dirty="0">
                        <a:latin typeface="Calibri" charset="0"/>
                        <a:ea typeface="Calibri" charset="0"/>
                        <a:cs typeface="Calibri" charset="0"/>
                      </a:endParaRPr>
                    </a:p>
                  </a:txBody>
                  <a:tcPr>
                    <a:lnL w="6350" cap="flat" cmpd="sng" algn="ctr">
                      <a:solidFill>
                        <a:srgbClr val="F8F4EC"/>
                      </a:solidFill>
                      <a:prstDash val="solid"/>
                      <a:round/>
                      <a:headEnd type="none" w="med" len="med"/>
                      <a:tailEnd type="none" w="med" len="med"/>
                    </a:lnL>
                    <a:lnR w="6350" cap="flat" cmpd="sng" algn="ctr">
                      <a:solidFill>
                        <a:srgbClr val="F8F4EC"/>
                      </a:solidFill>
                      <a:prstDash val="solid"/>
                      <a:round/>
                      <a:headEnd type="none" w="med" len="med"/>
                      <a:tailEnd type="none" w="med" len="med"/>
                    </a:lnR>
                    <a:lnT w="6350" cap="flat" cmpd="sng" algn="ctr">
                      <a:solidFill>
                        <a:srgbClr val="F8F4EC"/>
                      </a:solidFill>
                      <a:prstDash val="solid"/>
                      <a:round/>
                      <a:headEnd type="none" w="med" len="med"/>
                      <a:tailEnd type="none" w="med" len="med"/>
                    </a:lnT>
                    <a:lnB w="6350" cap="flat" cmpd="sng" algn="ctr">
                      <a:solidFill>
                        <a:srgbClr val="F8F4EC"/>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App SG</a:t>
                      </a:r>
                      <a:endParaRPr lang="en-US" sz="1000" dirty="0">
                        <a:latin typeface="Calibri" charset="0"/>
                        <a:ea typeface="Calibri" charset="0"/>
                        <a:cs typeface="Calibri" charset="0"/>
                      </a:endParaRPr>
                    </a:p>
                  </a:txBody>
                  <a:tcPr>
                    <a:lnL w="6350" cap="flat" cmpd="sng" algn="ctr">
                      <a:solidFill>
                        <a:srgbClr val="F8F4EC"/>
                      </a:solidFill>
                      <a:prstDash val="solid"/>
                      <a:round/>
                      <a:headEnd type="none" w="med" len="med"/>
                      <a:tailEnd type="none" w="med" len="med"/>
                    </a:lnL>
                    <a:lnR w="6350" cap="flat" cmpd="sng" algn="ctr">
                      <a:solidFill>
                        <a:srgbClr val="F8F4EC"/>
                      </a:solidFill>
                      <a:prstDash val="solid"/>
                      <a:round/>
                      <a:headEnd type="none" w="med" len="med"/>
                      <a:tailEnd type="none" w="med" len="med"/>
                    </a:lnR>
                    <a:lnT w="6350" cap="flat" cmpd="sng" algn="ctr">
                      <a:solidFill>
                        <a:srgbClr val="F8F4EC"/>
                      </a:solidFill>
                      <a:prstDash val="solid"/>
                      <a:round/>
                      <a:headEnd type="none" w="med" len="med"/>
                      <a:tailEnd type="none" w="med" len="med"/>
                    </a:lnT>
                    <a:lnB w="6350" cap="flat" cmpd="sng" algn="ctr">
                      <a:solidFill>
                        <a:srgbClr val="F8F4EC"/>
                      </a:solidFill>
                      <a:prstDash val="solid"/>
                      <a:round/>
                      <a:headEnd type="none" w="med" len="med"/>
                      <a:tailEnd type="none" w="med" len="med"/>
                    </a:lnB>
                  </a:tcPr>
                </a:tc>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HTTP</a:t>
                      </a:r>
                      <a:endParaRPr lang="en-US" sz="1000" dirty="0">
                        <a:latin typeface="Calibri" charset="0"/>
                        <a:ea typeface="Calibri" charset="0"/>
                        <a:cs typeface="Calibri" charset="0"/>
                      </a:endParaRPr>
                    </a:p>
                  </a:txBody>
                  <a:tcPr>
                    <a:lnL w="6350" cap="flat" cmpd="sng" algn="ctr">
                      <a:solidFill>
                        <a:srgbClr val="F8F4EC"/>
                      </a:solidFill>
                      <a:prstDash val="solid"/>
                      <a:round/>
                      <a:headEnd type="none" w="med" len="med"/>
                      <a:tailEnd type="none" w="med" len="med"/>
                    </a:lnL>
                    <a:lnR w="6350" cap="flat" cmpd="sng" algn="ctr">
                      <a:solidFill>
                        <a:srgbClr val="F8F4EC"/>
                      </a:solidFill>
                      <a:prstDash val="solid"/>
                      <a:round/>
                      <a:headEnd type="none" w="med" len="med"/>
                      <a:tailEnd type="none" w="med" len="med"/>
                    </a:lnR>
                    <a:lnT w="6350" cap="flat" cmpd="sng" algn="ctr">
                      <a:solidFill>
                        <a:srgbClr val="F8F4EC"/>
                      </a:solidFill>
                      <a:prstDash val="solid"/>
                      <a:round/>
                      <a:headEnd type="none" w="med" len="med"/>
                      <a:tailEnd type="none" w="med" len="med"/>
                    </a:lnT>
                    <a:lnB w="6350" cap="flat" cmpd="sng" algn="ctr">
                      <a:solidFill>
                        <a:srgbClr val="F8F4EC"/>
                      </a:solidFill>
                      <a:prstDash val="solid"/>
                      <a:round/>
                      <a:headEnd type="none" w="med" len="med"/>
                      <a:tailEnd type="none" w="med" len="med"/>
                    </a:lnB>
                  </a:tcPr>
                </a:tc>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80</a:t>
                      </a:r>
                      <a:endParaRPr lang="en-US" sz="1000" dirty="0">
                        <a:latin typeface="Calibri" charset="0"/>
                        <a:ea typeface="Calibri" charset="0"/>
                        <a:cs typeface="Calibri" charset="0"/>
                      </a:endParaRPr>
                    </a:p>
                  </a:txBody>
                  <a:tcPr>
                    <a:lnL w="6350" cap="flat" cmpd="sng" algn="ctr">
                      <a:solidFill>
                        <a:srgbClr val="F8F4EC"/>
                      </a:solidFill>
                      <a:prstDash val="solid"/>
                      <a:round/>
                      <a:headEnd type="none" w="med" len="med"/>
                      <a:tailEnd type="none" w="med" len="med"/>
                    </a:lnL>
                    <a:lnR w="6350" cap="flat" cmpd="sng" algn="ctr">
                      <a:solidFill>
                        <a:srgbClr val="F8F4EC"/>
                      </a:solidFill>
                      <a:prstDash val="solid"/>
                      <a:round/>
                      <a:headEnd type="none" w="med" len="med"/>
                      <a:tailEnd type="none" w="med" len="med"/>
                    </a:lnR>
                    <a:lnT w="6350" cap="flat" cmpd="sng" algn="ctr">
                      <a:solidFill>
                        <a:srgbClr val="F8F4EC"/>
                      </a:solidFill>
                      <a:prstDash val="solid"/>
                      <a:round/>
                      <a:headEnd type="none" w="med" len="med"/>
                      <a:tailEnd type="none" w="med" len="med"/>
                    </a:lnT>
                    <a:lnB w="6350" cap="flat" cmpd="sng" algn="ctr">
                      <a:solidFill>
                        <a:srgbClr val="F8F4EC"/>
                      </a:solidFill>
                      <a:prstDash val="solid"/>
                      <a:round/>
                      <a:headEnd type="none" w="med" len="med"/>
                      <a:tailEnd type="none" w="med" len="med"/>
                    </a:lnB>
                  </a:tcPr>
                </a:tc>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ALB SG</a:t>
                      </a:r>
                      <a:endParaRPr lang="en-US" sz="1000" dirty="0">
                        <a:latin typeface="Calibri" charset="0"/>
                        <a:ea typeface="Calibri" charset="0"/>
                        <a:cs typeface="Calibri" charset="0"/>
                      </a:endParaRPr>
                    </a:p>
                  </a:txBody>
                  <a:tcPr>
                    <a:lnL w="6350" cap="flat" cmpd="sng" algn="ctr">
                      <a:solidFill>
                        <a:srgbClr val="F8F4EC"/>
                      </a:solidFill>
                      <a:prstDash val="solid"/>
                      <a:round/>
                      <a:headEnd type="none" w="med" len="med"/>
                      <a:tailEnd type="none" w="med" len="med"/>
                    </a:lnL>
                    <a:lnR w="6350" cap="flat" cmpd="sng" algn="ctr">
                      <a:solidFill>
                        <a:srgbClr val="F8F4EC"/>
                      </a:solidFill>
                      <a:prstDash val="solid"/>
                      <a:round/>
                      <a:headEnd type="none" w="med" len="med"/>
                      <a:tailEnd type="none" w="med" len="med"/>
                    </a:lnR>
                    <a:lnT w="6350" cap="flat" cmpd="sng" algn="ctr">
                      <a:solidFill>
                        <a:srgbClr val="F8F4EC"/>
                      </a:solidFill>
                      <a:prstDash val="solid"/>
                      <a:round/>
                      <a:headEnd type="none" w="med" len="med"/>
                      <a:tailEnd type="none" w="med" len="med"/>
                    </a:lnT>
                    <a:lnB w="6350" cap="flat" cmpd="sng" algn="ctr">
                      <a:solidFill>
                        <a:srgbClr val="F8F4EC"/>
                      </a:solidFill>
                      <a:prstDash val="solid"/>
                      <a:round/>
                      <a:headEnd type="none" w="med" len="med"/>
                      <a:tailEnd type="none" w="med" len="med"/>
                    </a:lnB>
                  </a:tcPr>
                </a:tc>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ALB-only EC2 access</a:t>
                      </a:r>
                      <a:endParaRPr lang="en-US" sz="1000" dirty="0">
                        <a:latin typeface="Calibri" charset="0"/>
                        <a:ea typeface="Calibri" charset="0"/>
                        <a:cs typeface="Calibri" charset="0"/>
                      </a:endParaRPr>
                    </a:p>
                  </a:txBody>
                  <a:tcPr>
                    <a:lnL w="6350" cap="flat" cmpd="sng" algn="ctr">
                      <a:solidFill>
                        <a:srgbClr val="F8F4EC"/>
                      </a:solidFill>
                      <a:prstDash val="solid"/>
                      <a:round/>
                      <a:headEnd type="none" w="med" len="med"/>
                      <a:tailEnd type="none" w="med" len="med"/>
                    </a:lnL>
                    <a:lnR w="6350" cap="flat" cmpd="sng" algn="ctr">
                      <a:solidFill>
                        <a:srgbClr val="F8F4EC"/>
                      </a:solidFill>
                      <a:prstDash val="solid"/>
                      <a:round/>
                      <a:headEnd type="none" w="med" len="med"/>
                      <a:tailEnd type="none" w="med" len="med"/>
                    </a:lnR>
                    <a:lnT w="6350" cap="flat" cmpd="sng" algn="ctr">
                      <a:solidFill>
                        <a:srgbClr val="F8F4EC"/>
                      </a:solidFill>
                      <a:prstDash val="solid"/>
                      <a:round/>
                      <a:headEnd type="none" w="med" len="med"/>
                      <a:tailEnd type="none" w="med" len="med"/>
                    </a:lnT>
                    <a:lnB w="6350" cap="flat" cmpd="sng" algn="ctr">
                      <a:solidFill>
                        <a:srgbClr val="F8F4EC"/>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DB SG</a:t>
                      </a:r>
                      <a:endParaRPr lang="en-US" sz="1000" dirty="0">
                        <a:latin typeface="Calibri" charset="0"/>
                        <a:ea typeface="Calibri" charset="0"/>
                        <a:cs typeface="Calibri" charset="0"/>
                      </a:endParaRPr>
                    </a:p>
                  </a:txBody>
                  <a:tcPr>
                    <a:lnL w="6350" cap="flat" cmpd="sng" algn="ctr">
                      <a:solidFill>
                        <a:srgbClr val="F8F4EC"/>
                      </a:solidFill>
                      <a:prstDash val="solid"/>
                      <a:round/>
                      <a:headEnd type="none" w="med" len="med"/>
                      <a:tailEnd type="none" w="med" len="med"/>
                    </a:lnL>
                    <a:lnR w="6350" cap="flat" cmpd="sng" algn="ctr">
                      <a:solidFill>
                        <a:srgbClr val="F8F4EC"/>
                      </a:solidFill>
                      <a:prstDash val="solid"/>
                      <a:round/>
                      <a:headEnd type="none" w="med" len="med"/>
                      <a:tailEnd type="none" w="med" len="med"/>
                    </a:lnR>
                    <a:lnT w="6350" cap="flat" cmpd="sng" algn="ctr">
                      <a:solidFill>
                        <a:srgbClr val="F8F4EC"/>
                      </a:solidFill>
                      <a:prstDash val="solid"/>
                      <a:round/>
                      <a:headEnd type="none" w="med" len="med"/>
                      <a:tailEnd type="none" w="med" len="med"/>
                    </a:lnT>
                    <a:lnB w="6350" cap="flat" cmpd="sng" algn="ctr">
                      <a:solidFill>
                        <a:srgbClr val="F8F4EC"/>
                      </a:solidFill>
                      <a:prstDash val="solid"/>
                      <a:round/>
                      <a:headEnd type="none" w="med" len="med"/>
                      <a:tailEnd type="none" w="med" len="med"/>
                    </a:lnB>
                  </a:tcPr>
                </a:tc>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MySQL</a:t>
                      </a:r>
                      <a:endParaRPr lang="en-US" sz="1000" dirty="0">
                        <a:latin typeface="Calibri" charset="0"/>
                        <a:ea typeface="Calibri" charset="0"/>
                        <a:cs typeface="Calibri" charset="0"/>
                      </a:endParaRPr>
                    </a:p>
                  </a:txBody>
                  <a:tcPr>
                    <a:lnL w="6350" cap="flat" cmpd="sng" algn="ctr">
                      <a:solidFill>
                        <a:srgbClr val="F8F4EC"/>
                      </a:solidFill>
                      <a:prstDash val="solid"/>
                      <a:round/>
                      <a:headEnd type="none" w="med" len="med"/>
                      <a:tailEnd type="none" w="med" len="med"/>
                    </a:lnL>
                    <a:lnR w="6350" cap="flat" cmpd="sng" algn="ctr">
                      <a:solidFill>
                        <a:srgbClr val="F8F4EC"/>
                      </a:solidFill>
                      <a:prstDash val="solid"/>
                      <a:round/>
                      <a:headEnd type="none" w="med" len="med"/>
                      <a:tailEnd type="none" w="med" len="med"/>
                    </a:lnR>
                    <a:lnT w="6350" cap="flat" cmpd="sng" algn="ctr">
                      <a:solidFill>
                        <a:srgbClr val="F8F4EC"/>
                      </a:solidFill>
                      <a:prstDash val="solid"/>
                      <a:round/>
                      <a:headEnd type="none" w="med" len="med"/>
                      <a:tailEnd type="none" w="med" len="med"/>
                    </a:lnT>
                    <a:lnB w="6350" cap="flat" cmpd="sng" algn="ctr">
                      <a:solidFill>
                        <a:srgbClr val="F8F4EC"/>
                      </a:solidFill>
                      <a:prstDash val="solid"/>
                      <a:round/>
                      <a:headEnd type="none" w="med" len="med"/>
                      <a:tailEnd type="none" w="med" len="med"/>
                    </a:lnB>
                  </a:tcPr>
                </a:tc>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3306</a:t>
                      </a:r>
                      <a:endParaRPr lang="en-US" sz="1000" dirty="0">
                        <a:latin typeface="Calibri" charset="0"/>
                        <a:ea typeface="Calibri" charset="0"/>
                        <a:cs typeface="Calibri" charset="0"/>
                      </a:endParaRPr>
                    </a:p>
                  </a:txBody>
                  <a:tcPr>
                    <a:lnL w="6350" cap="flat" cmpd="sng" algn="ctr">
                      <a:solidFill>
                        <a:srgbClr val="F8F4EC"/>
                      </a:solidFill>
                      <a:prstDash val="solid"/>
                      <a:round/>
                      <a:headEnd type="none" w="med" len="med"/>
                      <a:tailEnd type="none" w="med" len="med"/>
                    </a:lnL>
                    <a:lnR w="6350" cap="flat" cmpd="sng" algn="ctr">
                      <a:solidFill>
                        <a:srgbClr val="F8F4EC"/>
                      </a:solidFill>
                      <a:prstDash val="solid"/>
                      <a:round/>
                      <a:headEnd type="none" w="med" len="med"/>
                      <a:tailEnd type="none" w="med" len="med"/>
                    </a:lnR>
                    <a:lnT w="6350" cap="flat" cmpd="sng" algn="ctr">
                      <a:solidFill>
                        <a:srgbClr val="F8F4EC"/>
                      </a:solidFill>
                      <a:prstDash val="solid"/>
                      <a:round/>
                      <a:headEnd type="none" w="med" len="med"/>
                      <a:tailEnd type="none" w="med" len="med"/>
                    </a:lnT>
                    <a:lnB w="6350" cap="flat" cmpd="sng" algn="ctr">
                      <a:solidFill>
                        <a:srgbClr val="F8F4EC"/>
                      </a:solidFill>
                      <a:prstDash val="solid"/>
                      <a:round/>
                      <a:headEnd type="none" w="med" len="med"/>
                      <a:tailEnd type="none" w="med" len="med"/>
                    </a:lnB>
                  </a:tcPr>
                </a:tc>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App SG</a:t>
                      </a:r>
                      <a:endParaRPr lang="en-US" sz="1000" dirty="0">
                        <a:latin typeface="Calibri" charset="0"/>
                        <a:ea typeface="Calibri" charset="0"/>
                        <a:cs typeface="Calibri" charset="0"/>
                      </a:endParaRPr>
                    </a:p>
                  </a:txBody>
                  <a:tcPr>
                    <a:lnL w="6350" cap="flat" cmpd="sng" algn="ctr">
                      <a:solidFill>
                        <a:srgbClr val="F8F4EC"/>
                      </a:solidFill>
                      <a:prstDash val="solid"/>
                      <a:round/>
                      <a:headEnd type="none" w="med" len="med"/>
                      <a:tailEnd type="none" w="med" len="med"/>
                    </a:lnL>
                    <a:lnR w="6350" cap="flat" cmpd="sng" algn="ctr">
                      <a:solidFill>
                        <a:srgbClr val="F8F4EC"/>
                      </a:solidFill>
                      <a:prstDash val="solid"/>
                      <a:round/>
                      <a:headEnd type="none" w="med" len="med"/>
                      <a:tailEnd type="none" w="med" len="med"/>
                    </a:lnR>
                    <a:lnT w="6350" cap="flat" cmpd="sng" algn="ctr">
                      <a:solidFill>
                        <a:srgbClr val="F8F4EC"/>
                      </a:solidFill>
                      <a:prstDash val="solid"/>
                      <a:round/>
                      <a:headEnd type="none" w="med" len="med"/>
                      <a:tailEnd type="none" w="med" len="med"/>
                    </a:lnT>
                    <a:lnB w="6350" cap="flat" cmpd="sng" algn="ctr">
                      <a:solidFill>
                        <a:srgbClr val="F8F4EC"/>
                      </a:solidFill>
                      <a:prstDash val="solid"/>
                      <a:round/>
                      <a:headEnd type="none" w="med" len="med"/>
                      <a:tailEnd type="none" w="med" len="med"/>
                    </a:lnB>
                  </a:tcPr>
                </a:tc>
                <a:tc>
                  <a:txBody>
                    <a:bodyPr/>
                    <a:lstStyle/>
                    <a:p>
                      <a:pPr marL="0" indent="0">
                        <a:buNone/>
                      </a:pPr>
                      <a:r>
                        <a:rPr lang="en-US" sz="1000" dirty="0">
                          <a:solidFill>
                            <a:srgbClr val="1A2B4A"/>
                          </a:solidFill>
                          <a:latin typeface="Calibri" pitchFamily="34" charset="0"/>
                          <a:ea typeface="Calibri" pitchFamily="34" charset="-122"/>
                          <a:cs typeface="Calibri" pitchFamily="34" charset="-120"/>
                        </a:rPr>
                        <a:t>App-only DB access</a:t>
                      </a:r>
                      <a:endParaRPr lang="en-US" sz="1000" dirty="0">
                        <a:latin typeface="Calibri" charset="0"/>
                        <a:ea typeface="Calibri" charset="0"/>
                        <a:cs typeface="Calibri" charset="0"/>
                      </a:endParaRPr>
                    </a:p>
                  </a:txBody>
                  <a:tcPr>
                    <a:lnL w="6350" cap="flat" cmpd="sng" algn="ctr">
                      <a:solidFill>
                        <a:srgbClr val="F8F4EC"/>
                      </a:solidFill>
                      <a:prstDash val="solid"/>
                      <a:round/>
                      <a:headEnd type="none" w="med" len="med"/>
                      <a:tailEnd type="none" w="med" len="med"/>
                    </a:lnL>
                    <a:lnR w="6350" cap="flat" cmpd="sng" algn="ctr">
                      <a:solidFill>
                        <a:srgbClr val="F8F4EC"/>
                      </a:solidFill>
                      <a:prstDash val="solid"/>
                      <a:round/>
                      <a:headEnd type="none" w="med" len="med"/>
                      <a:tailEnd type="none" w="med" len="med"/>
                    </a:lnR>
                    <a:lnT w="6350" cap="flat" cmpd="sng" algn="ctr">
                      <a:solidFill>
                        <a:srgbClr val="F8F4EC"/>
                      </a:solidFill>
                      <a:prstDash val="solid"/>
                      <a:round/>
                      <a:headEnd type="none" w="med" len="med"/>
                      <a:tailEnd type="none" w="med" len="med"/>
                    </a:lnT>
                    <a:lnB w="6350" cap="flat" cmpd="sng" algn="ctr">
                      <a:solidFill>
                        <a:srgbClr val="F8F4E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Text 3"/>
          <p:cNvSpPr/>
          <p:nvPr/>
        </p:nvSpPr>
        <p:spPr>
          <a:xfrm>
            <a:off x="457200" y="2467647"/>
            <a:ext cx="4572000" cy="320040"/>
          </a:xfrm>
          <a:prstGeom prst="rect">
            <a:avLst/>
          </a:prstGeom>
          <a:noFill/>
          <a:ln/>
        </p:spPr>
        <p:txBody>
          <a:bodyPr wrap="square" lIns="0" tIns="0" rIns="0" bIns="0" rtlCol="0" anchor="ctr"/>
          <a:lstStyle/>
          <a:p>
            <a:pPr marL="0" indent="0">
              <a:buNone/>
            </a:pPr>
            <a:r>
              <a:rPr lang="en-US" sz="1200" b="1" dirty="0">
                <a:solidFill>
                  <a:srgbClr val="16A085"/>
                </a:solidFill>
                <a:latin typeface="Georgia" pitchFamily="34" charset="0"/>
                <a:ea typeface="Georgia" pitchFamily="34" charset="-122"/>
                <a:cs typeface="Georgia" pitchFamily="34" charset="-120"/>
              </a:rPr>
              <a:t>THREE-TIER SECURITY GROUP ARCHITECTURE</a:t>
            </a:r>
            <a:endParaRPr lang="en-US" sz="1200" dirty="0"/>
          </a:p>
        </p:txBody>
      </p:sp>
      <p:pic>
        <p:nvPicPr>
          <p:cNvPr id="8" name="Image 1" descr="/home/claude/media/image18.jpg"/>
          <p:cNvPicPr>
            <a:picLocks noChangeAspect="1"/>
          </p:cNvPicPr>
          <p:nvPr/>
        </p:nvPicPr>
        <p:blipFill>
          <a:blip r:embed="rId4"/>
          <a:srcRect b="49571"/>
          <a:stretch>
            <a:fillRect/>
          </a:stretch>
        </p:blipFill>
        <p:spPr>
          <a:xfrm>
            <a:off x="970877" y="2867586"/>
            <a:ext cx="7019365" cy="2021935"/>
          </a:xfrm>
          <a:prstGeom prst="rect">
            <a:avLst/>
          </a:prstGeom>
        </p:spPr>
      </p:pic>
      <p:sp>
        <p:nvSpPr>
          <p:cNvPr id="9" name="Text 4"/>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5A6B7F"/>
                </a:solidFill>
                <a:latin typeface="Calibri" pitchFamily="34" charset="0"/>
                <a:ea typeface="Calibri" pitchFamily="34" charset="-122"/>
                <a:cs typeface="Calibri" pitchFamily="34" charset="-120"/>
              </a:rPr>
              <a:t>9 / 25</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8"/>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74C3C"/>
          </a:solidFill>
          <a:ln/>
        </p:spPr>
        <p:txBody>
          <a:bodyPr/>
          <a:lstStyle/>
          <a:p>
            <a:endParaRPr lang="en-US"/>
          </a:p>
        </p:txBody>
      </p:sp>
      <p:sp>
        <p:nvSpPr>
          <p:cNvPr id="3" name="Text 1"/>
          <p:cNvSpPr/>
          <p:nvPr/>
        </p:nvSpPr>
        <p:spPr>
          <a:xfrm>
            <a:off x="457200" y="182880"/>
            <a:ext cx="6400800" cy="457200"/>
          </a:xfrm>
          <a:prstGeom prst="rect">
            <a:avLst/>
          </a:prstGeom>
          <a:noFill/>
          <a:ln/>
        </p:spPr>
        <p:txBody>
          <a:bodyPr wrap="square" lIns="0" tIns="0" rIns="0" bIns="0" rtlCol="0" anchor="ctr"/>
          <a:lstStyle/>
          <a:p>
            <a:pPr marL="0" indent="0">
              <a:buNone/>
            </a:pPr>
            <a:r>
              <a:rPr lang="en-US" sz="2200" b="1" dirty="0">
                <a:solidFill>
                  <a:srgbClr val="1A2B4A"/>
                </a:solidFill>
                <a:latin typeface="Georgia" pitchFamily="34" charset="0"/>
                <a:ea typeface="Georgia" pitchFamily="34" charset="-122"/>
                <a:cs typeface="Georgia" pitchFamily="34" charset="-120"/>
              </a:rPr>
              <a:t>SECURITY GROUPS: INBOUND RULES</a:t>
            </a:r>
            <a:endParaRPr lang="en-US" sz="2200" dirty="0"/>
          </a:p>
        </p:txBody>
      </p:sp>
      <p:sp>
        <p:nvSpPr>
          <p:cNvPr id="4" name="Shape 2"/>
          <p:cNvSpPr/>
          <p:nvPr/>
        </p:nvSpPr>
        <p:spPr>
          <a:xfrm>
            <a:off x="365760" y="822960"/>
            <a:ext cx="4114800" cy="40233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5" name="Shape 3"/>
          <p:cNvSpPr/>
          <p:nvPr/>
        </p:nvSpPr>
        <p:spPr>
          <a:xfrm>
            <a:off x="365760" y="822960"/>
            <a:ext cx="4114800" cy="54864"/>
          </a:xfrm>
          <a:prstGeom prst="rect">
            <a:avLst/>
          </a:prstGeom>
          <a:solidFill>
            <a:srgbClr val="E74C3C"/>
          </a:solidFill>
          <a:ln/>
        </p:spPr>
        <p:txBody>
          <a:bodyPr/>
          <a:lstStyle/>
          <a:p>
            <a:endParaRPr lang="en-US"/>
          </a:p>
        </p:txBody>
      </p:sp>
      <p:sp>
        <p:nvSpPr>
          <p:cNvPr id="6" name="Text 4"/>
          <p:cNvSpPr/>
          <p:nvPr/>
        </p:nvSpPr>
        <p:spPr>
          <a:xfrm>
            <a:off x="548640" y="1005840"/>
            <a:ext cx="3200400" cy="320040"/>
          </a:xfrm>
          <a:prstGeom prst="rect">
            <a:avLst/>
          </a:prstGeom>
          <a:noFill/>
          <a:ln/>
        </p:spPr>
        <p:txBody>
          <a:bodyPr wrap="square" lIns="0" tIns="0" rIns="0" bIns="0" rtlCol="0" anchor="ctr"/>
          <a:lstStyle/>
          <a:p>
            <a:pPr marL="0" indent="0">
              <a:buNone/>
            </a:pPr>
            <a:r>
              <a:rPr lang="en-US" sz="1500" b="1" dirty="0">
                <a:solidFill>
                  <a:srgbClr val="1A2B4A"/>
                </a:solidFill>
                <a:latin typeface="Georgia" pitchFamily="34" charset="0"/>
                <a:ea typeface="Georgia" pitchFamily="34" charset="-122"/>
                <a:cs typeface="Georgia" pitchFamily="34" charset="-120"/>
              </a:rPr>
              <a:t>ALB Security Group</a:t>
            </a:r>
            <a:endParaRPr lang="en-US" sz="1500" dirty="0"/>
          </a:p>
        </p:txBody>
      </p:sp>
      <p:sp>
        <p:nvSpPr>
          <p:cNvPr id="7" name="Text 5"/>
          <p:cNvSpPr/>
          <p:nvPr/>
        </p:nvSpPr>
        <p:spPr>
          <a:xfrm>
            <a:off x="548640" y="1371600"/>
            <a:ext cx="3749040" cy="320040"/>
          </a:xfrm>
          <a:prstGeom prst="rect">
            <a:avLst/>
          </a:prstGeom>
          <a:noFill/>
          <a:ln/>
        </p:spPr>
        <p:txBody>
          <a:bodyPr wrap="square" lIns="0" tIns="0" rIns="0" bIns="0" rtlCol="0" anchor="ctr"/>
          <a:lstStyle/>
          <a:p>
            <a:pPr marL="0" indent="0">
              <a:buNone/>
            </a:pPr>
            <a:r>
              <a:rPr lang="en-US" sz="1100" dirty="0">
                <a:solidFill>
                  <a:srgbClr val="16A085"/>
                </a:solidFill>
                <a:latin typeface="Calibri" pitchFamily="34" charset="0"/>
                <a:ea typeface="Calibri" pitchFamily="34" charset="-122"/>
                <a:cs typeface="Calibri" pitchFamily="34" charset="-120"/>
              </a:rPr>
              <a:t>HTTP/HTTPS traffic from 0.0.0.0/0 which allows public web access</a:t>
            </a:r>
            <a:endParaRPr lang="en-US" sz="1100" dirty="0"/>
          </a:p>
        </p:txBody>
      </p:sp>
      <p:pic>
        <p:nvPicPr>
          <p:cNvPr id="8" name="Image 0" descr="/home/claude/media/image15.jpg"/>
          <p:cNvPicPr>
            <a:picLocks noChangeAspect="1"/>
          </p:cNvPicPr>
          <p:nvPr/>
        </p:nvPicPr>
        <p:blipFill>
          <a:blip r:embed="rId3"/>
          <a:srcRect/>
          <a:stretch/>
        </p:blipFill>
        <p:spPr>
          <a:xfrm>
            <a:off x="548640" y="1783080"/>
            <a:ext cx="3749040" cy="2537460"/>
          </a:xfrm>
          <a:prstGeom prst="rect">
            <a:avLst/>
          </a:prstGeom>
        </p:spPr>
      </p:pic>
      <p:sp>
        <p:nvSpPr>
          <p:cNvPr id="9" name="Shape 6"/>
          <p:cNvSpPr/>
          <p:nvPr/>
        </p:nvSpPr>
        <p:spPr>
          <a:xfrm>
            <a:off x="4663440" y="822960"/>
            <a:ext cx="4114800" cy="40233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0" name="Shape 7"/>
          <p:cNvSpPr/>
          <p:nvPr/>
        </p:nvSpPr>
        <p:spPr>
          <a:xfrm>
            <a:off x="4663440" y="822960"/>
            <a:ext cx="4114800" cy="54864"/>
          </a:xfrm>
          <a:prstGeom prst="rect">
            <a:avLst/>
          </a:prstGeom>
          <a:solidFill>
            <a:srgbClr val="E74C3C"/>
          </a:solidFill>
          <a:ln/>
        </p:spPr>
        <p:txBody>
          <a:bodyPr/>
          <a:lstStyle/>
          <a:p>
            <a:endParaRPr lang="en-US"/>
          </a:p>
        </p:txBody>
      </p:sp>
      <p:sp>
        <p:nvSpPr>
          <p:cNvPr id="11" name="Text 8"/>
          <p:cNvSpPr/>
          <p:nvPr/>
        </p:nvSpPr>
        <p:spPr>
          <a:xfrm>
            <a:off x="4846320" y="1005840"/>
            <a:ext cx="3200400" cy="320040"/>
          </a:xfrm>
          <a:prstGeom prst="rect">
            <a:avLst/>
          </a:prstGeom>
          <a:noFill/>
          <a:ln/>
        </p:spPr>
        <p:txBody>
          <a:bodyPr wrap="square" lIns="0" tIns="0" rIns="0" bIns="0" rtlCol="0" anchor="ctr"/>
          <a:lstStyle/>
          <a:p>
            <a:pPr marL="0" indent="0">
              <a:buNone/>
            </a:pPr>
            <a:r>
              <a:rPr lang="en-US" sz="1500" b="1" dirty="0">
                <a:solidFill>
                  <a:srgbClr val="1A2B4A"/>
                </a:solidFill>
                <a:latin typeface="Georgia" pitchFamily="34" charset="0"/>
                <a:ea typeface="Georgia" pitchFamily="34" charset="-122"/>
                <a:cs typeface="Georgia" pitchFamily="34" charset="-120"/>
              </a:rPr>
              <a:t>Application Security Group</a:t>
            </a:r>
            <a:endParaRPr lang="en-US" sz="1500" dirty="0"/>
          </a:p>
        </p:txBody>
      </p:sp>
      <p:sp>
        <p:nvSpPr>
          <p:cNvPr id="12" name="Text 9"/>
          <p:cNvSpPr/>
          <p:nvPr/>
        </p:nvSpPr>
        <p:spPr>
          <a:xfrm>
            <a:off x="4846320" y="1371600"/>
            <a:ext cx="3749040" cy="320040"/>
          </a:xfrm>
          <a:prstGeom prst="rect">
            <a:avLst/>
          </a:prstGeom>
          <a:noFill/>
          <a:ln/>
        </p:spPr>
        <p:txBody>
          <a:bodyPr wrap="square" lIns="0" tIns="0" rIns="0" bIns="0" rtlCol="0" anchor="ctr"/>
          <a:lstStyle/>
          <a:p>
            <a:pPr marL="0" indent="0">
              <a:buNone/>
            </a:pPr>
            <a:r>
              <a:rPr lang="en-US" sz="1100" dirty="0">
                <a:solidFill>
                  <a:srgbClr val="16A085"/>
                </a:solidFill>
                <a:latin typeface="Calibri" pitchFamily="34" charset="0"/>
                <a:ea typeface="Calibri" pitchFamily="34" charset="-122"/>
                <a:cs typeface="Calibri" pitchFamily="34" charset="-120"/>
              </a:rPr>
              <a:t>HTTP only from ALB SG (EC2 instances not directly accessible)</a:t>
            </a:r>
            <a:endParaRPr lang="en-US" sz="1100" dirty="0"/>
          </a:p>
        </p:txBody>
      </p:sp>
      <p:pic>
        <p:nvPicPr>
          <p:cNvPr id="13" name="Image 1" descr="/home/claude/media/image16.jpg"/>
          <p:cNvPicPr>
            <a:picLocks noChangeAspect="1"/>
          </p:cNvPicPr>
          <p:nvPr/>
        </p:nvPicPr>
        <p:blipFill>
          <a:blip r:embed="rId4"/>
          <a:srcRect/>
          <a:stretch/>
        </p:blipFill>
        <p:spPr>
          <a:xfrm>
            <a:off x="4846320" y="1783080"/>
            <a:ext cx="3749040" cy="2657706"/>
          </a:xfrm>
          <a:prstGeom prst="rect">
            <a:avLst/>
          </a:prstGeom>
        </p:spPr>
      </p:pic>
      <p:sp>
        <p:nvSpPr>
          <p:cNvPr id="14" name="Text 10"/>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5A6B7F"/>
                </a:solidFill>
                <a:latin typeface="Calibri" pitchFamily="34" charset="0"/>
                <a:ea typeface="Calibri" pitchFamily="34" charset="-122"/>
                <a:cs typeface="Calibri" pitchFamily="34" charset="-120"/>
              </a:rPr>
              <a:t>10 / 25</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8"/>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74C3C"/>
          </a:solidFill>
          <a:ln/>
        </p:spPr>
        <p:txBody>
          <a:bodyPr/>
          <a:lstStyle/>
          <a:p>
            <a:endParaRPr lang="en-US"/>
          </a:p>
        </p:txBody>
      </p:sp>
      <p:sp>
        <p:nvSpPr>
          <p:cNvPr id="3" name="Text 1"/>
          <p:cNvSpPr/>
          <p:nvPr/>
        </p:nvSpPr>
        <p:spPr>
          <a:xfrm>
            <a:off x="457200" y="182880"/>
            <a:ext cx="7315200" cy="457200"/>
          </a:xfrm>
          <a:prstGeom prst="rect">
            <a:avLst/>
          </a:prstGeom>
          <a:noFill/>
          <a:ln/>
        </p:spPr>
        <p:txBody>
          <a:bodyPr wrap="square" lIns="0" tIns="0" rIns="0" bIns="0" rtlCol="0" anchor="ctr"/>
          <a:lstStyle/>
          <a:p>
            <a:pPr marL="0" indent="0">
              <a:buNone/>
            </a:pPr>
            <a:r>
              <a:rPr lang="en-US" sz="2200" b="1" dirty="0">
                <a:solidFill>
                  <a:srgbClr val="1A2B4A"/>
                </a:solidFill>
                <a:latin typeface="Georgia" pitchFamily="34" charset="0"/>
                <a:ea typeface="Georgia" pitchFamily="34" charset="-122"/>
                <a:cs typeface="Georgia" pitchFamily="34" charset="-120"/>
              </a:rPr>
              <a:t>DATABASE SG &amp; THREE-TIER ARCHITECTURE</a:t>
            </a:r>
            <a:endParaRPr lang="en-US" sz="2200" dirty="0"/>
          </a:p>
        </p:txBody>
      </p:sp>
      <p:sp>
        <p:nvSpPr>
          <p:cNvPr id="4" name="Shape 2"/>
          <p:cNvSpPr/>
          <p:nvPr/>
        </p:nvSpPr>
        <p:spPr>
          <a:xfrm>
            <a:off x="365760" y="822960"/>
            <a:ext cx="4114800" cy="40233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5" name="Shape 3"/>
          <p:cNvSpPr/>
          <p:nvPr/>
        </p:nvSpPr>
        <p:spPr>
          <a:xfrm>
            <a:off x="365760" y="822960"/>
            <a:ext cx="4114800" cy="54864"/>
          </a:xfrm>
          <a:prstGeom prst="rect">
            <a:avLst/>
          </a:prstGeom>
          <a:solidFill>
            <a:srgbClr val="E74C3C"/>
          </a:solidFill>
          <a:ln/>
        </p:spPr>
        <p:txBody>
          <a:bodyPr/>
          <a:lstStyle/>
          <a:p>
            <a:endParaRPr lang="en-US"/>
          </a:p>
        </p:txBody>
      </p:sp>
      <p:sp>
        <p:nvSpPr>
          <p:cNvPr id="6" name="Text 4"/>
          <p:cNvSpPr/>
          <p:nvPr/>
        </p:nvSpPr>
        <p:spPr>
          <a:xfrm>
            <a:off x="548640" y="1005840"/>
            <a:ext cx="3200400" cy="320040"/>
          </a:xfrm>
          <a:prstGeom prst="rect">
            <a:avLst/>
          </a:prstGeom>
          <a:noFill/>
          <a:ln/>
        </p:spPr>
        <p:txBody>
          <a:bodyPr wrap="square" lIns="0" tIns="0" rIns="0" bIns="0" rtlCol="0" anchor="ctr"/>
          <a:lstStyle/>
          <a:p>
            <a:pPr marL="0" indent="0">
              <a:buNone/>
            </a:pPr>
            <a:r>
              <a:rPr lang="en-US" sz="1500" b="1" dirty="0">
                <a:solidFill>
                  <a:srgbClr val="1A2B4A"/>
                </a:solidFill>
                <a:latin typeface="Georgia" pitchFamily="34" charset="0"/>
                <a:ea typeface="Georgia" pitchFamily="34" charset="-122"/>
                <a:cs typeface="Georgia" pitchFamily="34" charset="-120"/>
              </a:rPr>
              <a:t>Database Security Group</a:t>
            </a:r>
            <a:endParaRPr lang="en-US" sz="1500" dirty="0"/>
          </a:p>
        </p:txBody>
      </p:sp>
      <p:sp>
        <p:nvSpPr>
          <p:cNvPr id="7" name="Text 5"/>
          <p:cNvSpPr/>
          <p:nvPr/>
        </p:nvSpPr>
        <p:spPr>
          <a:xfrm>
            <a:off x="548640" y="1371600"/>
            <a:ext cx="3749040" cy="320040"/>
          </a:xfrm>
          <a:prstGeom prst="rect">
            <a:avLst/>
          </a:prstGeom>
          <a:noFill/>
          <a:ln/>
        </p:spPr>
        <p:txBody>
          <a:bodyPr wrap="square" lIns="0" tIns="0" rIns="0" bIns="0" rtlCol="0" anchor="ctr"/>
          <a:lstStyle/>
          <a:p>
            <a:pPr marL="0" indent="0">
              <a:buNone/>
            </a:pPr>
            <a:r>
              <a:rPr lang="en-US" sz="1100" dirty="0">
                <a:solidFill>
                  <a:srgbClr val="16A085"/>
                </a:solidFill>
                <a:latin typeface="Calibri" pitchFamily="34" charset="0"/>
                <a:ea typeface="Calibri" pitchFamily="34" charset="-122"/>
                <a:cs typeface="Calibri" pitchFamily="34" charset="-120"/>
              </a:rPr>
              <a:t>MySQL (port 3306) only from App SG (no external database access)</a:t>
            </a:r>
            <a:endParaRPr lang="en-US" sz="1100" dirty="0"/>
          </a:p>
        </p:txBody>
      </p:sp>
      <p:pic>
        <p:nvPicPr>
          <p:cNvPr id="8" name="Image 0" descr="/home/claude/media/image17.png"/>
          <p:cNvPicPr>
            <a:picLocks noChangeAspect="1"/>
          </p:cNvPicPr>
          <p:nvPr/>
        </p:nvPicPr>
        <p:blipFill>
          <a:blip r:embed="rId3"/>
          <a:srcRect/>
          <a:stretch/>
        </p:blipFill>
        <p:spPr>
          <a:xfrm>
            <a:off x="493776" y="1874520"/>
            <a:ext cx="3749040" cy="917885"/>
          </a:xfrm>
          <a:prstGeom prst="rect">
            <a:avLst/>
          </a:prstGeom>
        </p:spPr>
      </p:pic>
      <p:sp>
        <p:nvSpPr>
          <p:cNvPr id="9" name="Shape 6"/>
          <p:cNvSpPr/>
          <p:nvPr/>
        </p:nvSpPr>
        <p:spPr>
          <a:xfrm>
            <a:off x="4663440" y="822960"/>
            <a:ext cx="4114800" cy="40233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0" name="Shape 7"/>
          <p:cNvSpPr/>
          <p:nvPr/>
        </p:nvSpPr>
        <p:spPr>
          <a:xfrm>
            <a:off x="4663440" y="822960"/>
            <a:ext cx="4114800" cy="54864"/>
          </a:xfrm>
          <a:prstGeom prst="rect">
            <a:avLst/>
          </a:prstGeom>
          <a:solidFill>
            <a:srgbClr val="16A085"/>
          </a:solidFill>
          <a:ln/>
        </p:spPr>
        <p:txBody>
          <a:bodyPr/>
          <a:lstStyle/>
          <a:p>
            <a:endParaRPr lang="en-US"/>
          </a:p>
        </p:txBody>
      </p:sp>
      <p:sp>
        <p:nvSpPr>
          <p:cNvPr id="11" name="Text 8"/>
          <p:cNvSpPr/>
          <p:nvPr/>
        </p:nvSpPr>
        <p:spPr>
          <a:xfrm>
            <a:off x="4846320" y="1005840"/>
            <a:ext cx="3200400" cy="320040"/>
          </a:xfrm>
          <a:prstGeom prst="rect">
            <a:avLst/>
          </a:prstGeom>
          <a:noFill/>
          <a:ln/>
        </p:spPr>
        <p:txBody>
          <a:bodyPr wrap="square" lIns="0" tIns="0" rIns="0" bIns="0" rtlCol="0" anchor="ctr"/>
          <a:lstStyle/>
          <a:p>
            <a:pPr marL="0" indent="0">
              <a:buNone/>
            </a:pPr>
            <a:r>
              <a:rPr lang="en-US" sz="1500" b="1" dirty="0">
                <a:solidFill>
                  <a:srgbClr val="1A2B4A"/>
                </a:solidFill>
                <a:latin typeface="Georgia" pitchFamily="34" charset="0"/>
                <a:ea typeface="Georgia" pitchFamily="34" charset="-122"/>
                <a:cs typeface="Georgia" pitchFamily="34" charset="-120"/>
              </a:rPr>
              <a:t>Three-Tier SG Architecture</a:t>
            </a:r>
            <a:endParaRPr lang="en-US" sz="1500" dirty="0"/>
          </a:p>
        </p:txBody>
      </p:sp>
      <p:sp>
        <p:nvSpPr>
          <p:cNvPr id="12" name="Text 9"/>
          <p:cNvSpPr/>
          <p:nvPr/>
        </p:nvSpPr>
        <p:spPr>
          <a:xfrm>
            <a:off x="4846320" y="1371600"/>
            <a:ext cx="3749040" cy="320040"/>
          </a:xfrm>
          <a:prstGeom prst="rect">
            <a:avLst/>
          </a:prstGeom>
          <a:noFill/>
          <a:ln/>
        </p:spPr>
        <p:txBody>
          <a:bodyPr wrap="square" lIns="0" tIns="0" rIns="0" bIns="0" rtlCol="0" anchor="ctr"/>
          <a:lstStyle/>
          <a:p>
            <a:pPr marL="0" indent="0">
              <a:buNone/>
            </a:pPr>
            <a:r>
              <a:rPr lang="en-US" sz="1100" dirty="0">
                <a:solidFill>
                  <a:srgbClr val="16A085"/>
                </a:solidFill>
                <a:latin typeface="Calibri" pitchFamily="34" charset="0"/>
                <a:ea typeface="Calibri" pitchFamily="34" charset="-122"/>
                <a:cs typeface="Calibri" pitchFamily="34" charset="-120"/>
              </a:rPr>
              <a:t>All three security groups working together to control traffic flow</a:t>
            </a:r>
            <a:endParaRPr lang="en-US" sz="1100" dirty="0"/>
          </a:p>
        </p:txBody>
      </p:sp>
      <p:pic>
        <p:nvPicPr>
          <p:cNvPr id="13" name="Image 1" descr="/home/claude/media/image18.jpg"/>
          <p:cNvPicPr>
            <a:picLocks noChangeAspect="1"/>
          </p:cNvPicPr>
          <p:nvPr/>
        </p:nvPicPr>
        <p:blipFill>
          <a:blip r:embed="rId4"/>
          <a:srcRect/>
          <a:stretch/>
        </p:blipFill>
        <p:spPr>
          <a:xfrm>
            <a:off x="4846320" y="1783080"/>
            <a:ext cx="3749040" cy="2411679"/>
          </a:xfrm>
          <a:prstGeom prst="rect">
            <a:avLst/>
          </a:prstGeom>
        </p:spPr>
      </p:pic>
      <p:sp>
        <p:nvSpPr>
          <p:cNvPr id="14" name="Text 10"/>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5A6B7F"/>
                </a:solidFill>
                <a:latin typeface="Calibri" pitchFamily="34" charset="0"/>
                <a:ea typeface="Calibri" pitchFamily="34" charset="-122"/>
                <a:cs typeface="Calibri" pitchFamily="34" charset="-120"/>
              </a:rPr>
              <a:t>11 / 25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DE8D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6A085"/>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457200" y="274320"/>
            <a:ext cx="365760" cy="365760"/>
          </a:xfrm>
          <a:prstGeom prst="rect">
            <a:avLst/>
          </a:prstGeom>
        </p:spPr>
      </p:pic>
      <p:sp>
        <p:nvSpPr>
          <p:cNvPr id="4" name="Text 1"/>
          <p:cNvSpPr/>
          <p:nvPr/>
        </p:nvSpPr>
        <p:spPr>
          <a:xfrm>
            <a:off x="914400" y="228600"/>
            <a:ext cx="5486400" cy="502920"/>
          </a:xfrm>
          <a:prstGeom prst="rect">
            <a:avLst/>
          </a:prstGeom>
          <a:noFill/>
          <a:ln/>
        </p:spPr>
        <p:txBody>
          <a:bodyPr wrap="square" lIns="0" tIns="0" rIns="0" bIns="0" rtlCol="0" anchor="ctr"/>
          <a:lstStyle/>
          <a:p>
            <a:pPr marL="0" indent="0">
              <a:buNone/>
            </a:pPr>
            <a:r>
              <a:rPr lang="en-US" sz="2800" b="1" dirty="0">
                <a:solidFill>
                  <a:srgbClr val="1A2B4A"/>
                </a:solidFill>
                <a:latin typeface="Georgia" pitchFamily="34" charset="0"/>
                <a:ea typeface="Georgia" pitchFamily="34" charset="-122"/>
                <a:cs typeface="Georgia" pitchFamily="34" charset="-120"/>
              </a:rPr>
              <a:t>DATABASE &amp; STORAGE</a:t>
            </a:r>
            <a:endParaRPr lang="en-US" sz="2800" dirty="0"/>
          </a:p>
        </p:txBody>
      </p:sp>
      <p:sp>
        <p:nvSpPr>
          <p:cNvPr id="5" name="Shape 2"/>
          <p:cNvSpPr/>
          <p:nvPr/>
        </p:nvSpPr>
        <p:spPr>
          <a:xfrm>
            <a:off x="457200" y="1005840"/>
            <a:ext cx="4023360" cy="1828800"/>
          </a:xfrm>
          <a:prstGeom prst="rect">
            <a:avLst/>
          </a:prstGeom>
          <a:solidFill>
            <a:srgbClr val="F8F4EC"/>
          </a:solidFill>
          <a:ln/>
          <a:effectLst>
            <a:outerShdw blurRad="76200" dist="25400" dir="8100000" algn="bl" rotWithShape="0">
              <a:srgbClr val="000000">
                <a:alpha val="12000"/>
              </a:srgbClr>
            </a:outerShdw>
          </a:effectLst>
        </p:spPr>
        <p:txBody>
          <a:bodyPr/>
          <a:lstStyle/>
          <a:p>
            <a:endParaRPr lang="en-US"/>
          </a:p>
        </p:txBody>
      </p:sp>
      <p:sp>
        <p:nvSpPr>
          <p:cNvPr id="6" name="Text 3"/>
          <p:cNvSpPr/>
          <p:nvPr/>
        </p:nvSpPr>
        <p:spPr>
          <a:xfrm>
            <a:off x="640080" y="1097280"/>
            <a:ext cx="2743200" cy="320040"/>
          </a:xfrm>
          <a:prstGeom prst="rect">
            <a:avLst/>
          </a:prstGeom>
          <a:noFill/>
          <a:ln/>
        </p:spPr>
        <p:txBody>
          <a:bodyPr wrap="square" lIns="0" tIns="0" rIns="0" bIns="0" rtlCol="0" anchor="ctr"/>
          <a:lstStyle/>
          <a:p>
            <a:pPr marL="0" indent="0">
              <a:buNone/>
            </a:pPr>
            <a:r>
              <a:rPr lang="en-US" sz="1400" b="1" dirty="0">
                <a:solidFill>
                  <a:srgbClr val="16A085"/>
                </a:solidFill>
                <a:latin typeface="Georgia" pitchFamily="34" charset="0"/>
                <a:ea typeface="Georgia" pitchFamily="34" charset="-122"/>
                <a:cs typeface="Georgia" pitchFamily="34" charset="-120"/>
              </a:rPr>
              <a:t>S3 Bucket</a:t>
            </a:r>
            <a:endParaRPr lang="en-US" sz="1400" dirty="0"/>
          </a:p>
        </p:txBody>
      </p:sp>
      <p:sp>
        <p:nvSpPr>
          <p:cNvPr id="7" name="Text 4"/>
          <p:cNvSpPr/>
          <p:nvPr/>
        </p:nvSpPr>
        <p:spPr>
          <a:xfrm>
            <a:off x="640080" y="1417320"/>
            <a:ext cx="3657600" cy="411480"/>
          </a:xfrm>
          <a:prstGeom prst="rect">
            <a:avLst/>
          </a:prstGeom>
          <a:noFill/>
          <a:ln/>
        </p:spPr>
        <p:txBody>
          <a:bodyPr wrap="square" lIns="0" tIns="0" rIns="0" bIns="0" rtlCol="0" anchor="ctr"/>
          <a:lstStyle/>
          <a:p>
            <a:pPr marL="0" indent="0">
              <a:buNone/>
            </a:pPr>
            <a:r>
              <a:rPr lang="en-US" sz="1000" dirty="0">
                <a:solidFill>
                  <a:srgbClr val="1A6B5A"/>
                </a:solidFill>
                <a:latin typeface="Calibri" pitchFamily="34" charset="0"/>
                <a:ea typeface="Calibri" pitchFamily="34" charset="-122"/>
                <a:cs typeface="Calibri" pitchFamily="34" charset="-120"/>
              </a:rPr>
              <a:t>Application source code uploaded to S3 for automated deployment to EC2 instances.</a:t>
            </a:r>
            <a:endParaRPr lang="en-US" sz="1000" dirty="0"/>
          </a:p>
        </p:txBody>
      </p:sp>
      <p:pic>
        <p:nvPicPr>
          <p:cNvPr id="8" name="Image 1" descr="/home/claude/media/image19.png"/>
          <p:cNvPicPr>
            <a:picLocks noChangeAspect="1"/>
          </p:cNvPicPr>
          <p:nvPr/>
        </p:nvPicPr>
        <p:blipFill>
          <a:blip r:embed="rId4"/>
          <a:srcRect t="55556" r="10325"/>
          <a:stretch>
            <a:fillRect/>
          </a:stretch>
        </p:blipFill>
        <p:spPr>
          <a:xfrm>
            <a:off x="548640" y="1828800"/>
            <a:ext cx="3931920" cy="868680"/>
          </a:xfrm>
          <a:prstGeom prst="rect">
            <a:avLst/>
          </a:prstGeom>
        </p:spPr>
      </p:pic>
      <p:sp>
        <p:nvSpPr>
          <p:cNvPr id="9" name="Shape 5"/>
          <p:cNvSpPr/>
          <p:nvPr/>
        </p:nvSpPr>
        <p:spPr>
          <a:xfrm>
            <a:off x="4754880" y="1005840"/>
            <a:ext cx="4023360" cy="1828800"/>
          </a:xfrm>
          <a:prstGeom prst="rect">
            <a:avLst/>
          </a:prstGeom>
          <a:solidFill>
            <a:srgbClr val="F8F4EC"/>
          </a:solidFill>
          <a:ln/>
          <a:effectLst>
            <a:outerShdw blurRad="76200" dist="25400" dir="8100000" algn="bl" rotWithShape="0">
              <a:srgbClr val="000000">
                <a:alpha val="12000"/>
              </a:srgbClr>
            </a:outerShdw>
          </a:effectLst>
        </p:spPr>
        <p:txBody>
          <a:bodyPr/>
          <a:lstStyle/>
          <a:p>
            <a:endParaRPr lang="en-US"/>
          </a:p>
        </p:txBody>
      </p:sp>
      <p:sp>
        <p:nvSpPr>
          <p:cNvPr id="10" name="Text 6"/>
          <p:cNvSpPr/>
          <p:nvPr/>
        </p:nvSpPr>
        <p:spPr>
          <a:xfrm>
            <a:off x="4937760" y="1097280"/>
            <a:ext cx="2743200" cy="320040"/>
          </a:xfrm>
          <a:prstGeom prst="rect">
            <a:avLst/>
          </a:prstGeom>
          <a:noFill/>
          <a:ln/>
        </p:spPr>
        <p:txBody>
          <a:bodyPr wrap="square" lIns="0" tIns="0" rIns="0" bIns="0" rtlCol="0" anchor="ctr"/>
          <a:lstStyle/>
          <a:p>
            <a:pPr marL="0" indent="0">
              <a:buNone/>
            </a:pPr>
            <a:r>
              <a:rPr lang="en-US" sz="1400" b="1" dirty="0">
                <a:solidFill>
                  <a:srgbClr val="16A085"/>
                </a:solidFill>
                <a:latin typeface="Georgia" pitchFamily="34" charset="0"/>
                <a:ea typeface="Georgia" pitchFamily="34" charset="-122"/>
                <a:cs typeface="Georgia" pitchFamily="34" charset="-120"/>
              </a:rPr>
              <a:t>Parameter Store</a:t>
            </a:r>
            <a:endParaRPr lang="en-US" sz="1400" dirty="0"/>
          </a:p>
        </p:txBody>
      </p:sp>
      <p:sp>
        <p:nvSpPr>
          <p:cNvPr id="11" name="Text 7"/>
          <p:cNvSpPr/>
          <p:nvPr/>
        </p:nvSpPr>
        <p:spPr>
          <a:xfrm>
            <a:off x="4937760" y="1417320"/>
            <a:ext cx="3657600" cy="411480"/>
          </a:xfrm>
          <a:prstGeom prst="rect">
            <a:avLst/>
          </a:prstGeom>
          <a:noFill/>
          <a:ln/>
        </p:spPr>
        <p:txBody>
          <a:bodyPr wrap="square" lIns="0" tIns="0" rIns="0" bIns="0" rtlCol="0" anchor="ctr"/>
          <a:lstStyle/>
          <a:p>
            <a:pPr marL="0" indent="0">
              <a:buNone/>
            </a:pPr>
            <a:r>
              <a:rPr lang="en-US" sz="1000" dirty="0">
                <a:solidFill>
                  <a:srgbClr val="1A6B5A"/>
                </a:solidFill>
                <a:latin typeface="Calibri" pitchFamily="34" charset="0"/>
                <a:ea typeface="Calibri" pitchFamily="34" charset="-122"/>
                <a:cs typeface="Calibri" pitchFamily="34" charset="-120"/>
              </a:rPr>
              <a:t>Sensitive data (DB credentials, secret keys) stored as encrypted </a:t>
            </a:r>
            <a:r>
              <a:rPr lang="en-US" sz="1000" dirty="0" err="1">
                <a:solidFill>
                  <a:srgbClr val="1A6B5A"/>
                </a:solidFill>
                <a:latin typeface="Calibri" pitchFamily="34" charset="0"/>
                <a:ea typeface="Calibri" pitchFamily="34" charset="-122"/>
                <a:cs typeface="Calibri" pitchFamily="34" charset="-120"/>
              </a:rPr>
              <a:t>SecureString</a:t>
            </a:r>
            <a:r>
              <a:rPr lang="en-US" sz="1000" dirty="0">
                <a:solidFill>
                  <a:srgbClr val="1A6B5A"/>
                </a:solidFill>
                <a:latin typeface="Calibri" pitchFamily="34" charset="0"/>
                <a:ea typeface="Calibri" pitchFamily="34" charset="-122"/>
                <a:cs typeface="Calibri" pitchFamily="34" charset="-120"/>
              </a:rPr>
              <a:t> (no hardcoding).</a:t>
            </a:r>
            <a:endParaRPr lang="en-US" sz="1000" dirty="0"/>
          </a:p>
        </p:txBody>
      </p:sp>
      <p:sp>
        <p:nvSpPr>
          <p:cNvPr id="13" name="Text 8"/>
          <p:cNvSpPr/>
          <p:nvPr/>
        </p:nvSpPr>
        <p:spPr>
          <a:xfrm>
            <a:off x="457200" y="2842431"/>
            <a:ext cx="3657600" cy="320040"/>
          </a:xfrm>
          <a:prstGeom prst="rect">
            <a:avLst/>
          </a:prstGeom>
          <a:noFill/>
          <a:ln/>
        </p:spPr>
        <p:txBody>
          <a:bodyPr wrap="square" lIns="0" tIns="0" rIns="0" bIns="0" rtlCol="0" anchor="ctr"/>
          <a:lstStyle/>
          <a:p>
            <a:pPr marL="0" indent="0">
              <a:buNone/>
            </a:pPr>
            <a:r>
              <a:rPr lang="en-US" sz="1200" b="1" dirty="0">
                <a:solidFill>
                  <a:srgbClr val="16A085"/>
                </a:solidFill>
                <a:latin typeface="Georgia" pitchFamily="34" charset="0"/>
                <a:ea typeface="Georgia" pitchFamily="34" charset="-122"/>
                <a:cs typeface="Georgia" pitchFamily="34" charset="-120"/>
              </a:rPr>
              <a:t>DB SUBNET GROUP</a:t>
            </a:r>
            <a:endParaRPr lang="en-US" sz="1200" dirty="0"/>
          </a:p>
        </p:txBody>
      </p:sp>
      <p:sp>
        <p:nvSpPr>
          <p:cNvPr id="14" name="Text 9"/>
          <p:cNvSpPr/>
          <p:nvPr/>
        </p:nvSpPr>
        <p:spPr>
          <a:xfrm>
            <a:off x="450476" y="3010377"/>
            <a:ext cx="4212964" cy="365760"/>
          </a:xfrm>
          <a:prstGeom prst="rect">
            <a:avLst/>
          </a:prstGeom>
          <a:noFill/>
          <a:ln/>
        </p:spPr>
        <p:txBody>
          <a:bodyPr wrap="square" lIns="0" tIns="0" rIns="0" bIns="0" rtlCol="0" anchor="ctr"/>
          <a:lstStyle/>
          <a:p>
            <a:pPr marL="0" indent="0">
              <a:buNone/>
            </a:pPr>
            <a:r>
              <a:rPr lang="en-US" sz="1000" dirty="0">
                <a:solidFill>
                  <a:srgbClr val="1A6B5A"/>
                </a:solidFill>
                <a:latin typeface="Calibri" pitchFamily="34" charset="0"/>
                <a:ea typeface="Calibri" pitchFamily="34" charset="-122"/>
                <a:cs typeface="Calibri" pitchFamily="34" charset="-120"/>
              </a:rPr>
              <a:t>Dedicated private subnets across us-east-1a &amp; us-east-1b for database isolation.</a:t>
            </a:r>
            <a:endParaRPr lang="en-US" sz="1000" dirty="0"/>
          </a:p>
        </p:txBody>
      </p:sp>
      <p:pic>
        <p:nvPicPr>
          <p:cNvPr id="15" name="Image 3" descr="/home/claude/media/image22.jpg"/>
          <p:cNvPicPr>
            <a:picLocks noChangeAspect="1"/>
          </p:cNvPicPr>
          <p:nvPr/>
        </p:nvPicPr>
        <p:blipFill>
          <a:blip r:embed="rId5"/>
          <a:srcRect l="8187" t="16667" r="40921"/>
          <a:stretch>
            <a:fillRect/>
          </a:stretch>
        </p:blipFill>
        <p:spPr>
          <a:xfrm>
            <a:off x="731520" y="3286360"/>
            <a:ext cx="3474720" cy="1825473"/>
          </a:xfrm>
          <a:prstGeom prst="rect">
            <a:avLst/>
          </a:prstGeom>
        </p:spPr>
      </p:pic>
      <p:sp>
        <p:nvSpPr>
          <p:cNvPr id="16" name="Text 10"/>
          <p:cNvSpPr/>
          <p:nvPr/>
        </p:nvSpPr>
        <p:spPr>
          <a:xfrm>
            <a:off x="4754880" y="3017520"/>
            <a:ext cx="3657600" cy="320040"/>
          </a:xfrm>
          <a:prstGeom prst="rect">
            <a:avLst/>
          </a:prstGeom>
          <a:noFill/>
          <a:ln/>
        </p:spPr>
        <p:txBody>
          <a:bodyPr wrap="square" lIns="0" tIns="0" rIns="0" bIns="0" rtlCol="0" anchor="ctr"/>
          <a:lstStyle/>
          <a:p>
            <a:pPr marL="0" indent="0">
              <a:buNone/>
            </a:pPr>
            <a:r>
              <a:rPr lang="en-US" sz="1200" b="1" dirty="0">
                <a:solidFill>
                  <a:srgbClr val="16A085"/>
                </a:solidFill>
                <a:latin typeface="Georgia" pitchFamily="34" charset="0"/>
                <a:ea typeface="Georgia" pitchFamily="34" charset="-122"/>
                <a:cs typeface="Georgia" pitchFamily="34" charset="-120"/>
              </a:rPr>
              <a:t>RDS INSTANCE</a:t>
            </a:r>
            <a:endParaRPr lang="en-US" sz="1200" dirty="0"/>
          </a:p>
        </p:txBody>
      </p:sp>
      <p:pic>
        <p:nvPicPr>
          <p:cNvPr id="17" name="Image 4" descr="preencoded.png"/>
          <p:cNvPicPr>
            <a:picLocks noChangeAspect="1"/>
          </p:cNvPicPr>
          <p:nvPr/>
        </p:nvPicPr>
        <p:blipFill>
          <a:blip r:embed="rId6"/>
          <a:stretch>
            <a:fillRect/>
          </a:stretch>
        </p:blipFill>
        <p:spPr>
          <a:xfrm>
            <a:off x="4754880" y="3383280"/>
            <a:ext cx="182880" cy="182880"/>
          </a:xfrm>
          <a:prstGeom prst="rect">
            <a:avLst/>
          </a:prstGeom>
        </p:spPr>
      </p:pic>
      <p:sp>
        <p:nvSpPr>
          <p:cNvPr id="18" name="Text 11"/>
          <p:cNvSpPr/>
          <p:nvPr/>
        </p:nvSpPr>
        <p:spPr>
          <a:xfrm>
            <a:off x="5029200" y="3337560"/>
            <a:ext cx="3200400" cy="274320"/>
          </a:xfrm>
          <a:prstGeom prst="rect">
            <a:avLst/>
          </a:prstGeom>
          <a:noFill/>
          <a:ln/>
        </p:spPr>
        <p:txBody>
          <a:bodyPr wrap="square" lIns="0" tIns="0" rIns="0" bIns="0" rtlCol="0" anchor="ctr"/>
          <a:lstStyle/>
          <a:p>
            <a:pPr marL="0" indent="0">
              <a:buNone/>
            </a:pPr>
            <a:r>
              <a:rPr lang="en-US" sz="1000" dirty="0">
                <a:solidFill>
                  <a:srgbClr val="1A6B5A"/>
                </a:solidFill>
                <a:latin typeface="Calibri" pitchFamily="34" charset="0"/>
                <a:ea typeface="Calibri" pitchFamily="34" charset="-122"/>
                <a:cs typeface="Calibri" pitchFamily="34" charset="-120"/>
              </a:rPr>
              <a:t>Engine: MySQL</a:t>
            </a:r>
            <a:endParaRPr lang="en-US" sz="1000" dirty="0"/>
          </a:p>
        </p:txBody>
      </p:sp>
      <p:pic>
        <p:nvPicPr>
          <p:cNvPr id="19" name="Image 5" descr="preencoded.png"/>
          <p:cNvPicPr>
            <a:picLocks noChangeAspect="1"/>
          </p:cNvPicPr>
          <p:nvPr/>
        </p:nvPicPr>
        <p:blipFill>
          <a:blip r:embed="rId6"/>
          <a:stretch>
            <a:fillRect/>
          </a:stretch>
        </p:blipFill>
        <p:spPr>
          <a:xfrm>
            <a:off x="4754880" y="3657600"/>
            <a:ext cx="182880" cy="182880"/>
          </a:xfrm>
          <a:prstGeom prst="rect">
            <a:avLst/>
          </a:prstGeom>
        </p:spPr>
      </p:pic>
      <p:sp>
        <p:nvSpPr>
          <p:cNvPr id="20" name="Text 12"/>
          <p:cNvSpPr/>
          <p:nvPr/>
        </p:nvSpPr>
        <p:spPr>
          <a:xfrm>
            <a:off x="5029200" y="3611880"/>
            <a:ext cx="3200400" cy="274320"/>
          </a:xfrm>
          <a:prstGeom prst="rect">
            <a:avLst/>
          </a:prstGeom>
          <a:noFill/>
          <a:ln/>
        </p:spPr>
        <p:txBody>
          <a:bodyPr wrap="square" lIns="0" tIns="0" rIns="0" bIns="0" rtlCol="0" anchor="ctr"/>
          <a:lstStyle/>
          <a:p>
            <a:pPr marL="0" indent="0">
              <a:buNone/>
            </a:pPr>
            <a:r>
              <a:rPr lang="en-US" sz="1000" dirty="0">
                <a:solidFill>
                  <a:srgbClr val="1A6B5A"/>
                </a:solidFill>
                <a:latin typeface="Calibri" pitchFamily="34" charset="0"/>
                <a:ea typeface="Calibri" pitchFamily="34" charset="-122"/>
                <a:cs typeface="Calibri" pitchFamily="34" charset="-120"/>
              </a:rPr>
              <a:t>Instance: db.t3.micro</a:t>
            </a:r>
            <a:endParaRPr lang="en-US" sz="1000" dirty="0"/>
          </a:p>
        </p:txBody>
      </p:sp>
      <p:pic>
        <p:nvPicPr>
          <p:cNvPr id="21" name="Image 6" descr="preencoded.png"/>
          <p:cNvPicPr>
            <a:picLocks noChangeAspect="1"/>
          </p:cNvPicPr>
          <p:nvPr/>
        </p:nvPicPr>
        <p:blipFill>
          <a:blip r:embed="rId6"/>
          <a:stretch>
            <a:fillRect/>
          </a:stretch>
        </p:blipFill>
        <p:spPr>
          <a:xfrm>
            <a:off x="4754880" y="3931920"/>
            <a:ext cx="182880" cy="182880"/>
          </a:xfrm>
          <a:prstGeom prst="rect">
            <a:avLst/>
          </a:prstGeom>
        </p:spPr>
      </p:pic>
      <p:sp>
        <p:nvSpPr>
          <p:cNvPr id="22" name="Text 13"/>
          <p:cNvSpPr/>
          <p:nvPr/>
        </p:nvSpPr>
        <p:spPr>
          <a:xfrm>
            <a:off x="5029200" y="3886200"/>
            <a:ext cx="3200400" cy="274320"/>
          </a:xfrm>
          <a:prstGeom prst="rect">
            <a:avLst/>
          </a:prstGeom>
          <a:noFill/>
          <a:ln/>
        </p:spPr>
        <p:txBody>
          <a:bodyPr wrap="square" lIns="0" tIns="0" rIns="0" bIns="0" rtlCol="0" anchor="ctr"/>
          <a:lstStyle/>
          <a:p>
            <a:pPr marL="0" indent="0">
              <a:buNone/>
            </a:pPr>
            <a:r>
              <a:rPr lang="en-US" sz="1000" dirty="0">
                <a:solidFill>
                  <a:srgbClr val="1A6B5A"/>
                </a:solidFill>
                <a:latin typeface="Calibri" pitchFamily="34" charset="0"/>
                <a:ea typeface="Calibri" pitchFamily="34" charset="-122"/>
                <a:cs typeface="Calibri" pitchFamily="34" charset="-120"/>
              </a:rPr>
              <a:t>Multi-AZ deployment</a:t>
            </a:r>
            <a:endParaRPr lang="en-US" sz="1000" dirty="0"/>
          </a:p>
        </p:txBody>
      </p:sp>
      <p:pic>
        <p:nvPicPr>
          <p:cNvPr id="23" name="Image 7" descr="preencoded.png"/>
          <p:cNvPicPr>
            <a:picLocks noChangeAspect="1"/>
          </p:cNvPicPr>
          <p:nvPr/>
        </p:nvPicPr>
        <p:blipFill>
          <a:blip r:embed="rId6"/>
          <a:stretch>
            <a:fillRect/>
          </a:stretch>
        </p:blipFill>
        <p:spPr>
          <a:xfrm>
            <a:off x="4754880" y="4206240"/>
            <a:ext cx="182880" cy="182880"/>
          </a:xfrm>
          <a:prstGeom prst="rect">
            <a:avLst/>
          </a:prstGeom>
        </p:spPr>
      </p:pic>
      <p:sp>
        <p:nvSpPr>
          <p:cNvPr id="24" name="Text 14"/>
          <p:cNvSpPr/>
          <p:nvPr/>
        </p:nvSpPr>
        <p:spPr>
          <a:xfrm>
            <a:off x="5029200" y="4160520"/>
            <a:ext cx="3200400" cy="274320"/>
          </a:xfrm>
          <a:prstGeom prst="rect">
            <a:avLst/>
          </a:prstGeom>
          <a:noFill/>
          <a:ln/>
        </p:spPr>
        <p:txBody>
          <a:bodyPr wrap="square" lIns="0" tIns="0" rIns="0" bIns="0" rtlCol="0" anchor="ctr"/>
          <a:lstStyle/>
          <a:p>
            <a:pPr marL="0" indent="0">
              <a:buNone/>
            </a:pPr>
            <a:r>
              <a:rPr lang="en-US" sz="1000" dirty="0">
                <a:solidFill>
                  <a:srgbClr val="1A6B5A"/>
                </a:solidFill>
                <a:latin typeface="Calibri" pitchFamily="34" charset="0"/>
                <a:ea typeface="Calibri" pitchFamily="34" charset="-122"/>
                <a:cs typeface="Calibri" pitchFamily="34" charset="-120"/>
              </a:rPr>
              <a:t>Private subnets only</a:t>
            </a:r>
            <a:endParaRPr lang="en-US" sz="1000" dirty="0"/>
          </a:p>
        </p:txBody>
      </p:sp>
      <p:pic>
        <p:nvPicPr>
          <p:cNvPr id="25" name="Image 8" descr="preencoded.png"/>
          <p:cNvPicPr>
            <a:picLocks noChangeAspect="1"/>
          </p:cNvPicPr>
          <p:nvPr/>
        </p:nvPicPr>
        <p:blipFill>
          <a:blip r:embed="rId6"/>
          <a:stretch>
            <a:fillRect/>
          </a:stretch>
        </p:blipFill>
        <p:spPr>
          <a:xfrm>
            <a:off x="4754880" y="4480560"/>
            <a:ext cx="182880" cy="182880"/>
          </a:xfrm>
          <a:prstGeom prst="rect">
            <a:avLst/>
          </a:prstGeom>
        </p:spPr>
      </p:pic>
      <p:sp>
        <p:nvSpPr>
          <p:cNvPr id="26" name="Text 15"/>
          <p:cNvSpPr/>
          <p:nvPr/>
        </p:nvSpPr>
        <p:spPr>
          <a:xfrm>
            <a:off x="5029200" y="4434840"/>
            <a:ext cx="3200400" cy="274320"/>
          </a:xfrm>
          <a:prstGeom prst="rect">
            <a:avLst/>
          </a:prstGeom>
          <a:noFill/>
          <a:ln/>
        </p:spPr>
        <p:txBody>
          <a:bodyPr wrap="square" lIns="0" tIns="0" rIns="0" bIns="0" rtlCol="0" anchor="ctr"/>
          <a:lstStyle/>
          <a:p>
            <a:pPr marL="0" indent="0">
              <a:buNone/>
            </a:pPr>
            <a:r>
              <a:rPr lang="en-US" sz="1000" dirty="0">
                <a:solidFill>
                  <a:srgbClr val="1A6B5A"/>
                </a:solidFill>
                <a:latin typeface="Calibri" pitchFamily="34" charset="0"/>
                <a:ea typeface="Calibri" pitchFamily="34" charset="-122"/>
                <a:cs typeface="Calibri" pitchFamily="34" charset="-120"/>
              </a:rPr>
              <a:t>Public access: Disabled</a:t>
            </a:r>
            <a:endParaRPr lang="en-US" sz="1000" dirty="0"/>
          </a:p>
        </p:txBody>
      </p:sp>
      <p:pic>
        <p:nvPicPr>
          <p:cNvPr id="27" name="Image 9" descr="preencoded.png"/>
          <p:cNvPicPr>
            <a:picLocks noChangeAspect="1"/>
          </p:cNvPicPr>
          <p:nvPr/>
        </p:nvPicPr>
        <p:blipFill>
          <a:blip r:embed="rId6"/>
          <a:stretch>
            <a:fillRect/>
          </a:stretch>
        </p:blipFill>
        <p:spPr>
          <a:xfrm>
            <a:off x="4754880" y="4754880"/>
            <a:ext cx="182880" cy="182880"/>
          </a:xfrm>
          <a:prstGeom prst="rect">
            <a:avLst/>
          </a:prstGeom>
        </p:spPr>
      </p:pic>
      <p:sp>
        <p:nvSpPr>
          <p:cNvPr id="28" name="Text 16"/>
          <p:cNvSpPr/>
          <p:nvPr/>
        </p:nvSpPr>
        <p:spPr>
          <a:xfrm>
            <a:off x="5029200" y="4709160"/>
            <a:ext cx="3200400" cy="274320"/>
          </a:xfrm>
          <a:prstGeom prst="rect">
            <a:avLst/>
          </a:prstGeom>
          <a:noFill/>
          <a:ln/>
        </p:spPr>
        <p:txBody>
          <a:bodyPr wrap="square" lIns="0" tIns="0" rIns="0" bIns="0" rtlCol="0" anchor="ctr"/>
          <a:lstStyle/>
          <a:p>
            <a:pPr marL="0" indent="0">
              <a:buNone/>
            </a:pPr>
            <a:r>
              <a:rPr lang="en-US" sz="1000" dirty="0">
                <a:solidFill>
                  <a:srgbClr val="1A6B5A"/>
                </a:solidFill>
                <a:latin typeface="Calibri" pitchFamily="34" charset="0"/>
                <a:ea typeface="Calibri" pitchFamily="34" charset="-122"/>
                <a:cs typeface="Calibri" pitchFamily="34" charset="-120"/>
              </a:rPr>
              <a:t>Credentials: SSM Parameter Store</a:t>
            </a:r>
            <a:endParaRPr lang="en-US" sz="1000" dirty="0"/>
          </a:p>
        </p:txBody>
      </p:sp>
      <p:sp>
        <p:nvSpPr>
          <p:cNvPr id="29" name="Text 17"/>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5A6B7F"/>
                </a:solidFill>
                <a:latin typeface="Calibri" pitchFamily="34" charset="0"/>
                <a:ea typeface="Calibri" pitchFamily="34" charset="-122"/>
                <a:cs typeface="Calibri" pitchFamily="34" charset="-120"/>
              </a:rPr>
              <a:t>12 / 25</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8"/>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16A085"/>
          </a:solidFill>
          <a:ln/>
        </p:spPr>
        <p:txBody>
          <a:bodyPr/>
          <a:lstStyle/>
          <a:p>
            <a:endParaRPr lang="en-US"/>
          </a:p>
        </p:txBody>
      </p:sp>
      <p:sp>
        <p:nvSpPr>
          <p:cNvPr id="3" name="Text 1"/>
          <p:cNvSpPr/>
          <p:nvPr/>
        </p:nvSpPr>
        <p:spPr>
          <a:xfrm>
            <a:off x="457200" y="228600"/>
            <a:ext cx="7315200" cy="502920"/>
          </a:xfrm>
          <a:prstGeom prst="rect">
            <a:avLst/>
          </a:prstGeom>
          <a:noFill/>
          <a:ln/>
        </p:spPr>
        <p:txBody>
          <a:bodyPr wrap="square" lIns="0" tIns="0" rIns="0" bIns="0" rtlCol="0" anchor="ctr"/>
          <a:lstStyle/>
          <a:p>
            <a:pPr marL="0" indent="0">
              <a:buNone/>
            </a:pPr>
            <a:r>
              <a:rPr lang="en-US" sz="2200" b="1" dirty="0">
                <a:solidFill>
                  <a:srgbClr val="1A2B4A"/>
                </a:solidFill>
                <a:latin typeface="Georgia" pitchFamily="34" charset="0"/>
                <a:ea typeface="Georgia" pitchFamily="34" charset="-122"/>
                <a:cs typeface="Georgia" pitchFamily="34" charset="-120"/>
              </a:rPr>
              <a:t>RDS INSTANCE &amp; EC2 LAUNCH TEMPLATE</a:t>
            </a:r>
            <a:endParaRPr lang="en-US" sz="2200" dirty="0"/>
          </a:p>
        </p:txBody>
      </p:sp>
      <p:sp>
        <p:nvSpPr>
          <p:cNvPr id="4" name="Shape 2"/>
          <p:cNvSpPr/>
          <p:nvPr/>
        </p:nvSpPr>
        <p:spPr>
          <a:xfrm>
            <a:off x="457200" y="914400"/>
            <a:ext cx="4023360" cy="38404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5" name="Text 3"/>
          <p:cNvSpPr/>
          <p:nvPr/>
        </p:nvSpPr>
        <p:spPr>
          <a:xfrm>
            <a:off x="640080" y="1005840"/>
            <a:ext cx="3657600" cy="320040"/>
          </a:xfrm>
          <a:prstGeom prst="rect">
            <a:avLst/>
          </a:prstGeom>
          <a:noFill/>
          <a:ln/>
        </p:spPr>
        <p:txBody>
          <a:bodyPr wrap="square" lIns="0" tIns="0" rIns="0" bIns="0" rtlCol="0" anchor="ctr"/>
          <a:lstStyle/>
          <a:p>
            <a:pPr marL="0" indent="0">
              <a:buNone/>
            </a:pPr>
            <a:r>
              <a:rPr lang="en-US" sz="1400" b="1" dirty="0">
                <a:solidFill>
                  <a:srgbClr val="1A2B4A"/>
                </a:solidFill>
                <a:latin typeface="Georgia" pitchFamily="34" charset="0"/>
                <a:ea typeface="Georgia" pitchFamily="34" charset="-122"/>
                <a:cs typeface="Georgia" pitchFamily="34" charset="-120"/>
              </a:rPr>
              <a:t>RDS MySQL Instance</a:t>
            </a:r>
            <a:endParaRPr lang="en-US" sz="1400" dirty="0"/>
          </a:p>
        </p:txBody>
      </p:sp>
      <p:sp>
        <p:nvSpPr>
          <p:cNvPr id="6" name="Text 4"/>
          <p:cNvSpPr/>
          <p:nvPr/>
        </p:nvSpPr>
        <p:spPr>
          <a:xfrm>
            <a:off x="640080" y="1371600"/>
            <a:ext cx="3657600" cy="457200"/>
          </a:xfrm>
          <a:prstGeom prst="rect">
            <a:avLst/>
          </a:prstGeom>
          <a:noFill/>
          <a:ln/>
        </p:spPr>
        <p:txBody>
          <a:bodyPr wrap="square" lIns="0" tIns="0" rIns="0" bIns="0" rtlCol="0" anchor="ctr"/>
          <a:lstStyle/>
          <a:p>
            <a:pPr marL="0" indent="0">
              <a:buNone/>
            </a:pPr>
            <a:r>
              <a:rPr lang="en-US" sz="1000" dirty="0">
                <a:solidFill>
                  <a:srgbClr val="5A6B7F"/>
                </a:solidFill>
                <a:latin typeface="Calibri" pitchFamily="34" charset="0"/>
                <a:ea typeface="Calibri" pitchFamily="34" charset="-122"/>
                <a:cs typeface="Calibri" pitchFamily="34" charset="-120"/>
              </a:rPr>
              <a:t>db.t3.micro selected for cost &amp; performance efficiency. Endpoint enables seamless, secure application integration.</a:t>
            </a:r>
            <a:endParaRPr lang="en-US" sz="1000" dirty="0"/>
          </a:p>
        </p:txBody>
      </p:sp>
      <p:pic>
        <p:nvPicPr>
          <p:cNvPr id="7" name="Image 0" descr="/home/claude/media/image24.jpg"/>
          <p:cNvPicPr>
            <a:picLocks noChangeAspect="1"/>
          </p:cNvPicPr>
          <p:nvPr/>
        </p:nvPicPr>
        <p:blipFill>
          <a:blip r:embed="rId3"/>
          <a:srcRect/>
          <a:stretch/>
        </p:blipFill>
        <p:spPr>
          <a:xfrm>
            <a:off x="640080" y="2078926"/>
            <a:ext cx="3657600" cy="2401633"/>
          </a:xfrm>
          <a:prstGeom prst="rect">
            <a:avLst/>
          </a:prstGeom>
        </p:spPr>
      </p:pic>
      <p:sp>
        <p:nvSpPr>
          <p:cNvPr id="8" name="Shape 5"/>
          <p:cNvSpPr/>
          <p:nvPr/>
        </p:nvSpPr>
        <p:spPr>
          <a:xfrm>
            <a:off x="4754880" y="914400"/>
            <a:ext cx="4023360" cy="38404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9" name="Text 6"/>
          <p:cNvSpPr/>
          <p:nvPr/>
        </p:nvSpPr>
        <p:spPr>
          <a:xfrm>
            <a:off x="4937760" y="1005840"/>
            <a:ext cx="3657600" cy="320040"/>
          </a:xfrm>
          <a:prstGeom prst="rect">
            <a:avLst/>
          </a:prstGeom>
          <a:noFill/>
          <a:ln/>
        </p:spPr>
        <p:txBody>
          <a:bodyPr wrap="square" lIns="0" tIns="0" rIns="0" bIns="0" rtlCol="0" anchor="ctr"/>
          <a:lstStyle/>
          <a:p>
            <a:pPr marL="0" indent="0">
              <a:buNone/>
            </a:pPr>
            <a:r>
              <a:rPr lang="en-US" sz="1400" b="1" dirty="0">
                <a:solidFill>
                  <a:srgbClr val="1A2B4A"/>
                </a:solidFill>
                <a:latin typeface="Georgia" pitchFamily="34" charset="0"/>
                <a:ea typeface="Georgia" pitchFamily="34" charset="-122"/>
                <a:cs typeface="Georgia" pitchFamily="34" charset="-120"/>
              </a:rPr>
              <a:t>EC2 Launch Template</a:t>
            </a:r>
            <a:endParaRPr lang="en-US" sz="1400" dirty="0"/>
          </a:p>
        </p:txBody>
      </p:sp>
      <p:sp>
        <p:nvSpPr>
          <p:cNvPr id="10" name="Text 7"/>
          <p:cNvSpPr/>
          <p:nvPr/>
        </p:nvSpPr>
        <p:spPr>
          <a:xfrm>
            <a:off x="4937760" y="1371600"/>
            <a:ext cx="3657600" cy="457200"/>
          </a:xfrm>
          <a:prstGeom prst="rect">
            <a:avLst/>
          </a:prstGeom>
          <a:noFill/>
          <a:ln/>
        </p:spPr>
        <p:txBody>
          <a:bodyPr wrap="square" lIns="0" tIns="0" rIns="0" bIns="0" rtlCol="0" anchor="ctr"/>
          <a:lstStyle/>
          <a:p>
            <a:pPr marL="0" indent="0">
              <a:buNone/>
            </a:pPr>
            <a:r>
              <a:rPr lang="en-US" sz="1000" dirty="0">
                <a:solidFill>
                  <a:srgbClr val="5A6B7F"/>
                </a:solidFill>
                <a:latin typeface="Calibri" pitchFamily="34" charset="0"/>
                <a:ea typeface="Calibri" pitchFamily="34" charset="-122"/>
                <a:cs typeface="Calibri" pitchFamily="34" charset="-120"/>
              </a:rPr>
              <a:t>Defines instance type, AMI, and security settings for consistent, automated EC2 deployments.</a:t>
            </a:r>
            <a:endParaRPr lang="en-US" sz="1000" dirty="0"/>
          </a:p>
        </p:txBody>
      </p:sp>
      <p:pic>
        <p:nvPicPr>
          <p:cNvPr id="11" name="Image 1" descr="/home/claude/media/image25.jpg"/>
          <p:cNvPicPr>
            <a:picLocks noChangeAspect="1"/>
          </p:cNvPicPr>
          <p:nvPr/>
        </p:nvPicPr>
        <p:blipFill>
          <a:blip r:embed="rId4"/>
          <a:srcRect/>
          <a:stretch/>
        </p:blipFill>
        <p:spPr>
          <a:xfrm>
            <a:off x="4937760" y="2078926"/>
            <a:ext cx="3657600" cy="2401634"/>
          </a:xfrm>
          <a:prstGeom prst="rect">
            <a:avLst/>
          </a:prstGeom>
        </p:spPr>
      </p:pic>
      <p:sp>
        <p:nvSpPr>
          <p:cNvPr id="12" name="Text 8"/>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5A6B7F"/>
                </a:solidFill>
                <a:latin typeface="Calibri" pitchFamily="34" charset="0"/>
                <a:ea typeface="Calibri" pitchFamily="34" charset="-122"/>
                <a:cs typeface="Calibri" pitchFamily="34" charset="-120"/>
              </a:rPr>
              <a:t>13 / 25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DE8D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39C12"/>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457200" y="274320"/>
            <a:ext cx="365760" cy="365760"/>
          </a:xfrm>
          <a:prstGeom prst="rect">
            <a:avLst/>
          </a:prstGeom>
        </p:spPr>
      </p:pic>
      <p:sp>
        <p:nvSpPr>
          <p:cNvPr id="4" name="Text 1"/>
          <p:cNvSpPr/>
          <p:nvPr/>
        </p:nvSpPr>
        <p:spPr>
          <a:xfrm>
            <a:off x="914400" y="228600"/>
            <a:ext cx="5486400" cy="502920"/>
          </a:xfrm>
          <a:prstGeom prst="rect">
            <a:avLst/>
          </a:prstGeom>
          <a:noFill/>
          <a:ln/>
        </p:spPr>
        <p:txBody>
          <a:bodyPr wrap="square" lIns="0" tIns="0" rIns="0" bIns="0" rtlCol="0" anchor="ctr"/>
          <a:lstStyle/>
          <a:p>
            <a:pPr marL="0" indent="0">
              <a:buNone/>
            </a:pPr>
            <a:r>
              <a:rPr lang="en-US" sz="2800" b="1" dirty="0">
                <a:solidFill>
                  <a:srgbClr val="1A2B4A"/>
                </a:solidFill>
                <a:latin typeface="Georgia" pitchFamily="34" charset="0"/>
                <a:ea typeface="Georgia" pitchFamily="34" charset="-122"/>
                <a:cs typeface="Georgia" pitchFamily="34" charset="-120"/>
              </a:rPr>
              <a:t>COMPUTE &amp; SCALING</a:t>
            </a:r>
            <a:endParaRPr lang="en-US" sz="2800" dirty="0"/>
          </a:p>
        </p:txBody>
      </p:sp>
      <p:sp>
        <p:nvSpPr>
          <p:cNvPr id="5" name="Shape 2"/>
          <p:cNvSpPr/>
          <p:nvPr/>
        </p:nvSpPr>
        <p:spPr>
          <a:xfrm>
            <a:off x="457200" y="914400"/>
            <a:ext cx="8229600" cy="1280160"/>
          </a:xfrm>
          <a:prstGeom prst="rect">
            <a:avLst/>
          </a:prstGeom>
          <a:solidFill>
            <a:srgbClr val="F8F4EC"/>
          </a:solidFill>
          <a:ln/>
          <a:effectLst>
            <a:outerShdw blurRad="76200" dist="25400" dir="8100000" algn="bl" rotWithShape="0">
              <a:srgbClr val="000000">
                <a:alpha val="12000"/>
              </a:srgbClr>
            </a:outerShdw>
          </a:effectLst>
        </p:spPr>
        <p:txBody>
          <a:bodyPr/>
          <a:lstStyle/>
          <a:p>
            <a:endParaRPr lang="en-US"/>
          </a:p>
        </p:txBody>
      </p:sp>
      <p:sp>
        <p:nvSpPr>
          <p:cNvPr id="6" name="Text 3"/>
          <p:cNvSpPr/>
          <p:nvPr/>
        </p:nvSpPr>
        <p:spPr>
          <a:xfrm>
            <a:off x="640080" y="1005840"/>
            <a:ext cx="7863840" cy="1097280"/>
          </a:xfrm>
          <a:prstGeom prst="rect">
            <a:avLst/>
          </a:prstGeom>
          <a:noFill/>
          <a:ln/>
        </p:spPr>
        <p:txBody>
          <a:bodyPr wrap="square" lIns="0" tIns="0" rIns="0" bIns="0" rtlCol="0" anchor="ctr"/>
          <a:lstStyle/>
          <a:p>
            <a:pPr marL="0" indent="0">
              <a:lnSpc>
                <a:spcPct val="130000"/>
              </a:lnSpc>
              <a:buNone/>
            </a:pPr>
            <a:r>
              <a:rPr lang="en-US" sz="1200" dirty="0">
                <a:solidFill>
                  <a:srgbClr val="1A6B5A"/>
                </a:solidFill>
                <a:latin typeface="Calibri" pitchFamily="34" charset="0"/>
                <a:ea typeface="Calibri" pitchFamily="34" charset="-122"/>
                <a:cs typeface="Calibri" pitchFamily="34" charset="-120"/>
              </a:rPr>
              <a:t>TaskMatch uses an Auto Scaling Group (ASG) to automatically adjust EC2 instances based on demand. An Application Load Balancer distributes traffic across healthy instances, with health checks continuously monitoring status. EC2 instances connect to RDS via secure Parameter Store credentials.</a:t>
            </a:r>
            <a:endParaRPr lang="en-US" sz="1200" dirty="0"/>
          </a:p>
        </p:txBody>
      </p:sp>
      <p:sp>
        <p:nvSpPr>
          <p:cNvPr id="99" name="Text Footer"/>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5A6B7F"/>
                </a:solidFill>
                <a:latin typeface="Calibri" pitchFamily="34" charset="0"/>
                <a:ea typeface="Calibri" pitchFamily="34" charset="-122"/>
                <a:cs typeface="Calibri" pitchFamily="34" charset="-120"/>
              </a:rPr>
              <a:t>14 / 25</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DE8D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39C12"/>
          </a:solidFill>
          <a:ln/>
        </p:spPr>
        <p:txBody>
          <a:bodyPr/>
          <a:lstStyle/>
          <a:p>
            <a:endParaRPr lang="en-US"/>
          </a:p>
        </p:txBody>
      </p:sp>
      <p:sp>
        <p:nvSpPr>
          <p:cNvPr id="3" name="Text 1"/>
          <p:cNvSpPr/>
          <p:nvPr/>
        </p:nvSpPr>
        <p:spPr>
          <a:xfrm>
            <a:off x="457200" y="182880"/>
            <a:ext cx="6400800" cy="457200"/>
          </a:xfrm>
          <a:prstGeom prst="rect">
            <a:avLst/>
          </a:prstGeom>
          <a:noFill/>
          <a:ln/>
        </p:spPr>
        <p:txBody>
          <a:bodyPr wrap="square" lIns="0" tIns="0" rIns="0" bIns="0" rtlCol="0" anchor="ctr"/>
          <a:lstStyle/>
          <a:p>
            <a:pPr marL="0" indent="0">
              <a:buNone/>
            </a:pPr>
            <a:r>
              <a:rPr lang="en-US" sz="2200" b="1" dirty="0">
                <a:solidFill>
                  <a:srgbClr val="1A2B4A"/>
                </a:solidFill>
                <a:latin typeface="Georgia" pitchFamily="34" charset="0"/>
                <a:ea typeface="Georgia" pitchFamily="34" charset="-122"/>
                <a:cs typeface="Georgia" pitchFamily="34" charset="-120"/>
              </a:rPr>
              <a:t>TARGET GROUP &amp; LOAD BALANCER</a:t>
            </a:r>
            <a:endParaRPr lang="en-US" sz="2200" dirty="0"/>
          </a:p>
        </p:txBody>
      </p:sp>
      <p:sp>
        <p:nvSpPr>
          <p:cNvPr id="4" name="Shape 2"/>
          <p:cNvSpPr/>
          <p:nvPr/>
        </p:nvSpPr>
        <p:spPr>
          <a:xfrm>
            <a:off x="365760" y="822960"/>
            <a:ext cx="4114800" cy="4023360"/>
          </a:xfrm>
          <a:prstGeom prst="rect">
            <a:avLst/>
          </a:prstGeom>
          <a:solidFill>
            <a:srgbClr val="F8F4EC"/>
          </a:solidFill>
          <a:ln/>
          <a:effectLst>
            <a:outerShdw blurRad="76200" dist="25400" dir="8100000" algn="bl" rotWithShape="0">
              <a:srgbClr val="000000">
                <a:alpha val="12000"/>
              </a:srgbClr>
            </a:outerShdw>
          </a:effectLst>
        </p:spPr>
        <p:txBody>
          <a:bodyPr/>
          <a:lstStyle/>
          <a:p>
            <a:endParaRPr lang="en-US"/>
          </a:p>
        </p:txBody>
      </p:sp>
      <p:sp>
        <p:nvSpPr>
          <p:cNvPr id="5" name="Shape 3"/>
          <p:cNvSpPr/>
          <p:nvPr/>
        </p:nvSpPr>
        <p:spPr>
          <a:xfrm>
            <a:off x="365760" y="822960"/>
            <a:ext cx="4114800" cy="54864"/>
          </a:xfrm>
          <a:prstGeom prst="rect">
            <a:avLst/>
          </a:prstGeom>
          <a:solidFill>
            <a:srgbClr val="16A085"/>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548640" y="1005840"/>
            <a:ext cx="320040" cy="320040"/>
          </a:xfrm>
          <a:prstGeom prst="rect">
            <a:avLst/>
          </a:prstGeom>
        </p:spPr>
      </p:pic>
      <p:sp>
        <p:nvSpPr>
          <p:cNvPr id="7" name="Text 4"/>
          <p:cNvSpPr/>
          <p:nvPr/>
        </p:nvSpPr>
        <p:spPr>
          <a:xfrm>
            <a:off x="960120" y="1005840"/>
            <a:ext cx="2743200" cy="320040"/>
          </a:xfrm>
          <a:prstGeom prst="rect">
            <a:avLst/>
          </a:prstGeom>
          <a:noFill/>
          <a:ln/>
        </p:spPr>
        <p:txBody>
          <a:bodyPr wrap="square" lIns="0" tIns="0" rIns="0" bIns="0" rtlCol="0" anchor="ctr"/>
          <a:lstStyle/>
          <a:p>
            <a:pPr marL="0" indent="0">
              <a:buNone/>
            </a:pPr>
            <a:r>
              <a:rPr lang="en-US" sz="1500" b="1" dirty="0">
                <a:solidFill>
                  <a:srgbClr val="1A2B4A"/>
                </a:solidFill>
                <a:latin typeface="Georgia" pitchFamily="34" charset="0"/>
                <a:ea typeface="Georgia" pitchFamily="34" charset="-122"/>
                <a:cs typeface="Georgia" pitchFamily="34" charset="-120"/>
              </a:rPr>
              <a:t>Target Group</a:t>
            </a:r>
            <a:endParaRPr lang="en-US" sz="1500" dirty="0"/>
          </a:p>
        </p:txBody>
      </p:sp>
      <p:sp>
        <p:nvSpPr>
          <p:cNvPr id="8" name="Text 5"/>
          <p:cNvSpPr/>
          <p:nvPr/>
        </p:nvSpPr>
        <p:spPr>
          <a:xfrm>
            <a:off x="548640" y="1417320"/>
            <a:ext cx="3749040" cy="457200"/>
          </a:xfrm>
          <a:prstGeom prst="rect">
            <a:avLst/>
          </a:prstGeom>
          <a:noFill/>
          <a:ln/>
        </p:spPr>
        <p:txBody>
          <a:bodyPr wrap="square" lIns="0" tIns="0" rIns="0" bIns="0" rtlCol="0" anchor="ctr"/>
          <a:lstStyle/>
          <a:p>
            <a:pPr marL="0" indent="0">
              <a:buNone/>
            </a:pPr>
            <a:r>
              <a:rPr lang="en-US" sz="1100" dirty="0">
                <a:solidFill>
                  <a:srgbClr val="1A6B5A"/>
                </a:solidFill>
                <a:latin typeface="Calibri" pitchFamily="34" charset="0"/>
                <a:ea typeface="Calibri" pitchFamily="34" charset="-122"/>
                <a:cs typeface="Calibri" pitchFamily="34" charset="-120"/>
              </a:rPr>
              <a:t>ALB directs requests to port 80 application instances. Health checks ensure only healthy targets receive traffic.</a:t>
            </a:r>
            <a:endParaRPr lang="en-US" sz="1100" dirty="0"/>
          </a:p>
        </p:txBody>
      </p:sp>
      <p:pic>
        <p:nvPicPr>
          <p:cNvPr id="9" name="Image 1" descr="/home/claude/media/image28.jpg"/>
          <p:cNvPicPr>
            <a:picLocks noChangeAspect="1"/>
          </p:cNvPicPr>
          <p:nvPr/>
        </p:nvPicPr>
        <p:blipFill>
          <a:blip r:embed="rId4"/>
          <a:srcRect/>
          <a:stretch/>
        </p:blipFill>
        <p:spPr>
          <a:xfrm>
            <a:off x="548640" y="1965960"/>
            <a:ext cx="3749040" cy="2354580"/>
          </a:xfrm>
          <a:prstGeom prst="rect">
            <a:avLst/>
          </a:prstGeom>
        </p:spPr>
      </p:pic>
      <p:sp>
        <p:nvSpPr>
          <p:cNvPr id="10" name="Shape 6"/>
          <p:cNvSpPr/>
          <p:nvPr/>
        </p:nvSpPr>
        <p:spPr>
          <a:xfrm>
            <a:off x="4663440" y="822960"/>
            <a:ext cx="4114800" cy="4023360"/>
          </a:xfrm>
          <a:prstGeom prst="rect">
            <a:avLst/>
          </a:prstGeom>
          <a:solidFill>
            <a:srgbClr val="F8F4EC"/>
          </a:solidFill>
          <a:ln/>
          <a:effectLst>
            <a:outerShdw blurRad="76200" dist="25400" dir="8100000" algn="bl" rotWithShape="0">
              <a:srgbClr val="000000">
                <a:alpha val="12000"/>
              </a:srgbClr>
            </a:outerShdw>
          </a:effectLst>
        </p:spPr>
        <p:txBody>
          <a:bodyPr/>
          <a:lstStyle/>
          <a:p>
            <a:endParaRPr lang="en-US"/>
          </a:p>
        </p:txBody>
      </p:sp>
      <p:sp>
        <p:nvSpPr>
          <p:cNvPr id="11" name="Shape 7"/>
          <p:cNvSpPr/>
          <p:nvPr/>
        </p:nvSpPr>
        <p:spPr>
          <a:xfrm>
            <a:off x="4663440" y="822960"/>
            <a:ext cx="4114800" cy="54864"/>
          </a:xfrm>
          <a:prstGeom prst="rect">
            <a:avLst/>
          </a:prstGeom>
          <a:solidFill>
            <a:srgbClr val="F39C12"/>
          </a:solidFill>
          <a:ln/>
        </p:spPr>
        <p:txBody>
          <a:bodyPr/>
          <a:lstStyle/>
          <a:p>
            <a:endParaRPr lang="en-US"/>
          </a:p>
        </p:txBody>
      </p:sp>
      <p:pic>
        <p:nvPicPr>
          <p:cNvPr id="12" name="Image 2" descr="preencoded.png"/>
          <p:cNvPicPr>
            <a:picLocks noChangeAspect="1"/>
          </p:cNvPicPr>
          <p:nvPr/>
        </p:nvPicPr>
        <p:blipFill>
          <a:blip r:embed="rId5"/>
          <a:stretch>
            <a:fillRect/>
          </a:stretch>
        </p:blipFill>
        <p:spPr>
          <a:xfrm>
            <a:off x="4846320" y="1005840"/>
            <a:ext cx="320040" cy="320040"/>
          </a:xfrm>
          <a:prstGeom prst="rect">
            <a:avLst/>
          </a:prstGeom>
        </p:spPr>
      </p:pic>
      <p:sp>
        <p:nvSpPr>
          <p:cNvPr id="13" name="Text 8"/>
          <p:cNvSpPr/>
          <p:nvPr/>
        </p:nvSpPr>
        <p:spPr>
          <a:xfrm>
            <a:off x="5257800" y="1005840"/>
            <a:ext cx="3200400" cy="320040"/>
          </a:xfrm>
          <a:prstGeom prst="rect">
            <a:avLst/>
          </a:prstGeom>
          <a:noFill/>
          <a:ln/>
        </p:spPr>
        <p:txBody>
          <a:bodyPr wrap="square" lIns="0" tIns="0" rIns="0" bIns="0" rtlCol="0" anchor="ctr"/>
          <a:lstStyle/>
          <a:p>
            <a:pPr marL="0" indent="0">
              <a:buNone/>
            </a:pPr>
            <a:r>
              <a:rPr lang="en-US" sz="1500" b="1" dirty="0">
                <a:solidFill>
                  <a:srgbClr val="1A2B4A"/>
                </a:solidFill>
                <a:latin typeface="Georgia" pitchFamily="34" charset="0"/>
                <a:ea typeface="Georgia" pitchFamily="34" charset="-122"/>
                <a:cs typeface="Georgia" pitchFamily="34" charset="-120"/>
              </a:rPr>
              <a:t>Application Load Balancer</a:t>
            </a:r>
            <a:endParaRPr lang="en-US" sz="1500" dirty="0"/>
          </a:p>
        </p:txBody>
      </p:sp>
      <p:sp>
        <p:nvSpPr>
          <p:cNvPr id="14" name="Text 9"/>
          <p:cNvSpPr/>
          <p:nvPr/>
        </p:nvSpPr>
        <p:spPr>
          <a:xfrm>
            <a:off x="4846320" y="1417320"/>
            <a:ext cx="3749040" cy="457200"/>
          </a:xfrm>
          <a:prstGeom prst="rect">
            <a:avLst/>
          </a:prstGeom>
          <a:noFill/>
          <a:ln/>
        </p:spPr>
        <p:txBody>
          <a:bodyPr wrap="square" lIns="0" tIns="0" rIns="0" bIns="0" rtlCol="0" anchor="ctr"/>
          <a:lstStyle/>
          <a:p>
            <a:pPr marL="0" indent="0">
              <a:buNone/>
            </a:pPr>
            <a:r>
              <a:rPr lang="en-US" sz="1100" dirty="0">
                <a:solidFill>
                  <a:srgbClr val="1A6B5A"/>
                </a:solidFill>
                <a:latin typeface="Calibri" pitchFamily="34" charset="0"/>
                <a:ea typeface="Calibri" pitchFamily="34" charset="-122"/>
                <a:cs typeface="Calibri" pitchFamily="34" charset="-120"/>
              </a:rPr>
              <a:t>Listener on port 80. Default rule forwards all traffic to the TaskMatch target group for distribution.</a:t>
            </a:r>
            <a:endParaRPr lang="en-US" sz="1100" dirty="0"/>
          </a:p>
        </p:txBody>
      </p:sp>
      <p:pic>
        <p:nvPicPr>
          <p:cNvPr id="15" name="Image 3" descr="/home/claude/media/image29.jpg"/>
          <p:cNvPicPr>
            <a:picLocks noChangeAspect="1"/>
          </p:cNvPicPr>
          <p:nvPr/>
        </p:nvPicPr>
        <p:blipFill>
          <a:blip r:embed="rId6"/>
          <a:srcRect/>
          <a:stretch/>
        </p:blipFill>
        <p:spPr>
          <a:xfrm>
            <a:off x="4846320" y="1965960"/>
            <a:ext cx="3749040" cy="1351303"/>
          </a:xfrm>
          <a:prstGeom prst="rect">
            <a:avLst/>
          </a:prstGeom>
        </p:spPr>
      </p:pic>
      <p:sp>
        <p:nvSpPr>
          <p:cNvPr id="16" name="Text 10"/>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5A6B7F"/>
                </a:solidFill>
                <a:latin typeface="Calibri" pitchFamily="34" charset="0"/>
                <a:ea typeface="Calibri" pitchFamily="34" charset="-122"/>
                <a:cs typeface="Calibri" pitchFamily="34" charset="-120"/>
              </a:rPr>
              <a:t>15 / 25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DE8D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39C12"/>
          </a:solidFill>
          <a:ln/>
        </p:spPr>
        <p:txBody>
          <a:bodyPr/>
          <a:lstStyle/>
          <a:p>
            <a:endParaRPr lang="en-US"/>
          </a:p>
        </p:txBody>
      </p:sp>
      <p:sp>
        <p:nvSpPr>
          <p:cNvPr id="3" name="Text 1"/>
          <p:cNvSpPr/>
          <p:nvPr/>
        </p:nvSpPr>
        <p:spPr>
          <a:xfrm>
            <a:off x="457200" y="182880"/>
            <a:ext cx="6400800" cy="457200"/>
          </a:xfrm>
          <a:prstGeom prst="rect">
            <a:avLst/>
          </a:prstGeom>
          <a:noFill/>
          <a:ln/>
        </p:spPr>
        <p:txBody>
          <a:bodyPr wrap="square" lIns="0" tIns="0" rIns="0" bIns="0" rtlCol="0" anchor="ctr"/>
          <a:lstStyle/>
          <a:p>
            <a:pPr marL="0" indent="0">
              <a:buNone/>
            </a:pPr>
            <a:r>
              <a:rPr lang="en-US" sz="2200" b="1" dirty="0">
                <a:solidFill>
                  <a:srgbClr val="1A2B4A"/>
                </a:solidFill>
                <a:latin typeface="Georgia" pitchFamily="34" charset="0"/>
                <a:ea typeface="Georgia" pitchFamily="34" charset="-122"/>
                <a:cs typeface="Georgia" pitchFamily="34" charset="-120"/>
              </a:rPr>
              <a:t>AUTO SCALING GROUP</a:t>
            </a:r>
            <a:endParaRPr lang="en-US" sz="2200" dirty="0"/>
          </a:p>
        </p:txBody>
      </p:sp>
      <p:sp>
        <p:nvSpPr>
          <p:cNvPr id="4" name="Text 2"/>
          <p:cNvSpPr/>
          <p:nvPr/>
        </p:nvSpPr>
        <p:spPr>
          <a:xfrm>
            <a:off x="457200" y="640080"/>
            <a:ext cx="7315200" cy="274320"/>
          </a:xfrm>
          <a:prstGeom prst="rect">
            <a:avLst/>
          </a:prstGeom>
          <a:noFill/>
          <a:ln/>
        </p:spPr>
        <p:txBody>
          <a:bodyPr wrap="square" lIns="0" tIns="0" rIns="0" bIns="0" rtlCol="0" anchor="ctr"/>
          <a:lstStyle/>
          <a:p>
            <a:pPr marL="0" indent="0">
              <a:buNone/>
            </a:pPr>
            <a:r>
              <a:rPr lang="en-US" sz="1100" i="1" dirty="0">
                <a:solidFill>
                  <a:srgbClr val="1A6B5A"/>
                </a:solidFill>
                <a:latin typeface="Calibri" pitchFamily="34" charset="0"/>
                <a:ea typeface="Calibri" pitchFamily="34" charset="-122"/>
                <a:cs typeface="Calibri" pitchFamily="34" charset="-120"/>
              </a:rPr>
              <a:t>Maintains adequate EC2 instances across multiple Availability Zones that are all healthy and in-service</a:t>
            </a:r>
            <a:endParaRPr lang="en-US" sz="1100" dirty="0"/>
          </a:p>
        </p:txBody>
      </p:sp>
      <p:sp>
        <p:nvSpPr>
          <p:cNvPr id="5" name="Shape 3"/>
          <p:cNvSpPr/>
          <p:nvPr/>
        </p:nvSpPr>
        <p:spPr>
          <a:xfrm>
            <a:off x="457200" y="1051560"/>
            <a:ext cx="8229600" cy="3840480"/>
          </a:xfrm>
          <a:prstGeom prst="rect">
            <a:avLst/>
          </a:prstGeom>
          <a:solidFill>
            <a:srgbClr val="F8F4EC"/>
          </a:solidFill>
          <a:ln/>
          <a:effectLst>
            <a:outerShdw blurRad="76200" dist="25400" dir="8100000" algn="bl" rotWithShape="0">
              <a:srgbClr val="000000">
                <a:alpha val="12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640080" y="1234440"/>
            <a:ext cx="365760" cy="365760"/>
          </a:xfrm>
          <a:prstGeom prst="rect">
            <a:avLst/>
          </a:prstGeom>
        </p:spPr>
      </p:pic>
      <p:sp>
        <p:nvSpPr>
          <p:cNvPr id="7" name="Text 4"/>
          <p:cNvSpPr/>
          <p:nvPr/>
        </p:nvSpPr>
        <p:spPr>
          <a:xfrm>
            <a:off x="1097280" y="1234440"/>
            <a:ext cx="4572000" cy="365760"/>
          </a:xfrm>
          <a:prstGeom prst="rect">
            <a:avLst/>
          </a:prstGeom>
          <a:noFill/>
          <a:ln/>
        </p:spPr>
        <p:txBody>
          <a:bodyPr wrap="square" lIns="0" tIns="0" rIns="0" bIns="0" rtlCol="0" anchor="ctr"/>
          <a:lstStyle/>
          <a:p>
            <a:pPr marL="0" indent="0">
              <a:buNone/>
            </a:pPr>
            <a:r>
              <a:rPr lang="en-US" sz="1500" b="1" dirty="0">
                <a:solidFill>
                  <a:srgbClr val="1A2B4A"/>
                </a:solidFill>
                <a:latin typeface="Georgia" pitchFamily="34" charset="0"/>
                <a:ea typeface="Georgia" pitchFamily="34" charset="-122"/>
                <a:cs typeface="Georgia" pitchFamily="34" charset="-120"/>
              </a:rPr>
              <a:t>Auto Scaling Group: Healthy Instances</a:t>
            </a:r>
            <a:endParaRPr lang="en-US" sz="1500" dirty="0"/>
          </a:p>
        </p:txBody>
      </p:sp>
      <p:sp>
        <p:nvSpPr>
          <p:cNvPr id="8" name="Text 5"/>
          <p:cNvSpPr/>
          <p:nvPr/>
        </p:nvSpPr>
        <p:spPr>
          <a:xfrm>
            <a:off x="640080" y="1691640"/>
            <a:ext cx="7772400" cy="457200"/>
          </a:xfrm>
          <a:prstGeom prst="rect">
            <a:avLst/>
          </a:prstGeom>
          <a:noFill/>
          <a:ln/>
        </p:spPr>
        <p:txBody>
          <a:bodyPr wrap="square" lIns="0" tIns="0" rIns="0" bIns="0" rtlCol="0" anchor="ctr"/>
          <a:lstStyle/>
          <a:p>
            <a:pPr marL="0" indent="0">
              <a:buNone/>
            </a:pPr>
            <a:r>
              <a:rPr lang="en-US" sz="1100" dirty="0">
                <a:solidFill>
                  <a:srgbClr val="1A6B5A"/>
                </a:solidFill>
                <a:latin typeface="Calibri" pitchFamily="34" charset="0"/>
                <a:ea typeface="Calibri" pitchFamily="34" charset="-122"/>
                <a:cs typeface="Calibri" pitchFamily="34" charset="-120"/>
              </a:rPr>
              <a:t>The ASG ensures fault tolerance by automatically replacing failed instances and scaling capacity based on demand. Both instances shown are healthy and in-service across multiple AZs.</a:t>
            </a:r>
            <a:endParaRPr lang="en-US" sz="1100" dirty="0"/>
          </a:p>
        </p:txBody>
      </p:sp>
      <p:pic>
        <p:nvPicPr>
          <p:cNvPr id="9" name="Image 1" descr="/home/claude/media/image30.jpg"/>
          <p:cNvPicPr>
            <a:picLocks noChangeAspect="1"/>
          </p:cNvPicPr>
          <p:nvPr/>
        </p:nvPicPr>
        <p:blipFill>
          <a:blip r:embed="rId4"/>
          <a:srcRect/>
          <a:stretch/>
        </p:blipFill>
        <p:spPr>
          <a:xfrm>
            <a:off x="1908143" y="2240280"/>
            <a:ext cx="5236273" cy="2468880"/>
          </a:xfrm>
          <a:prstGeom prst="rect">
            <a:avLst/>
          </a:prstGeom>
        </p:spPr>
      </p:pic>
      <p:sp>
        <p:nvSpPr>
          <p:cNvPr id="10" name="Text 6"/>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5A6B7F"/>
                </a:solidFill>
                <a:latin typeface="Calibri" pitchFamily="34" charset="0"/>
                <a:ea typeface="Calibri" pitchFamily="34" charset="-122"/>
                <a:cs typeface="Calibri" pitchFamily="34" charset="-120"/>
              </a:rPr>
              <a:t>16 / 25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8"/>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16A085"/>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457200" y="228600"/>
            <a:ext cx="365760" cy="365760"/>
          </a:xfrm>
          <a:prstGeom prst="rect">
            <a:avLst/>
          </a:prstGeom>
        </p:spPr>
      </p:pic>
      <p:sp>
        <p:nvSpPr>
          <p:cNvPr id="4" name="Text 1"/>
          <p:cNvSpPr/>
          <p:nvPr/>
        </p:nvSpPr>
        <p:spPr>
          <a:xfrm>
            <a:off x="914400" y="182880"/>
            <a:ext cx="5486400" cy="457200"/>
          </a:xfrm>
          <a:prstGeom prst="rect">
            <a:avLst/>
          </a:prstGeom>
          <a:noFill/>
          <a:ln/>
        </p:spPr>
        <p:txBody>
          <a:bodyPr wrap="square" lIns="0" tIns="0" rIns="0" bIns="0" rtlCol="0" anchor="ctr"/>
          <a:lstStyle/>
          <a:p>
            <a:pPr marL="0" indent="0">
              <a:buNone/>
            </a:pPr>
            <a:r>
              <a:rPr lang="en-US" sz="2400" b="1" dirty="0">
                <a:solidFill>
                  <a:srgbClr val="1A2B4A"/>
                </a:solidFill>
                <a:latin typeface="Georgia" pitchFamily="34" charset="0"/>
                <a:ea typeface="Georgia" pitchFamily="34" charset="-122"/>
                <a:cs typeface="Georgia" pitchFamily="34" charset="-120"/>
              </a:rPr>
              <a:t>DATABASE VERIFICATION</a:t>
            </a:r>
            <a:endParaRPr lang="en-US" sz="2400" dirty="0"/>
          </a:p>
        </p:txBody>
      </p:sp>
      <p:sp>
        <p:nvSpPr>
          <p:cNvPr id="5" name="Shape 2"/>
          <p:cNvSpPr/>
          <p:nvPr/>
        </p:nvSpPr>
        <p:spPr>
          <a:xfrm>
            <a:off x="365760" y="822960"/>
            <a:ext cx="4114800" cy="40233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6" name="Shape 3"/>
          <p:cNvSpPr/>
          <p:nvPr/>
        </p:nvSpPr>
        <p:spPr>
          <a:xfrm>
            <a:off x="365760" y="822960"/>
            <a:ext cx="4114800" cy="54864"/>
          </a:xfrm>
          <a:prstGeom prst="rect">
            <a:avLst/>
          </a:prstGeom>
          <a:solidFill>
            <a:srgbClr val="16A085"/>
          </a:solidFill>
          <a:ln/>
        </p:spPr>
        <p:txBody>
          <a:bodyPr/>
          <a:lstStyle/>
          <a:p>
            <a:endParaRPr lang="en-US"/>
          </a:p>
        </p:txBody>
      </p:sp>
      <p:sp>
        <p:nvSpPr>
          <p:cNvPr id="7" name="Text 4"/>
          <p:cNvSpPr/>
          <p:nvPr/>
        </p:nvSpPr>
        <p:spPr>
          <a:xfrm>
            <a:off x="548640" y="1005840"/>
            <a:ext cx="3657600" cy="320040"/>
          </a:xfrm>
          <a:prstGeom prst="rect">
            <a:avLst/>
          </a:prstGeom>
          <a:noFill/>
          <a:ln/>
        </p:spPr>
        <p:txBody>
          <a:bodyPr wrap="square" lIns="0" tIns="0" rIns="0" bIns="0" rtlCol="0" anchor="ctr"/>
          <a:lstStyle/>
          <a:p>
            <a:pPr marL="0" indent="0">
              <a:buNone/>
            </a:pPr>
            <a:r>
              <a:rPr lang="en-US" sz="1400" b="1" dirty="0">
                <a:solidFill>
                  <a:srgbClr val="16A085"/>
                </a:solidFill>
                <a:latin typeface="Georgia" pitchFamily="34" charset="0"/>
                <a:ea typeface="Georgia" pitchFamily="34" charset="-122"/>
                <a:cs typeface="Georgia" pitchFamily="34" charset="-120"/>
              </a:rPr>
              <a:t>SSM Terminal DB Verification</a:t>
            </a:r>
            <a:endParaRPr lang="en-US" sz="1400" dirty="0"/>
          </a:p>
        </p:txBody>
      </p:sp>
      <p:sp>
        <p:nvSpPr>
          <p:cNvPr id="8" name="Text 5"/>
          <p:cNvSpPr/>
          <p:nvPr/>
        </p:nvSpPr>
        <p:spPr>
          <a:xfrm>
            <a:off x="548640" y="1371600"/>
            <a:ext cx="3749040" cy="457200"/>
          </a:xfrm>
          <a:prstGeom prst="rect">
            <a:avLst/>
          </a:prstGeom>
          <a:noFill/>
          <a:ln/>
        </p:spPr>
        <p:txBody>
          <a:bodyPr wrap="square" lIns="0" tIns="0" rIns="0" bIns="0" rtlCol="0" anchor="ctr"/>
          <a:lstStyle/>
          <a:p>
            <a:pPr marL="0" indent="0">
              <a:buNone/>
            </a:pPr>
            <a:r>
              <a:rPr lang="en-US" sz="1100" dirty="0">
                <a:solidFill>
                  <a:srgbClr val="5A6B7F"/>
                </a:solidFill>
                <a:latin typeface="Calibri" pitchFamily="34" charset="0"/>
                <a:ea typeface="Calibri" pitchFamily="34" charset="-122"/>
                <a:cs typeface="Calibri" pitchFamily="34" charset="-120"/>
              </a:rPr>
              <a:t>SHOW DATABASES confirmed taskmatch exists. SHOW TABLES verified all three tables: jobs, offers, and users.</a:t>
            </a:r>
            <a:endParaRPr lang="en-US" sz="1100" dirty="0"/>
          </a:p>
        </p:txBody>
      </p:sp>
      <p:pic>
        <p:nvPicPr>
          <p:cNvPr id="9" name="Image 1" descr="/home/claude/media/image26.jpg"/>
          <p:cNvPicPr>
            <a:picLocks noChangeAspect="1"/>
          </p:cNvPicPr>
          <p:nvPr/>
        </p:nvPicPr>
        <p:blipFill>
          <a:blip r:embed="rId4"/>
          <a:srcRect/>
          <a:stretch/>
        </p:blipFill>
        <p:spPr>
          <a:xfrm>
            <a:off x="548640" y="1920240"/>
            <a:ext cx="3749040" cy="2743200"/>
          </a:xfrm>
          <a:prstGeom prst="rect">
            <a:avLst/>
          </a:prstGeom>
        </p:spPr>
      </p:pic>
      <p:sp>
        <p:nvSpPr>
          <p:cNvPr id="10" name="Shape 6"/>
          <p:cNvSpPr/>
          <p:nvPr/>
        </p:nvSpPr>
        <p:spPr>
          <a:xfrm>
            <a:off x="4663440" y="822960"/>
            <a:ext cx="4114800" cy="40233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1" name="Shape 7"/>
          <p:cNvSpPr/>
          <p:nvPr/>
        </p:nvSpPr>
        <p:spPr>
          <a:xfrm>
            <a:off x="4663440" y="822960"/>
            <a:ext cx="4114800" cy="54864"/>
          </a:xfrm>
          <a:prstGeom prst="rect">
            <a:avLst/>
          </a:prstGeom>
          <a:solidFill>
            <a:srgbClr val="16A085"/>
          </a:solidFill>
          <a:ln/>
        </p:spPr>
        <p:txBody>
          <a:bodyPr/>
          <a:lstStyle/>
          <a:p>
            <a:endParaRPr lang="en-US"/>
          </a:p>
        </p:txBody>
      </p:sp>
      <p:sp>
        <p:nvSpPr>
          <p:cNvPr id="12" name="Text 8"/>
          <p:cNvSpPr/>
          <p:nvPr/>
        </p:nvSpPr>
        <p:spPr>
          <a:xfrm>
            <a:off x="4846320" y="1005840"/>
            <a:ext cx="3657600" cy="320040"/>
          </a:xfrm>
          <a:prstGeom prst="rect">
            <a:avLst/>
          </a:prstGeom>
          <a:noFill/>
          <a:ln/>
        </p:spPr>
        <p:txBody>
          <a:bodyPr wrap="square" lIns="0" tIns="0" rIns="0" bIns="0" rtlCol="0" anchor="ctr"/>
          <a:lstStyle/>
          <a:p>
            <a:pPr marL="0" indent="0">
              <a:buNone/>
            </a:pPr>
            <a:r>
              <a:rPr lang="en-US" sz="1400" b="1" dirty="0">
                <a:solidFill>
                  <a:srgbClr val="16A085"/>
                </a:solidFill>
                <a:latin typeface="Georgia" pitchFamily="34" charset="0"/>
                <a:ea typeface="Georgia" pitchFamily="34" charset="-122"/>
                <a:cs typeface="Georgia" pitchFamily="34" charset="-120"/>
              </a:rPr>
              <a:t>Schema Setup &amp; Health Check</a:t>
            </a:r>
            <a:endParaRPr lang="en-US" sz="1400" dirty="0"/>
          </a:p>
        </p:txBody>
      </p:sp>
      <p:sp>
        <p:nvSpPr>
          <p:cNvPr id="13" name="Text 9"/>
          <p:cNvSpPr/>
          <p:nvPr/>
        </p:nvSpPr>
        <p:spPr>
          <a:xfrm>
            <a:off x="4846320" y="1371600"/>
            <a:ext cx="3749040" cy="457200"/>
          </a:xfrm>
          <a:prstGeom prst="rect">
            <a:avLst/>
          </a:prstGeom>
          <a:noFill/>
          <a:ln/>
        </p:spPr>
        <p:txBody>
          <a:bodyPr wrap="square" lIns="0" tIns="0" rIns="0" bIns="0" rtlCol="0" anchor="ctr"/>
          <a:lstStyle/>
          <a:p>
            <a:pPr marL="0" indent="0">
              <a:buNone/>
            </a:pPr>
            <a:r>
              <a:rPr lang="en-US" sz="1100" dirty="0">
                <a:solidFill>
                  <a:srgbClr val="5A6B7F"/>
                </a:solidFill>
                <a:latin typeface="Calibri" pitchFamily="34" charset="0"/>
                <a:ea typeface="Calibri" pitchFamily="34" charset="-122"/>
                <a:cs typeface="Calibri" pitchFamily="34" charset="-120"/>
              </a:rPr>
              <a:t>schema.sql applied to RDS. ERROR 1050 confirms pre-existing tables. systemctl restart + curl health check returns healthy.</a:t>
            </a:r>
            <a:endParaRPr lang="en-US" sz="1100" dirty="0"/>
          </a:p>
        </p:txBody>
      </p:sp>
      <p:pic>
        <p:nvPicPr>
          <p:cNvPr id="14" name="Image 2" descr="/home/claude/media/image27.jpg"/>
          <p:cNvPicPr>
            <a:picLocks noChangeAspect="1"/>
          </p:cNvPicPr>
          <p:nvPr/>
        </p:nvPicPr>
        <p:blipFill>
          <a:blip r:embed="rId5"/>
          <a:srcRect/>
          <a:stretch/>
        </p:blipFill>
        <p:spPr>
          <a:xfrm>
            <a:off x="4846320" y="1920240"/>
            <a:ext cx="3749040" cy="2743200"/>
          </a:xfrm>
          <a:prstGeom prst="rect">
            <a:avLst/>
          </a:prstGeom>
        </p:spPr>
      </p:pic>
      <p:sp>
        <p:nvSpPr>
          <p:cNvPr id="15" name="Text 10"/>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5A6B7F"/>
                </a:solidFill>
                <a:latin typeface="Calibri" pitchFamily="34" charset="0"/>
                <a:ea typeface="Calibri" pitchFamily="34" charset="-122"/>
                <a:cs typeface="Calibri" pitchFamily="34" charset="-120"/>
              </a:rPr>
              <a:t>17 / 25</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AF8"/>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16A085"/>
          </a:solidFill>
          <a:ln/>
        </p:spPr>
        <p:txBody>
          <a:bodyPr/>
          <a:lstStyle/>
          <a:p>
            <a:endParaRPr lang="en-US"/>
          </a:p>
        </p:txBody>
      </p:sp>
      <p:sp>
        <p:nvSpPr>
          <p:cNvPr id="3" name="Text 1"/>
          <p:cNvSpPr/>
          <p:nvPr/>
        </p:nvSpPr>
        <p:spPr>
          <a:xfrm>
            <a:off x="457200" y="182880"/>
            <a:ext cx="7315200" cy="457200"/>
          </a:xfrm>
          <a:prstGeom prst="rect">
            <a:avLst/>
          </a:prstGeom>
          <a:noFill/>
          <a:ln/>
        </p:spPr>
        <p:txBody>
          <a:bodyPr wrap="square" lIns="0" tIns="0" rIns="0" bIns="0" rtlCol="0" anchor="ctr"/>
          <a:lstStyle/>
          <a:p>
            <a:pPr marL="0" indent="0">
              <a:buNone/>
            </a:pPr>
            <a:r>
              <a:rPr lang="en-US" sz="2200" b="1" dirty="0">
                <a:solidFill>
                  <a:srgbClr val="1A2B4A"/>
                </a:solidFill>
                <a:latin typeface="Georgia" pitchFamily="34" charset="0"/>
                <a:ea typeface="Georgia" pitchFamily="34" charset="-122"/>
                <a:cs typeface="Georgia" pitchFamily="34" charset="-120"/>
              </a:rPr>
              <a:t>SQL QUERY REFERENCE &amp; RESULTS</a:t>
            </a:r>
            <a:endParaRPr lang="en-US" sz="2200" dirty="0"/>
          </a:p>
        </p:txBody>
      </p:sp>
      <p:sp>
        <p:nvSpPr>
          <p:cNvPr id="4" name="Shape 2"/>
          <p:cNvSpPr/>
          <p:nvPr/>
        </p:nvSpPr>
        <p:spPr>
          <a:xfrm>
            <a:off x="365760" y="822960"/>
            <a:ext cx="4114800" cy="40233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5" name="Text 3"/>
          <p:cNvSpPr/>
          <p:nvPr/>
        </p:nvSpPr>
        <p:spPr>
          <a:xfrm>
            <a:off x="548640" y="960120"/>
            <a:ext cx="3657600" cy="320040"/>
          </a:xfrm>
          <a:prstGeom prst="rect">
            <a:avLst/>
          </a:prstGeom>
          <a:noFill/>
          <a:ln/>
        </p:spPr>
        <p:txBody>
          <a:bodyPr wrap="square" lIns="0" tIns="0" rIns="0" bIns="0" rtlCol="0" anchor="ctr"/>
          <a:lstStyle/>
          <a:p>
            <a:pPr marL="0" indent="0">
              <a:buNone/>
            </a:pPr>
            <a:r>
              <a:rPr lang="en-US" sz="1400" b="1" dirty="0">
                <a:solidFill>
                  <a:srgbClr val="1A2B4A"/>
                </a:solidFill>
                <a:latin typeface="Georgia" pitchFamily="34" charset="0"/>
                <a:ea typeface="Georgia" pitchFamily="34" charset="-122"/>
                <a:cs typeface="Georgia" pitchFamily="34" charset="-120"/>
              </a:rPr>
              <a:t>SQL Commands Used</a:t>
            </a:r>
            <a:endParaRPr lang="en-US" sz="1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3749040" cy="2026920"/>
        </p:xfrm>
        <a:graphic>
          <a:graphicData uri="http://schemas.openxmlformats.org/drawingml/2006/table">
            <a:tbl>
              <a:tblPr/>
              <a:tblGrid>
                <a:gridCol w="118872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tblGrid>
              <a:tr h="0">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Description</a:t>
                      </a:r>
                      <a:endParaRPr lang="en-US" sz="1000" dirty="0">
                        <a:latin typeface="Calibri" charset="0"/>
                        <a:ea typeface="Calibri" charset="0"/>
                        <a:cs typeface="Calibri" charset="0"/>
                      </a:endParaRPr>
                    </a:p>
                  </a:txBody>
                  <a:tcPr>
                    <a:lnL w="6350" cap="flat" cmpd="sng" algn="ctr">
                      <a:solidFill>
                        <a:srgbClr val="D0C8B8"/>
                      </a:solidFill>
                      <a:prstDash val="solid"/>
                      <a:round/>
                      <a:headEnd type="none" w="med" len="med"/>
                      <a:tailEnd type="none" w="med" len="med"/>
                    </a:lnL>
                    <a:lnR w="6350" cap="flat" cmpd="sng" algn="ctr">
                      <a:solidFill>
                        <a:srgbClr val="D0C8B8"/>
                      </a:solidFill>
                      <a:prstDash val="solid"/>
                      <a:round/>
                      <a:headEnd type="none" w="med" len="med"/>
                      <a:tailEnd type="none" w="med" len="med"/>
                    </a:lnR>
                    <a:lnT w="6350" cap="flat" cmpd="sng" algn="ctr">
                      <a:solidFill>
                        <a:srgbClr val="D0C8B8"/>
                      </a:solidFill>
                      <a:prstDash val="solid"/>
                      <a:round/>
                      <a:headEnd type="none" w="med" len="med"/>
                      <a:tailEnd type="none" w="med" len="med"/>
                    </a:lnT>
                    <a:lnB w="6350" cap="flat" cmpd="sng" algn="ctr">
                      <a:solidFill>
                        <a:srgbClr val="D0C8B8"/>
                      </a:solidFill>
                      <a:prstDash val="solid"/>
                      <a:round/>
                      <a:headEnd type="none" w="med" len="med"/>
                      <a:tailEnd type="none" w="med" len="med"/>
                    </a:lnB>
                    <a:solidFill>
                      <a:srgbClr val="16A085"/>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SQL Command</a:t>
                      </a:r>
                      <a:endParaRPr lang="en-US" sz="1000" dirty="0">
                        <a:latin typeface="Calibri" charset="0"/>
                        <a:ea typeface="Calibri" charset="0"/>
                        <a:cs typeface="Calibri" charset="0"/>
                      </a:endParaRPr>
                    </a:p>
                  </a:txBody>
                  <a:tcPr>
                    <a:lnL w="6350" cap="flat" cmpd="sng" algn="ctr">
                      <a:solidFill>
                        <a:srgbClr val="D0C8B8"/>
                      </a:solidFill>
                      <a:prstDash val="solid"/>
                      <a:round/>
                      <a:headEnd type="none" w="med" len="med"/>
                      <a:tailEnd type="none" w="med" len="med"/>
                    </a:lnL>
                    <a:lnR w="6350" cap="flat" cmpd="sng" algn="ctr">
                      <a:solidFill>
                        <a:srgbClr val="D0C8B8"/>
                      </a:solidFill>
                      <a:prstDash val="solid"/>
                      <a:round/>
                      <a:headEnd type="none" w="med" len="med"/>
                      <a:tailEnd type="none" w="med" len="med"/>
                    </a:lnR>
                    <a:lnT w="6350" cap="flat" cmpd="sng" algn="ctr">
                      <a:solidFill>
                        <a:srgbClr val="D0C8B8"/>
                      </a:solidFill>
                      <a:prstDash val="solid"/>
                      <a:round/>
                      <a:headEnd type="none" w="med" len="med"/>
                      <a:tailEnd type="none" w="med" len="med"/>
                    </a:lnT>
                    <a:lnB w="6350" cap="flat" cmpd="sng" algn="ctr">
                      <a:solidFill>
                        <a:srgbClr val="D0C8B8"/>
                      </a:solidFill>
                      <a:prstDash val="solid"/>
                      <a:round/>
                      <a:headEnd type="none" w="med" len="med"/>
                      <a:tailEnd type="none" w="med" len="med"/>
                    </a:lnB>
                    <a:solidFill>
                      <a:srgbClr val="16A085"/>
                    </a:solidFill>
                  </a:tcPr>
                </a:tc>
                <a:extLst>
                  <a:ext uri="{0D108BD9-81ED-4DB2-BD59-A6C34878D82A}">
                    <a16:rowId xmlns:a16="http://schemas.microsoft.com/office/drawing/2014/main" val="10000"/>
                  </a:ext>
                </a:extLst>
              </a:tr>
              <a:tr h="0">
                <a:tc>
                  <a:txBody>
                    <a:bodyPr/>
                    <a:lstStyle/>
                    <a:p>
                      <a:pPr marL="0" indent="0">
                        <a:buNone/>
                      </a:pPr>
                      <a:r>
                        <a:rPr lang="en-US" sz="900" dirty="0">
                          <a:solidFill>
                            <a:srgbClr val="1A2B4A"/>
                          </a:solidFill>
                          <a:latin typeface="Calibri" pitchFamily="34" charset="0"/>
                          <a:ea typeface="Calibri" pitchFamily="34" charset="-122"/>
                          <a:cs typeface="Calibri" pitchFamily="34" charset="-120"/>
                        </a:rPr>
                        <a:t>See all tables</a:t>
                      </a:r>
                      <a:endParaRPr lang="en-US" sz="900" dirty="0">
                        <a:latin typeface="Calibri" charset="0"/>
                        <a:ea typeface="Calibri" charset="0"/>
                        <a:cs typeface="Calibri" charset="0"/>
                      </a:endParaRPr>
                    </a:p>
                  </a:txBody>
                  <a:tcPr>
                    <a:lnL w="6350" cap="flat" cmpd="sng" algn="ctr">
                      <a:solidFill>
                        <a:srgbClr val="D0C8B8"/>
                      </a:solidFill>
                      <a:prstDash val="solid"/>
                      <a:round/>
                      <a:headEnd type="none" w="med" len="med"/>
                      <a:tailEnd type="none" w="med" len="med"/>
                    </a:lnL>
                    <a:lnR w="6350" cap="flat" cmpd="sng" algn="ctr">
                      <a:solidFill>
                        <a:srgbClr val="D0C8B8"/>
                      </a:solidFill>
                      <a:prstDash val="solid"/>
                      <a:round/>
                      <a:headEnd type="none" w="med" len="med"/>
                      <a:tailEnd type="none" w="med" len="med"/>
                    </a:lnR>
                    <a:lnT w="6350" cap="flat" cmpd="sng" algn="ctr">
                      <a:solidFill>
                        <a:srgbClr val="D0C8B8"/>
                      </a:solidFill>
                      <a:prstDash val="solid"/>
                      <a:round/>
                      <a:headEnd type="none" w="med" len="med"/>
                      <a:tailEnd type="none" w="med" len="med"/>
                    </a:lnT>
                    <a:lnB w="6350" cap="flat" cmpd="sng" algn="ctr">
                      <a:solidFill>
                        <a:srgbClr val="D0C8B8"/>
                      </a:solidFill>
                      <a:prstDash val="solid"/>
                      <a:round/>
                      <a:headEnd type="none" w="med" len="med"/>
                      <a:tailEnd type="none" w="med" len="med"/>
                    </a:lnB>
                  </a:tcPr>
                </a:tc>
                <a:tc>
                  <a:txBody>
                    <a:bodyPr/>
                    <a:lstStyle/>
                    <a:p>
                      <a:pPr marL="0" indent="0">
                        <a:buNone/>
                      </a:pPr>
                      <a:r>
                        <a:rPr lang="en-US" sz="900" dirty="0">
                          <a:solidFill>
                            <a:srgbClr val="1A2B4A"/>
                          </a:solidFill>
                          <a:latin typeface="Calibri" pitchFamily="34" charset="0"/>
                          <a:ea typeface="Calibri" pitchFamily="34" charset="-122"/>
                          <a:cs typeface="Calibri" pitchFamily="34" charset="-120"/>
                        </a:rPr>
                        <a:t>SHOW TABLES;</a:t>
                      </a:r>
                      <a:endParaRPr lang="en-US" sz="900" dirty="0">
                        <a:latin typeface="Calibri" charset="0"/>
                        <a:ea typeface="Calibri" charset="0"/>
                        <a:cs typeface="Calibri" charset="0"/>
                      </a:endParaRPr>
                    </a:p>
                  </a:txBody>
                  <a:tcPr>
                    <a:lnL w="6350" cap="flat" cmpd="sng" algn="ctr">
                      <a:solidFill>
                        <a:srgbClr val="D0C8B8"/>
                      </a:solidFill>
                      <a:prstDash val="solid"/>
                      <a:round/>
                      <a:headEnd type="none" w="med" len="med"/>
                      <a:tailEnd type="none" w="med" len="med"/>
                    </a:lnL>
                    <a:lnR w="6350" cap="flat" cmpd="sng" algn="ctr">
                      <a:solidFill>
                        <a:srgbClr val="D0C8B8"/>
                      </a:solidFill>
                      <a:prstDash val="solid"/>
                      <a:round/>
                      <a:headEnd type="none" w="med" len="med"/>
                      <a:tailEnd type="none" w="med" len="med"/>
                    </a:lnR>
                    <a:lnT w="6350" cap="flat" cmpd="sng" algn="ctr">
                      <a:solidFill>
                        <a:srgbClr val="D0C8B8"/>
                      </a:solidFill>
                      <a:prstDash val="solid"/>
                      <a:round/>
                      <a:headEnd type="none" w="med" len="med"/>
                      <a:tailEnd type="none" w="med" len="med"/>
                    </a:lnT>
                    <a:lnB w="6350" cap="flat" cmpd="sng" algn="ctr">
                      <a:solidFill>
                        <a:srgbClr val="D0C8B8"/>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900" dirty="0">
                          <a:solidFill>
                            <a:srgbClr val="1A2B4A"/>
                          </a:solidFill>
                          <a:latin typeface="Calibri" pitchFamily="34" charset="0"/>
                          <a:ea typeface="Calibri" pitchFamily="34" charset="-122"/>
                          <a:cs typeface="Calibri" pitchFamily="34" charset="-120"/>
                        </a:rPr>
                        <a:t>See all users</a:t>
                      </a:r>
                      <a:endParaRPr lang="en-US" sz="900" dirty="0">
                        <a:latin typeface="Calibri" charset="0"/>
                        <a:ea typeface="Calibri" charset="0"/>
                        <a:cs typeface="Calibri" charset="0"/>
                      </a:endParaRPr>
                    </a:p>
                  </a:txBody>
                  <a:tcPr>
                    <a:lnL w="6350" cap="flat" cmpd="sng" algn="ctr">
                      <a:solidFill>
                        <a:srgbClr val="D0C8B8"/>
                      </a:solidFill>
                      <a:prstDash val="solid"/>
                      <a:round/>
                      <a:headEnd type="none" w="med" len="med"/>
                      <a:tailEnd type="none" w="med" len="med"/>
                    </a:lnL>
                    <a:lnR w="6350" cap="flat" cmpd="sng" algn="ctr">
                      <a:solidFill>
                        <a:srgbClr val="D0C8B8"/>
                      </a:solidFill>
                      <a:prstDash val="solid"/>
                      <a:round/>
                      <a:headEnd type="none" w="med" len="med"/>
                      <a:tailEnd type="none" w="med" len="med"/>
                    </a:lnR>
                    <a:lnT w="6350" cap="flat" cmpd="sng" algn="ctr">
                      <a:solidFill>
                        <a:srgbClr val="D0C8B8"/>
                      </a:solidFill>
                      <a:prstDash val="solid"/>
                      <a:round/>
                      <a:headEnd type="none" w="med" len="med"/>
                      <a:tailEnd type="none" w="med" len="med"/>
                    </a:lnT>
                    <a:lnB w="6350" cap="flat" cmpd="sng" algn="ctr">
                      <a:solidFill>
                        <a:srgbClr val="D0C8B8"/>
                      </a:solidFill>
                      <a:prstDash val="solid"/>
                      <a:round/>
                      <a:headEnd type="none" w="med" len="med"/>
                      <a:tailEnd type="none" w="med" len="med"/>
                    </a:lnB>
                  </a:tcPr>
                </a:tc>
                <a:tc>
                  <a:txBody>
                    <a:bodyPr/>
                    <a:lstStyle/>
                    <a:p>
                      <a:pPr marL="0" indent="0">
                        <a:buNone/>
                      </a:pPr>
                      <a:r>
                        <a:rPr lang="en-US" sz="900" dirty="0">
                          <a:solidFill>
                            <a:srgbClr val="1A2B4A"/>
                          </a:solidFill>
                          <a:latin typeface="Calibri" pitchFamily="34" charset="0"/>
                          <a:ea typeface="Calibri" pitchFamily="34" charset="-122"/>
                          <a:cs typeface="Calibri" pitchFamily="34" charset="-120"/>
                        </a:rPr>
                        <a:t>SELECT id, username, created_at FROM users;</a:t>
                      </a:r>
                      <a:endParaRPr lang="en-US" sz="900" dirty="0">
                        <a:latin typeface="Calibri" charset="0"/>
                        <a:ea typeface="Calibri" charset="0"/>
                        <a:cs typeface="Calibri" charset="0"/>
                      </a:endParaRPr>
                    </a:p>
                  </a:txBody>
                  <a:tcPr>
                    <a:lnL w="6350" cap="flat" cmpd="sng" algn="ctr">
                      <a:solidFill>
                        <a:srgbClr val="D0C8B8"/>
                      </a:solidFill>
                      <a:prstDash val="solid"/>
                      <a:round/>
                      <a:headEnd type="none" w="med" len="med"/>
                      <a:tailEnd type="none" w="med" len="med"/>
                    </a:lnL>
                    <a:lnR w="6350" cap="flat" cmpd="sng" algn="ctr">
                      <a:solidFill>
                        <a:srgbClr val="D0C8B8"/>
                      </a:solidFill>
                      <a:prstDash val="solid"/>
                      <a:round/>
                      <a:headEnd type="none" w="med" len="med"/>
                      <a:tailEnd type="none" w="med" len="med"/>
                    </a:lnR>
                    <a:lnT w="6350" cap="flat" cmpd="sng" algn="ctr">
                      <a:solidFill>
                        <a:srgbClr val="D0C8B8"/>
                      </a:solidFill>
                      <a:prstDash val="solid"/>
                      <a:round/>
                      <a:headEnd type="none" w="med" len="med"/>
                      <a:tailEnd type="none" w="med" len="med"/>
                    </a:lnT>
                    <a:lnB w="6350" cap="flat" cmpd="sng" algn="ctr">
                      <a:solidFill>
                        <a:srgbClr val="D0C8B8"/>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900" dirty="0">
                          <a:solidFill>
                            <a:srgbClr val="1A2B4A"/>
                          </a:solidFill>
                          <a:latin typeface="Calibri" pitchFamily="34" charset="0"/>
                          <a:ea typeface="Calibri" pitchFamily="34" charset="-122"/>
                          <a:cs typeface="Calibri" pitchFamily="34" charset="-120"/>
                        </a:rPr>
                        <a:t>See all jobs</a:t>
                      </a:r>
                      <a:endParaRPr lang="en-US" sz="900" dirty="0">
                        <a:latin typeface="Calibri" charset="0"/>
                        <a:ea typeface="Calibri" charset="0"/>
                        <a:cs typeface="Calibri" charset="0"/>
                      </a:endParaRPr>
                    </a:p>
                  </a:txBody>
                  <a:tcPr>
                    <a:lnL w="6350" cap="flat" cmpd="sng" algn="ctr">
                      <a:solidFill>
                        <a:srgbClr val="D0C8B8"/>
                      </a:solidFill>
                      <a:prstDash val="solid"/>
                      <a:round/>
                      <a:headEnd type="none" w="med" len="med"/>
                      <a:tailEnd type="none" w="med" len="med"/>
                    </a:lnL>
                    <a:lnR w="6350" cap="flat" cmpd="sng" algn="ctr">
                      <a:solidFill>
                        <a:srgbClr val="D0C8B8"/>
                      </a:solidFill>
                      <a:prstDash val="solid"/>
                      <a:round/>
                      <a:headEnd type="none" w="med" len="med"/>
                      <a:tailEnd type="none" w="med" len="med"/>
                    </a:lnR>
                    <a:lnT w="6350" cap="flat" cmpd="sng" algn="ctr">
                      <a:solidFill>
                        <a:srgbClr val="D0C8B8"/>
                      </a:solidFill>
                      <a:prstDash val="solid"/>
                      <a:round/>
                      <a:headEnd type="none" w="med" len="med"/>
                      <a:tailEnd type="none" w="med" len="med"/>
                    </a:lnT>
                    <a:lnB w="6350" cap="flat" cmpd="sng" algn="ctr">
                      <a:solidFill>
                        <a:srgbClr val="D0C8B8"/>
                      </a:solidFill>
                      <a:prstDash val="solid"/>
                      <a:round/>
                      <a:headEnd type="none" w="med" len="med"/>
                      <a:tailEnd type="none" w="med" len="med"/>
                    </a:lnB>
                  </a:tcPr>
                </a:tc>
                <a:tc>
                  <a:txBody>
                    <a:bodyPr/>
                    <a:lstStyle/>
                    <a:p>
                      <a:pPr marL="0" indent="0">
                        <a:buNone/>
                      </a:pPr>
                      <a:r>
                        <a:rPr lang="en-US" sz="900" dirty="0">
                          <a:solidFill>
                            <a:srgbClr val="1A2B4A"/>
                          </a:solidFill>
                          <a:latin typeface="Calibri" pitchFamily="34" charset="0"/>
                          <a:ea typeface="Calibri" pitchFamily="34" charset="-122"/>
                          <a:cs typeface="Calibri" pitchFamily="34" charset="-120"/>
                        </a:rPr>
                        <a:t>SELECT id, title, budget, category, posted_by, created_at FROM jobs;</a:t>
                      </a:r>
                      <a:endParaRPr lang="en-US" sz="900" dirty="0">
                        <a:latin typeface="Calibri" charset="0"/>
                        <a:ea typeface="Calibri" charset="0"/>
                        <a:cs typeface="Calibri" charset="0"/>
                      </a:endParaRPr>
                    </a:p>
                  </a:txBody>
                  <a:tcPr>
                    <a:lnL w="6350" cap="flat" cmpd="sng" algn="ctr">
                      <a:solidFill>
                        <a:srgbClr val="D0C8B8"/>
                      </a:solidFill>
                      <a:prstDash val="solid"/>
                      <a:round/>
                      <a:headEnd type="none" w="med" len="med"/>
                      <a:tailEnd type="none" w="med" len="med"/>
                    </a:lnL>
                    <a:lnR w="6350" cap="flat" cmpd="sng" algn="ctr">
                      <a:solidFill>
                        <a:srgbClr val="D0C8B8"/>
                      </a:solidFill>
                      <a:prstDash val="solid"/>
                      <a:round/>
                      <a:headEnd type="none" w="med" len="med"/>
                      <a:tailEnd type="none" w="med" len="med"/>
                    </a:lnR>
                    <a:lnT w="6350" cap="flat" cmpd="sng" algn="ctr">
                      <a:solidFill>
                        <a:srgbClr val="D0C8B8"/>
                      </a:solidFill>
                      <a:prstDash val="solid"/>
                      <a:round/>
                      <a:headEnd type="none" w="med" len="med"/>
                      <a:tailEnd type="none" w="med" len="med"/>
                    </a:lnT>
                    <a:lnB w="6350" cap="flat" cmpd="sng" algn="ctr">
                      <a:solidFill>
                        <a:srgbClr val="D0C8B8"/>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900" dirty="0">
                          <a:solidFill>
                            <a:srgbClr val="1A2B4A"/>
                          </a:solidFill>
                          <a:latin typeface="Calibri" pitchFamily="34" charset="0"/>
                          <a:ea typeface="Calibri" pitchFamily="34" charset="-122"/>
                          <a:cs typeface="Calibri" pitchFamily="34" charset="-120"/>
                        </a:rPr>
                        <a:t>See all offers</a:t>
                      </a:r>
                      <a:endParaRPr lang="en-US" sz="900" dirty="0">
                        <a:latin typeface="Calibri" charset="0"/>
                        <a:ea typeface="Calibri" charset="0"/>
                        <a:cs typeface="Calibri" charset="0"/>
                      </a:endParaRPr>
                    </a:p>
                  </a:txBody>
                  <a:tcPr>
                    <a:lnL w="6350" cap="flat" cmpd="sng" algn="ctr">
                      <a:solidFill>
                        <a:srgbClr val="D0C8B8"/>
                      </a:solidFill>
                      <a:prstDash val="solid"/>
                      <a:round/>
                      <a:headEnd type="none" w="med" len="med"/>
                      <a:tailEnd type="none" w="med" len="med"/>
                    </a:lnL>
                    <a:lnR w="6350" cap="flat" cmpd="sng" algn="ctr">
                      <a:solidFill>
                        <a:srgbClr val="D0C8B8"/>
                      </a:solidFill>
                      <a:prstDash val="solid"/>
                      <a:round/>
                      <a:headEnd type="none" w="med" len="med"/>
                      <a:tailEnd type="none" w="med" len="med"/>
                    </a:lnR>
                    <a:lnT w="6350" cap="flat" cmpd="sng" algn="ctr">
                      <a:solidFill>
                        <a:srgbClr val="D0C8B8"/>
                      </a:solidFill>
                      <a:prstDash val="solid"/>
                      <a:round/>
                      <a:headEnd type="none" w="med" len="med"/>
                      <a:tailEnd type="none" w="med" len="med"/>
                    </a:lnT>
                    <a:lnB w="6350" cap="flat" cmpd="sng" algn="ctr">
                      <a:solidFill>
                        <a:srgbClr val="D0C8B8"/>
                      </a:solidFill>
                      <a:prstDash val="solid"/>
                      <a:round/>
                      <a:headEnd type="none" w="med" len="med"/>
                      <a:tailEnd type="none" w="med" len="med"/>
                    </a:lnB>
                  </a:tcPr>
                </a:tc>
                <a:tc>
                  <a:txBody>
                    <a:bodyPr/>
                    <a:lstStyle/>
                    <a:p>
                      <a:pPr marL="0" indent="0">
                        <a:buNone/>
                      </a:pPr>
                      <a:r>
                        <a:rPr lang="en-US" sz="900" dirty="0">
                          <a:solidFill>
                            <a:srgbClr val="1A2B4A"/>
                          </a:solidFill>
                          <a:latin typeface="Calibri" pitchFamily="34" charset="0"/>
                          <a:ea typeface="Calibri" pitchFamily="34" charset="-122"/>
                          <a:cs typeface="Calibri" pitchFamily="34" charset="-120"/>
                        </a:rPr>
                        <a:t>SELECT id, job_id, user_id, amount, message, created_at FROM offers;</a:t>
                      </a:r>
                      <a:endParaRPr lang="en-US" sz="900" dirty="0">
                        <a:latin typeface="Calibri" charset="0"/>
                        <a:ea typeface="Calibri" charset="0"/>
                        <a:cs typeface="Calibri" charset="0"/>
                      </a:endParaRPr>
                    </a:p>
                  </a:txBody>
                  <a:tcPr>
                    <a:lnL w="6350" cap="flat" cmpd="sng" algn="ctr">
                      <a:solidFill>
                        <a:srgbClr val="D0C8B8"/>
                      </a:solidFill>
                      <a:prstDash val="solid"/>
                      <a:round/>
                      <a:headEnd type="none" w="med" len="med"/>
                      <a:tailEnd type="none" w="med" len="med"/>
                    </a:lnL>
                    <a:lnR w="6350" cap="flat" cmpd="sng" algn="ctr">
                      <a:solidFill>
                        <a:srgbClr val="D0C8B8"/>
                      </a:solidFill>
                      <a:prstDash val="solid"/>
                      <a:round/>
                      <a:headEnd type="none" w="med" len="med"/>
                      <a:tailEnd type="none" w="med" len="med"/>
                    </a:lnR>
                    <a:lnT w="6350" cap="flat" cmpd="sng" algn="ctr">
                      <a:solidFill>
                        <a:srgbClr val="D0C8B8"/>
                      </a:solidFill>
                      <a:prstDash val="solid"/>
                      <a:round/>
                      <a:headEnd type="none" w="med" len="med"/>
                      <a:tailEnd type="none" w="med" len="med"/>
                    </a:lnT>
                    <a:lnB w="6350" cap="flat" cmpd="sng" algn="ctr">
                      <a:solidFill>
                        <a:srgbClr val="D0C8B8"/>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buNone/>
                      </a:pPr>
                      <a:r>
                        <a:rPr lang="en-US" sz="900" dirty="0">
                          <a:solidFill>
                            <a:srgbClr val="1A2B4A"/>
                          </a:solidFill>
                          <a:latin typeface="Calibri" pitchFamily="34" charset="0"/>
                          <a:ea typeface="Calibri" pitchFamily="34" charset="-122"/>
                          <a:cs typeface="Calibri" pitchFamily="34" charset="-120"/>
                        </a:rPr>
                        <a:t>Offers with names</a:t>
                      </a:r>
                      <a:endParaRPr lang="en-US" sz="900" dirty="0">
                        <a:latin typeface="Calibri" charset="0"/>
                        <a:ea typeface="Calibri" charset="0"/>
                        <a:cs typeface="Calibri" charset="0"/>
                      </a:endParaRPr>
                    </a:p>
                  </a:txBody>
                  <a:tcPr>
                    <a:lnL w="6350" cap="flat" cmpd="sng" algn="ctr">
                      <a:solidFill>
                        <a:srgbClr val="D0C8B8"/>
                      </a:solidFill>
                      <a:prstDash val="solid"/>
                      <a:round/>
                      <a:headEnd type="none" w="med" len="med"/>
                      <a:tailEnd type="none" w="med" len="med"/>
                    </a:lnL>
                    <a:lnR w="6350" cap="flat" cmpd="sng" algn="ctr">
                      <a:solidFill>
                        <a:srgbClr val="D0C8B8"/>
                      </a:solidFill>
                      <a:prstDash val="solid"/>
                      <a:round/>
                      <a:headEnd type="none" w="med" len="med"/>
                      <a:tailEnd type="none" w="med" len="med"/>
                    </a:lnR>
                    <a:lnT w="6350" cap="flat" cmpd="sng" algn="ctr">
                      <a:solidFill>
                        <a:srgbClr val="D0C8B8"/>
                      </a:solidFill>
                      <a:prstDash val="solid"/>
                      <a:round/>
                      <a:headEnd type="none" w="med" len="med"/>
                      <a:tailEnd type="none" w="med" len="med"/>
                    </a:lnT>
                    <a:lnB w="6350" cap="flat" cmpd="sng" algn="ctr">
                      <a:solidFill>
                        <a:srgbClr val="D0C8B8"/>
                      </a:solidFill>
                      <a:prstDash val="solid"/>
                      <a:round/>
                      <a:headEnd type="none" w="med" len="med"/>
                      <a:tailEnd type="none" w="med" len="med"/>
                    </a:lnB>
                  </a:tcPr>
                </a:tc>
                <a:tc>
                  <a:txBody>
                    <a:bodyPr/>
                    <a:lstStyle/>
                    <a:p>
                      <a:pPr marL="0" indent="0">
                        <a:buNone/>
                      </a:pPr>
                      <a:r>
                        <a:rPr lang="en-US" sz="900" dirty="0">
                          <a:solidFill>
                            <a:srgbClr val="1A2B4A"/>
                          </a:solidFill>
                          <a:latin typeface="Calibri" pitchFamily="34" charset="0"/>
                          <a:ea typeface="Calibri" pitchFamily="34" charset="-122"/>
                          <a:cs typeface="Calibri" pitchFamily="34" charset="-120"/>
                        </a:rPr>
                        <a:t>SELECT o.id, j.title, u.username, o.amount FROM offers o JOIN jobs j...</a:t>
                      </a:r>
                      <a:endParaRPr lang="en-US" sz="900" dirty="0">
                        <a:latin typeface="Calibri" charset="0"/>
                        <a:ea typeface="Calibri" charset="0"/>
                        <a:cs typeface="Calibri" charset="0"/>
                      </a:endParaRPr>
                    </a:p>
                  </a:txBody>
                  <a:tcPr>
                    <a:lnL w="6350" cap="flat" cmpd="sng" algn="ctr">
                      <a:solidFill>
                        <a:srgbClr val="D0C8B8"/>
                      </a:solidFill>
                      <a:prstDash val="solid"/>
                      <a:round/>
                      <a:headEnd type="none" w="med" len="med"/>
                      <a:tailEnd type="none" w="med" len="med"/>
                    </a:lnL>
                    <a:lnR w="6350" cap="flat" cmpd="sng" algn="ctr">
                      <a:solidFill>
                        <a:srgbClr val="D0C8B8"/>
                      </a:solidFill>
                      <a:prstDash val="solid"/>
                      <a:round/>
                      <a:headEnd type="none" w="med" len="med"/>
                      <a:tailEnd type="none" w="med" len="med"/>
                    </a:lnR>
                    <a:lnT w="6350" cap="flat" cmpd="sng" algn="ctr">
                      <a:solidFill>
                        <a:srgbClr val="D0C8B8"/>
                      </a:solidFill>
                      <a:prstDash val="solid"/>
                      <a:round/>
                      <a:headEnd type="none" w="med" len="med"/>
                      <a:tailEnd type="none" w="med" len="med"/>
                    </a:lnT>
                    <a:lnB w="6350" cap="flat" cmpd="sng" algn="ctr">
                      <a:solidFill>
                        <a:srgbClr val="D0C8B8"/>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0" indent="0">
                        <a:buNone/>
                      </a:pPr>
                      <a:r>
                        <a:rPr lang="en-US" sz="900" dirty="0">
                          <a:solidFill>
                            <a:srgbClr val="1A2B4A"/>
                          </a:solidFill>
                          <a:latin typeface="Calibri" pitchFamily="34" charset="0"/>
                          <a:ea typeface="Calibri" pitchFamily="34" charset="-122"/>
                          <a:cs typeface="Calibri" pitchFamily="34" charset="-120"/>
                        </a:rPr>
                        <a:t>Count records</a:t>
                      </a:r>
                      <a:endParaRPr lang="en-US" sz="900" dirty="0">
                        <a:latin typeface="Calibri" charset="0"/>
                        <a:ea typeface="Calibri" charset="0"/>
                        <a:cs typeface="Calibri" charset="0"/>
                      </a:endParaRPr>
                    </a:p>
                  </a:txBody>
                  <a:tcPr>
                    <a:lnL w="6350" cap="flat" cmpd="sng" algn="ctr">
                      <a:solidFill>
                        <a:srgbClr val="D0C8B8"/>
                      </a:solidFill>
                      <a:prstDash val="solid"/>
                      <a:round/>
                      <a:headEnd type="none" w="med" len="med"/>
                      <a:tailEnd type="none" w="med" len="med"/>
                    </a:lnL>
                    <a:lnR w="6350" cap="flat" cmpd="sng" algn="ctr">
                      <a:solidFill>
                        <a:srgbClr val="D0C8B8"/>
                      </a:solidFill>
                      <a:prstDash val="solid"/>
                      <a:round/>
                      <a:headEnd type="none" w="med" len="med"/>
                      <a:tailEnd type="none" w="med" len="med"/>
                    </a:lnR>
                    <a:lnT w="6350" cap="flat" cmpd="sng" algn="ctr">
                      <a:solidFill>
                        <a:srgbClr val="D0C8B8"/>
                      </a:solidFill>
                      <a:prstDash val="solid"/>
                      <a:round/>
                      <a:headEnd type="none" w="med" len="med"/>
                      <a:tailEnd type="none" w="med" len="med"/>
                    </a:lnT>
                    <a:lnB w="6350" cap="flat" cmpd="sng" algn="ctr">
                      <a:solidFill>
                        <a:srgbClr val="D0C8B8"/>
                      </a:solidFill>
                      <a:prstDash val="solid"/>
                      <a:round/>
                      <a:headEnd type="none" w="med" len="med"/>
                      <a:tailEnd type="none" w="med" len="med"/>
                    </a:lnB>
                  </a:tcPr>
                </a:tc>
                <a:tc>
                  <a:txBody>
                    <a:bodyPr/>
                    <a:lstStyle/>
                    <a:p>
                      <a:pPr marL="0" indent="0">
                        <a:buNone/>
                      </a:pPr>
                      <a:r>
                        <a:rPr lang="en-US" sz="900" dirty="0">
                          <a:solidFill>
                            <a:srgbClr val="1A2B4A"/>
                          </a:solidFill>
                          <a:latin typeface="Calibri" pitchFamily="34" charset="0"/>
                          <a:ea typeface="Calibri" pitchFamily="34" charset="-122"/>
                          <a:cs typeface="Calibri" pitchFamily="34" charset="-120"/>
                        </a:rPr>
                        <a:t>SELECT COUNT(*) FROM users/jobs/offers;</a:t>
                      </a:r>
                      <a:endParaRPr lang="en-US" sz="900" dirty="0">
                        <a:latin typeface="Calibri" charset="0"/>
                        <a:ea typeface="Calibri" charset="0"/>
                        <a:cs typeface="Calibri" charset="0"/>
                      </a:endParaRPr>
                    </a:p>
                  </a:txBody>
                  <a:tcPr>
                    <a:lnL w="6350" cap="flat" cmpd="sng" algn="ctr">
                      <a:solidFill>
                        <a:srgbClr val="D0C8B8"/>
                      </a:solidFill>
                      <a:prstDash val="solid"/>
                      <a:round/>
                      <a:headEnd type="none" w="med" len="med"/>
                      <a:tailEnd type="none" w="med" len="med"/>
                    </a:lnL>
                    <a:lnR w="6350" cap="flat" cmpd="sng" algn="ctr">
                      <a:solidFill>
                        <a:srgbClr val="D0C8B8"/>
                      </a:solidFill>
                      <a:prstDash val="solid"/>
                      <a:round/>
                      <a:headEnd type="none" w="med" len="med"/>
                      <a:tailEnd type="none" w="med" len="med"/>
                    </a:lnR>
                    <a:lnT w="6350" cap="flat" cmpd="sng" algn="ctr">
                      <a:solidFill>
                        <a:srgbClr val="D0C8B8"/>
                      </a:solidFill>
                      <a:prstDash val="solid"/>
                      <a:round/>
                      <a:headEnd type="none" w="med" len="med"/>
                      <a:tailEnd type="none" w="med" len="med"/>
                    </a:lnT>
                    <a:lnB w="6350" cap="flat" cmpd="sng" algn="ctr">
                      <a:solidFill>
                        <a:srgbClr val="D0C8B8"/>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7" name="Text 4"/>
          <p:cNvSpPr/>
          <p:nvPr/>
        </p:nvSpPr>
        <p:spPr>
          <a:xfrm>
            <a:off x="548640" y="3566160"/>
            <a:ext cx="3657600" cy="228600"/>
          </a:xfrm>
          <a:prstGeom prst="rect">
            <a:avLst/>
          </a:prstGeom>
          <a:noFill/>
          <a:ln/>
        </p:spPr>
        <p:txBody>
          <a:bodyPr wrap="square" lIns="0" tIns="0" rIns="0" bIns="0" rtlCol="0" anchor="ctr"/>
          <a:lstStyle/>
          <a:p>
            <a:pPr marL="0" indent="0">
              <a:buNone/>
            </a:pPr>
            <a:r>
              <a:rPr lang="en-US" sz="1000" b="1" dirty="0">
                <a:solidFill>
                  <a:srgbClr val="1A2B4A"/>
                </a:solidFill>
                <a:latin typeface="Calibri" pitchFamily="34" charset="0"/>
                <a:ea typeface="Calibri" pitchFamily="34" charset="-122"/>
                <a:cs typeface="Calibri" pitchFamily="34" charset="-120"/>
              </a:rPr>
              <a:t>SSM Connection Commands:</a:t>
            </a:r>
            <a:endParaRPr lang="en-US" sz="1000" dirty="0"/>
          </a:p>
        </p:txBody>
      </p:sp>
      <p:sp>
        <p:nvSpPr>
          <p:cNvPr id="8" name="Text 5"/>
          <p:cNvSpPr/>
          <p:nvPr/>
        </p:nvSpPr>
        <p:spPr>
          <a:xfrm>
            <a:off x="548640" y="3840480"/>
            <a:ext cx="3749040" cy="731520"/>
          </a:xfrm>
          <a:prstGeom prst="rect">
            <a:avLst/>
          </a:prstGeom>
          <a:noFill/>
          <a:ln/>
        </p:spPr>
        <p:txBody>
          <a:bodyPr wrap="square" lIns="0" tIns="0" rIns="0" bIns="0" rtlCol="0" anchor="ctr"/>
          <a:lstStyle/>
          <a:p>
            <a:pPr marL="0" indent="0">
              <a:buNone/>
            </a:pPr>
            <a:r>
              <a:rPr lang="en-US" sz="900" dirty="0">
                <a:solidFill>
                  <a:srgbClr val="5A6B7F"/>
                </a:solidFill>
                <a:latin typeface="Consolas" pitchFamily="34" charset="0"/>
                <a:ea typeface="Consolas" pitchFamily="34" charset="-122"/>
                <a:cs typeface="Consolas" pitchFamily="34" charset="-120"/>
              </a:rPr>
              <a:t>sudo su -</a:t>
            </a:r>
            <a:endParaRPr lang="en-US" sz="900" dirty="0"/>
          </a:p>
          <a:p>
            <a:pPr marL="0" indent="0">
              <a:buNone/>
            </a:pPr>
            <a:r>
              <a:rPr lang="en-US" sz="900" dirty="0">
                <a:solidFill>
                  <a:srgbClr val="5A6B7F"/>
                </a:solidFill>
                <a:latin typeface="Consolas" pitchFamily="34" charset="0"/>
                <a:ea typeface="Consolas" pitchFamily="34" charset="-122"/>
                <a:cs typeface="Consolas" pitchFamily="34" charset="-120"/>
              </a:rPr>
              <a:t>source /etc/taskmatch.env</a:t>
            </a:r>
            <a:endParaRPr lang="en-US" sz="900" dirty="0"/>
          </a:p>
          <a:p>
            <a:pPr marL="0" indent="0">
              <a:buNone/>
            </a:pPr>
            <a:r>
              <a:rPr lang="en-US" sz="900" dirty="0">
                <a:solidFill>
                  <a:srgbClr val="5A6B7F"/>
                </a:solidFill>
                <a:latin typeface="Consolas" pitchFamily="34" charset="0"/>
                <a:ea typeface="Consolas" pitchFamily="34" charset="-122"/>
                <a:cs typeface="Consolas" pitchFamily="34" charset="-120"/>
              </a:rPr>
              <a:t>mysql -h $DB_HOST -u $DB_USER -p$DB_PASS $DB_NAME</a:t>
            </a:r>
            <a:endParaRPr lang="en-US" sz="900" dirty="0"/>
          </a:p>
        </p:txBody>
      </p:sp>
      <p:sp>
        <p:nvSpPr>
          <p:cNvPr id="9" name="Shape 6"/>
          <p:cNvSpPr/>
          <p:nvPr/>
        </p:nvSpPr>
        <p:spPr>
          <a:xfrm>
            <a:off x="4663440" y="822960"/>
            <a:ext cx="4114800" cy="40233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0" name="Shape 7"/>
          <p:cNvSpPr/>
          <p:nvPr/>
        </p:nvSpPr>
        <p:spPr>
          <a:xfrm>
            <a:off x="4663440" y="822960"/>
            <a:ext cx="4114800" cy="54864"/>
          </a:xfrm>
          <a:prstGeom prst="rect">
            <a:avLst/>
          </a:prstGeom>
          <a:solidFill>
            <a:srgbClr val="16A085"/>
          </a:solidFill>
          <a:ln/>
        </p:spPr>
        <p:txBody>
          <a:bodyPr/>
          <a:lstStyle/>
          <a:p>
            <a:endParaRPr lang="en-US"/>
          </a:p>
        </p:txBody>
      </p:sp>
      <p:sp>
        <p:nvSpPr>
          <p:cNvPr id="11" name="Text 8"/>
          <p:cNvSpPr/>
          <p:nvPr/>
        </p:nvSpPr>
        <p:spPr>
          <a:xfrm>
            <a:off x="4846320" y="960120"/>
            <a:ext cx="3657600" cy="320040"/>
          </a:xfrm>
          <a:prstGeom prst="rect">
            <a:avLst/>
          </a:prstGeom>
          <a:noFill/>
          <a:ln/>
        </p:spPr>
        <p:txBody>
          <a:bodyPr wrap="square" lIns="0" tIns="0" rIns="0" bIns="0" rtlCol="0" anchor="ctr"/>
          <a:lstStyle/>
          <a:p>
            <a:pPr marL="0" indent="0">
              <a:buNone/>
            </a:pPr>
            <a:r>
              <a:rPr lang="en-US" sz="1400" b="1" dirty="0">
                <a:solidFill>
                  <a:srgbClr val="1A2B4A"/>
                </a:solidFill>
                <a:latin typeface="Georgia" pitchFamily="34" charset="0"/>
                <a:ea typeface="Georgia" pitchFamily="34" charset="-122"/>
                <a:cs typeface="Georgia" pitchFamily="34" charset="-120"/>
              </a:rPr>
              <a:t>Query Results</a:t>
            </a:r>
            <a:endParaRPr lang="en-US" sz="1400" dirty="0"/>
          </a:p>
        </p:txBody>
      </p:sp>
      <p:sp>
        <p:nvSpPr>
          <p:cNvPr id="12" name="Text 9"/>
          <p:cNvSpPr/>
          <p:nvPr/>
        </p:nvSpPr>
        <p:spPr>
          <a:xfrm>
            <a:off x="4846320" y="1280160"/>
            <a:ext cx="3749040" cy="274320"/>
          </a:xfrm>
          <a:prstGeom prst="rect">
            <a:avLst/>
          </a:prstGeom>
          <a:noFill/>
          <a:ln/>
        </p:spPr>
        <p:txBody>
          <a:bodyPr wrap="square" lIns="0" tIns="0" rIns="0" bIns="0" rtlCol="0" anchor="ctr"/>
          <a:lstStyle/>
          <a:p>
            <a:pPr marL="0" indent="0">
              <a:buNone/>
            </a:pPr>
            <a:r>
              <a:rPr lang="en-US" sz="1000" i="1" dirty="0">
                <a:solidFill>
                  <a:srgbClr val="5A6B7F"/>
                </a:solidFill>
                <a:latin typeface="Calibri" pitchFamily="34" charset="0"/>
                <a:ea typeface="Calibri" pitchFamily="34" charset="-122"/>
                <a:cs typeface="Calibri" pitchFamily="34" charset="-120"/>
              </a:rPr>
              <a:t>SQL output confirming all tables and data are successfully created</a:t>
            </a:r>
            <a:endParaRPr lang="en-US" sz="1000" dirty="0"/>
          </a:p>
        </p:txBody>
      </p:sp>
      <p:pic>
        <p:nvPicPr>
          <p:cNvPr id="13" name="Image 0" descr="/home/claude/media/image31.jpg"/>
          <p:cNvPicPr>
            <a:picLocks noChangeAspect="1"/>
          </p:cNvPicPr>
          <p:nvPr/>
        </p:nvPicPr>
        <p:blipFill>
          <a:blip r:embed="rId3"/>
          <a:srcRect/>
          <a:stretch/>
        </p:blipFill>
        <p:spPr>
          <a:xfrm>
            <a:off x="4846320" y="1645920"/>
            <a:ext cx="3749040" cy="3017520"/>
          </a:xfrm>
          <a:prstGeom prst="rect">
            <a:avLst/>
          </a:prstGeom>
        </p:spPr>
      </p:pic>
      <p:sp>
        <p:nvSpPr>
          <p:cNvPr id="14" name="Text 10"/>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5A6B7F"/>
                </a:solidFill>
                <a:latin typeface="Calibri" pitchFamily="34" charset="0"/>
                <a:ea typeface="Calibri" pitchFamily="34" charset="-122"/>
                <a:cs typeface="Calibri" pitchFamily="34" charset="-120"/>
              </a:rPr>
              <a:t>18 / 25</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AF8"/>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16A085"/>
          </a:solidFill>
          <a:ln/>
        </p:spPr>
        <p:txBody>
          <a:bodyPr/>
          <a:lstStyle/>
          <a:p>
            <a:endParaRPr lang="en-US"/>
          </a:p>
        </p:txBody>
      </p:sp>
      <p:sp>
        <p:nvSpPr>
          <p:cNvPr id="3" name="Text 1"/>
          <p:cNvSpPr/>
          <p:nvPr/>
        </p:nvSpPr>
        <p:spPr>
          <a:xfrm>
            <a:off x="457200" y="228600"/>
            <a:ext cx="5486400" cy="502920"/>
          </a:xfrm>
          <a:prstGeom prst="rect">
            <a:avLst/>
          </a:prstGeom>
          <a:noFill/>
          <a:ln/>
        </p:spPr>
        <p:txBody>
          <a:bodyPr wrap="square" lIns="0" tIns="0" rIns="0" bIns="0" rtlCol="0" anchor="ctr"/>
          <a:lstStyle/>
          <a:p>
            <a:pPr marL="0" indent="0">
              <a:buNone/>
            </a:pPr>
            <a:r>
              <a:rPr lang="en-US" sz="2400" b="1" dirty="0">
                <a:solidFill>
                  <a:srgbClr val="1A2B4A"/>
                </a:solidFill>
                <a:latin typeface="Georgia" pitchFamily="34" charset="0"/>
                <a:ea typeface="Georgia" pitchFamily="34" charset="-122"/>
                <a:cs typeface="Georgia" pitchFamily="34" charset="-120"/>
              </a:rPr>
              <a:t>APPLICATION VERIFICATION</a:t>
            </a:r>
            <a:endParaRPr lang="en-US" sz="2400" dirty="0"/>
          </a:p>
        </p:txBody>
      </p:sp>
      <p:sp>
        <p:nvSpPr>
          <p:cNvPr id="4" name="Text 2"/>
          <p:cNvSpPr/>
          <p:nvPr/>
        </p:nvSpPr>
        <p:spPr>
          <a:xfrm>
            <a:off x="457200" y="685800"/>
            <a:ext cx="7315200" cy="274320"/>
          </a:xfrm>
          <a:prstGeom prst="rect">
            <a:avLst/>
          </a:prstGeom>
          <a:noFill/>
          <a:ln/>
        </p:spPr>
        <p:txBody>
          <a:bodyPr wrap="square" lIns="0" tIns="0" rIns="0" bIns="0" rtlCol="0" anchor="ctr"/>
          <a:lstStyle/>
          <a:p>
            <a:pPr marL="0" indent="0">
              <a:buNone/>
            </a:pPr>
            <a:r>
              <a:rPr lang="en-US" sz="1100" i="1" dirty="0">
                <a:solidFill>
                  <a:srgbClr val="5A6B7F"/>
                </a:solidFill>
                <a:latin typeface="Calibri" pitchFamily="34" charset="0"/>
                <a:ea typeface="Calibri" pitchFamily="34" charset="-122"/>
                <a:cs typeface="Calibri" pitchFamily="34" charset="-120"/>
              </a:rPr>
              <a:t>Frontend data matches SQL query results confirming end-to-end integration</a:t>
            </a:r>
            <a:endParaRPr lang="en-US" sz="1100" dirty="0"/>
          </a:p>
        </p:txBody>
      </p:sp>
      <p:sp>
        <p:nvSpPr>
          <p:cNvPr id="5" name="Shape 3"/>
          <p:cNvSpPr/>
          <p:nvPr/>
        </p:nvSpPr>
        <p:spPr>
          <a:xfrm>
            <a:off x="457200" y="1097280"/>
            <a:ext cx="4023360" cy="34747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6" name="Text 4"/>
          <p:cNvSpPr/>
          <p:nvPr/>
        </p:nvSpPr>
        <p:spPr>
          <a:xfrm>
            <a:off x="640080" y="1188720"/>
            <a:ext cx="3657600" cy="274320"/>
          </a:xfrm>
          <a:prstGeom prst="rect">
            <a:avLst/>
          </a:prstGeom>
          <a:noFill/>
          <a:ln/>
        </p:spPr>
        <p:txBody>
          <a:bodyPr wrap="square" lIns="0" tIns="0" rIns="0" bIns="0" rtlCol="0" anchor="ctr"/>
          <a:lstStyle/>
          <a:p>
            <a:pPr marL="0" indent="0">
              <a:buNone/>
            </a:pPr>
            <a:r>
              <a:rPr lang="en-US" sz="1200" b="1" dirty="0">
                <a:solidFill>
                  <a:srgbClr val="1A2B4A"/>
                </a:solidFill>
                <a:latin typeface="Calibri" pitchFamily="34" charset="0"/>
                <a:ea typeface="Calibri" pitchFamily="34" charset="-122"/>
                <a:cs typeface="Calibri" pitchFamily="34" charset="-120"/>
              </a:rPr>
              <a:t>Job Listings Display</a:t>
            </a:r>
            <a:endParaRPr lang="en-US" sz="1200" dirty="0"/>
          </a:p>
        </p:txBody>
      </p:sp>
      <p:pic>
        <p:nvPicPr>
          <p:cNvPr id="7" name="Image 0" descr="/home/claude/media/image32.jpg"/>
          <p:cNvPicPr>
            <a:picLocks noChangeAspect="1"/>
          </p:cNvPicPr>
          <p:nvPr/>
        </p:nvPicPr>
        <p:blipFill>
          <a:blip r:embed="rId3"/>
          <a:srcRect/>
          <a:stretch/>
        </p:blipFill>
        <p:spPr>
          <a:xfrm>
            <a:off x="640080" y="1554480"/>
            <a:ext cx="3657600" cy="2082618"/>
          </a:xfrm>
          <a:prstGeom prst="rect">
            <a:avLst/>
          </a:prstGeom>
        </p:spPr>
      </p:pic>
      <p:pic>
        <p:nvPicPr>
          <p:cNvPr id="8" name="Image 1" descr="/home/claude/media/image33.jpg"/>
          <p:cNvPicPr>
            <a:picLocks noChangeAspect="1"/>
          </p:cNvPicPr>
          <p:nvPr/>
        </p:nvPicPr>
        <p:blipFill>
          <a:blip r:embed="rId4"/>
          <a:srcRect r="30448"/>
          <a:stretch>
            <a:fillRect/>
          </a:stretch>
        </p:blipFill>
        <p:spPr>
          <a:xfrm>
            <a:off x="4572000" y="1257403"/>
            <a:ext cx="4704456" cy="2974260"/>
          </a:xfrm>
          <a:prstGeom prst="rect">
            <a:avLst/>
          </a:prstGeom>
        </p:spPr>
      </p:pic>
      <p:sp>
        <p:nvSpPr>
          <p:cNvPr id="13" name="Text 8"/>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5A6B7F"/>
                </a:solidFill>
                <a:latin typeface="Calibri" pitchFamily="34" charset="0"/>
                <a:ea typeface="Calibri" pitchFamily="34" charset="-122"/>
                <a:cs typeface="Calibri" pitchFamily="34" charset="-120"/>
              </a:rPr>
              <a:t>19 / 25</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DE8D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39C12"/>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457200" y="274320"/>
            <a:ext cx="365760" cy="365760"/>
          </a:xfrm>
          <a:prstGeom prst="rect">
            <a:avLst/>
          </a:prstGeom>
        </p:spPr>
      </p:pic>
      <p:sp>
        <p:nvSpPr>
          <p:cNvPr id="4" name="Text 1"/>
          <p:cNvSpPr/>
          <p:nvPr/>
        </p:nvSpPr>
        <p:spPr>
          <a:xfrm>
            <a:off x="914400" y="228600"/>
            <a:ext cx="5486400" cy="502920"/>
          </a:xfrm>
          <a:prstGeom prst="rect">
            <a:avLst/>
          </a:prstGeom>
          <a:noFill/>
          <a:ln/>
        </p:spPr>
        <p:txBody>
          <a:bodyPr wrap="square" lIns="0" tIns="0" rIns="0" bIns="0" rtlCol="0" anchor="ctr"/>
          <a:lstStyle/>
          <a:p>
            <a:pPr marL="0" indent="0">
              <a:buNone/>
            </a:pPr>
            <a:r>
              <a:rPr lang="en-US" sz="2800" b="1" dirty="0">
                <a:solidFill>
                  <a:srgbClr val="1A2B4A"/>
                </a:solidFill>
                <a:latin typeface="Georgia" pitchFamily="34" charset="0"/>
                <a:ea typeface="Georgia" pitchFamily="34" charset="-122"/>
                <a:cs typeface="Georgia" pitchFamily="34" charset="-120"/>
              </a:rPr>
              <a:t>TESTING &amp; VALIDATION</a:t>
            </a:r>
            <a:endParaRPr lang="en-US" sz="2800" dirty="0"/>
          </a:p>
        </p:txBody>
      </p:sp>
      <p:sp>
        <p:nvSpPr>
          <p:cNvPr id="5" name="Text 2"/>
          <p:cNvSpPr/>
          <p:nvPr/>
        </p:nvSpPr>
        <p:spPr>
          <a:xfrm>
            <a:off x="457200" y="749808"/>
            <a:ext cx="7315200" cy="274320"/>
          </a:xfrm>
          <a:prstGeom prst="rect">
            <a:avLst/>
          </a:prstGeom>
          <a:noFill/>
          <a:ln/>
        </p:spPr>
        <p:txBody>
          <a:bodyPr wrap="square" lIns="0" tIns="0" rIns="0" bIns="0" rtlCol="0" anchor="ctr"/>
          <a:lstStyle/>
          <a:p>
            <a:pPr marL="0" indent="0">
              <a:buNone/>
            </a:pPr>
            <a:r>
              <a:rPr lang="en-US" sz="1200" i="1" dirty="0">
                <a:solidFill>
                  <a:srgbClr val="1A6B5A"/>
                </a:solidFill>
                <a:latin typeface="Calibri" pitchFamily="34" charset="0"/>
                <a:ea typeface="Calibri" pitchFamily="34" charset="-122"/>
                <a:cs typeface="Calibri" pitchFamily="34" charset="-120"/>
              </a:rPr>
              <a:t>Simulated failure scenarios to validate high availability, fault tolerance, and reliability</a:t>
            </a:r>
            <a:endParaRPr lang="en-US" sz="1200" dirty="0"/>
          </a:p>
        </p:txBody>
      </p:sp>
      <p:sp>
        <p:nvSpPr>
          <p:cNvPr id="6" name="Shape 3"/>
          <p:cNvSpPr/>
          <p:nvPr/>
        </p:nvSpPr>
        <p:spPr>
          <a:xfrm>
            <a:off x="457200" y="1371600"/>
            <a:ext cx="4023360" cy="3200400"/>
          </a:xfrm>
          <a:prstGeom prst="rect">
            <a:avLst/>
          </a:prstGeom>
          <a:solidFill>
            <a:srgbClr val="F8F4EC"/>
          </a:solidFill>
          <a:ln/>
          <a:effectLst>
            <a:outerShdw blurRad="76200" dist="25400" dir="8100000" algn="bl" rotWithShape="0">
              <a:srgbClr val="000000">
                <a:alpha val="12000"/>
              </a:srgbClr>
            </a:outerShdw>
          </a:effectLst>
        </p:spPr>
        <p:txBody>
          <a:bodyPr/>
          <a:lstStyle/>
          <a:p>
            <a:endParaRPr lang="en-US"/>
          </a:p>
        </p:txBody>
      </p:sp>
      <p:sp>
        <p:nvSpPr>
          <p:cNvPr id="7" name="Text 4"/>
          <p:cNvSpPr/>
          <p:nvPr/>
        </p:nvSpPr>
        <p:spPr>
          <a:xfrm>
            <a:off x="640080" y="1508760"/>
            <a:ext cx="914400" cy="274320"/>
          </a:xfrm>
          <a:prstGeom prst="rect">
            <a:avLst/>
          </a:prstGeom>
          <a:noFill/>
          <a:ln/>
        </p:spPr>
        <p:txBody>
          <a:bodyPr wrap="square" lIns="0" tIns="0" rIns="0" bIns="0" rtlCol="0" anchor="ctr"/>
          <a:lstStyle/>
          <a:p>
            <a:pPr marL="0" indent="0">
              <a:buNone/>
            </a:pPr>
            <a:r>
              <a:rPr lang="en-US" sz="1000" b="1" dirty="0">
                <a:solidFill>
                  <a:srgbClr val="F39C12"/>
                </a:solidFill>
                <a:latin typeface="Calibri" pitchFamily="34" charset="0"/>
                <a:ea typeface="Calibri" pitchFamily="34" charset="-122"/>
                <a:cs typeface="Calibri" pitchFamily="34" charset="-120"/>
              </a:rPr>
              <a:t>TEST 1</a:t>
            </a:r>
            <a:endParaRPr lang="en-US" sz="1000" dirty="0"/>
          </a:p>
        </p:txBody>
      </p:sp>
      <p:sp>
        <p:nvSpPr>
          <p:cNvPr id="8" name="Text 5"/>
          <p:cNvSpPr/>
          <p:nvPr/>
        </p:nvSpPr>
        <p:spPr>
          <a:xfrm>
            <a:off x="640080" y="1783080"/>
            <a:ext cx="3657600" cy="320040"/>
          </a:xfrm>
          <a:prstGeom prst="rect">
            <a:avLst/>
          </a:prstGeom>
          <a:noFill/>
          <a:ln/>
        </p:spPr>
        <p:txBody>
          <a:bodyPr wrap="square" lIns="0" tIns="0" rIns="0" bIns="0" rtlCol="0" anchor="ctr"/>
          <a:lstStyle/>
          <a:p>
            <a:pPr marL="0" indent="0">
              <a:buNone/>
            </a:pPr>
            <a:r>
              <a:rPr lang="en-US" sz="1600" b="1" dirty="0">
                <a:solidFill>
                  <a:srgbClr val="1A2B4A"/>
                </a:solidFill>
                <a:latin typeface="Georgia" pitchFamily="34" charset="0"/>
                <a:ea typeface="Georgia" pitchFamily="34" charset="-122"/>
                <a:cs typeface="Georgia" pitchFamily="34" charset="-120"/>
              </a:rPr>
              <a:t>Compute Tier HA</a:t>
            </a:r>
            <a:endParaRPr lang="en-US" sz="1600" dirty="0"/>
          </a:p>
        </p:txBody>
      </p:sp>
      <p:sp>
        <p:nvSpPr>
          <p:cNvPr id="9" name="Text 6"/>
          <p:cNvSpPr/>
          <p:nvPr/>
        </p:nvSpPr>
        <p:spPr>
          <a:xfrm>
            <a:off x="640080" y="2194560"/>
            <a:ext cx="3657600" cy="274320"/>
          </a:xfrm>
          <a:prstGeom prst="rect">
            <a:avLst/>
          </a:prstGeom>
          <a:noFill/>
          <a:ln/>
        </p:spPr>
        <p:txBody>
          <a:bodyPr wrap="square" lIns="0" tIns="0" rIns="0" bIns="0" rtlCol="0" anchor="ctr"/>
          <a:lstStyle/>
          <a:p>
            <a:pPr marL="0" indent="0">
              <a:buNone/>
            </a:pPr>
            <a:r>
              <a:rPr lang="en-US" sz="1100" b="1" dirty="0">
                <a:solidFill>
                  <a:srgbClr val="16A085"/>
                </a:solidFill>
                <a:latin typeface="Calibri" pitchFamily="34" charset="0"/>
                <a:ea typeface="Calibri" pitchFamily="34" charset="-122"/>
                <a:cs typeface="Calibri" pitchFamily="34" charset="-120"/>
              </a:rPr>
              <a:t>Method: </a:t>
            </a:r>
            <a:r>
              <a:rPr lang="en-US" sz="1100" dirty="0">
                <a:solidFill>
                  <a:srgbClr val="1A6B5A"/>
                </a:solidFill>
                <a:latin typeface="Calibri" pitchFamily="34" charset="0"/>
                <a:ea typeface="Calibri" pitchFamily="34" charset="-122"/>
                <a:cs typeface="Calibri" pitchFamily="34" charset="-120"/>
              </a:rPr>
              <a:t>Manual termination of EC2 instance</a:t>
            </a:r>
            <a:endParaRPr lang="en-US" sz="1100" dirty="0"/>
          </a:p>
        </p:txBody>
      </p:sp>
      <p:sp>
        <p:nvSpPr>
          <p:cNvPr id="10" name="Text 7"/>
          <p:cNvSpPr/>
          <p:nvPr/>
        </p:nvSpPr>
        <p:spPr>
          <a:xfrm>
            <a:off x="640080" y="2514600"/>
            <a:ext cx="3657600" cy="365760"/>
          </a:xfrm>
          <a:prstGeom prst="rect">
            <a:avLst/>
          </a:prstGeom>
          <a:noFill/>
          <a:ln/>
        </p:spPr>
        <p:txBody>
          <a:bodyPr wrap="square" lIns="0" tIns="0" rIns="0" bIns="0" rtlCol="0" anchor="ctr"/>
          <a:lstStyle/>
          <a:p>
            <a:pPr marL="0" indent="0">
              <a:buNone/>
            </a:pPr>
            <a:r>
              <a:rPr lang="en-US" sz="1100" b="1" dirty="0">
                <a:solidFill>
                  <a:srgbClr val="16A085"/>
                </a:solidFill>
                <a:latin typeface="Calibri" pitchFamily="34" charset="0"/>
                <a:ea typeface="Calibri" pitchFamily="34" charset="-122"/>
                <a:cs typeface="Calibri" pitchFamily="34" charset="-120"/>
              </a:rPr>
              <a:t>Expected: </a:t>
            </a:r>
            <a:r>
              <a:rPr lang="en-US" sz="1100" dirty="0">
                <a:solidFill>
                  <a:srgbClr val="1A6B5A"/>
                </a:solidFill>
                <a:latin typeface="Calibri" pitchFamily="34" charset="0"/>
                <a:ea typeface="Calibri" pitchFamily="34" charset="-122"/>
                <a:cs typeface="Calibri" pitchFamily="34" charset="-120"/>
              </a:rPr>
              <a:t>ASG replaces instance, ALB reroutes traffic automatically</a:t>
            </a:r>
            <a:endParaRPr lang="en-US" sz="1100" dirty="0"/>
          </a:p>
        </p:txBody>
      </p:sp>
      <p:pic>
        <p:nvPicPr>
          <p:cNvPr id="11" name="Image 1" descr="/home/claude/media/image35.jpg"/>
          <p:cNvPicPr>
            <a:picLocks noChangeAspect="1"/>
          </p:cNvPicPr>
          <p:nvPr/>
        </p:nvPicPr>
        <p:blipFill>
          <a:blip r:embed="rId4"/>
          <a:srcRect/>
          <a:stretch/>
        </p:blipFill>
        <p:spPr>
          <a:xfrm>
            <a:off x="640080" y="2926080"/>
            <a:ext cx="2769853" cy="1371600"/>
          </a:xfrm>
          <a:prstGeom prst="rect">
            <a:avLst/>
          </a:prstGeom>
        </p:spPr>
      </p:pic>
      <p:sp>
        <p:nvSpPr>
          <p:cNvPr id="12" name="Shape 8"/>
          <p:cNvSpPr/>
          <p:nvPr/>
        </p:nvSpPr>
        <p:spPr>
          <a:xfrm>
            <a:off x="4754880" y="1371600"/>
            <a:ext cx="4023360" cy="3200400"/>
          </a:xfrm>
          <a:prstGeom prst="rect">
            <a:avLst/>
          </a:prstGeom>
          <a:solidFill>
            <a:srgbClr val="F8F4EC"/>
          </a:solidFill>
          <a:ln/>
          <a:effectLst>
            <a:outerShdw blurRad="76200" dist="25400" dir="8100000" algn="bl" rotWithShape="0">
              <a:srgbClr val="000000">
                <a:alpha val="12000"/>
              </a:srgbClr>
            </a:outerShdw>
          </a:effectLst>
        </p:spPr>
        <p:txBody>
          <a:bodyPr/>
          <a:lstStyle/>
          <a:p>
            <a:endParaRPr lang="en-US"/>
          </a:p>
        </p:txBody>
      </p:sp>
      <p:sp>
        <p:nvSpPr>
          <p:cNvPr id="13" name="Text 9"/>
          <p:cNvSpPr/>
          <p:nvPr/>
        </p:nvSpPr>
        <p:spPr>
          <a:xfrm>
            <a:off x="4937760" y="1508760"/>
            <a:ext cx="914400" cy="274320"/>
          </a:xfrm>
          <a:prstGeom prst="rect">
            <a:avLst/>
          </a:prstGeom>
          <a:noFill/>
          <a:ln/>
        </p:spPr>
        <p:txBody>
          <a:bodyPr wrap="square" lIns="0" tIns="0" rIns="0" bIns="0" rtlCol="0" anchor="ctr"/>
          <a:lstStyle/>
          <a:p>
            <a:pPr marL="0" indent="0">
              <a:buNone/>
            </a:pPr>
            <a:r>
              <a:rPr lang="en-US" sz="1000" b="1" dirty="0">
                <a:solidFill>
                  <a:srgbClr val="F39C12"/>
                </a:solidFill>
                <a:latin typeface="Calibri" pitchFamily="34" charset="0"/>
                <a:ea typeface="Calibri" pitchFamily="34" charset="-122"/>
                <a:cs typeface="Calibri" pitchFamily="34" charset="-120"/>
              </a:rPr>
              <a:t>TEST 2</a:t>
            </a:r>
            <a:endParaRPr lang="en-US" sz="1000" dirty="0"/>
          </a:p>
        </p:txBody>
      </p:sp>
      <p:sp>
        <p:nvSpPr>
          <p:cNvPr id="14" name="Text 10"/>
          <p:cNvSpPr/>
          <p:nvPr/>
        </p:nvSpPr>
        <p:spPr>
          <a:xfrm>
            <a:off x="4937760" y="1783080"/>
            <a:ext cx="3657600" cy="320040"/>
          </a:xfrm>
          <a:prstGeom prst="rect">
            <a:avLst/>
          </a:prstGeom>
          <a:noFill/>
          <a:ln/>
        </p:spPr>
        <p:txBody>
          <a:bodyPr wrap="square" lIns="0" tIns="0" rIns="0" bIns="0" rtlCol="0" anchor="ctr"/>
          <a:lstStyle/>
          <a:p>
            <a:pPr marL="0" indent="0">
              <a:buNone/>
            </a:pPr>
            <a:r>
              <a:rPr lang="en-US" sz="1600" b="1" dirty="0">
                <a:solidFill>
                  <a:srgbClr val="1A2B4A"/>
                </a:solidFill>
                <a:latin typeface="Georgia" pitchFamily="34" charset="0"/>
                <a:ea typeface="Georgia" pitchFamily="34" charset="-122"/>
                <a:cs typeface="Georgia" pitchFamily="34" charset="-120"/>
              </a:rPr>
              <a:t>Database Tier HA</a:t>
            </a:r>
            <a:endParaRPr lang="en-US" sz="1600" dirty="0"/>
          </a:p>
        </p:txBody>
      </p:sp>
      <p:sp>
        <p:nvSpPr>
          <p:cNvPr id="15" name="Text 11"/>
          <p:cNvSpPr/>
          <p:nvPr/>
        </p:nvSpPr>
        <p:spPr>
          <a:xfrm>
            <a:off x="4937760" y="2194560"/>
            <a:ext cx="3657600" cy="274320"/>
          </a:xfrm>
          <a:prstGeom prst="rect">
            <a:avLst/>
          </a:prstGeom>
          <a:noFill/>
          <a:ln/>
        </p:spPr>
        <p:txBody>
          <a:bodyPr wrap="square" lIns="0" tIns="0" rIns="0" bIns="0" rtlCol="0" anchor="ctr"/>
          <a:lstStyle/>
          <a:p>
            <a:pPr marL="0" indent="0">
              <a:buNone/>
            </a:pPr>
            <a:r>
              <a:rPr lang="en-US" sz="1100" b="1" dirty="0">
                <a:solidFill>
                  <a:srgbClr val="16A085"/>
                </a:solidFill>
                <a:latin typeface="Calibri" pitchFamily="34" charset="0"/>
                <a:ea typeface="Calibri" pitchFamily="34" charset="-122"/>
                <a:cs typeface="Calibri" pitchFamily="34" charset="-120"/>
              </a:rPr>
              <a:t>Method: </a:t>
            </a:r>
            <a:r>
              <a:rPr lang="en-US" sz="1100" dirty="0">
                <a:solidFill>
                  <a:srgbClr val="1A6B5A"/>
                </a:solidFill>
                <a:latin typeface="Calibri" pitchFamily="34" charset="0"/>
                <a:ea typeface="Calibri" pitchFamily="34" charset="-122"/>
                <a:cs typeface="Calibri" pitchFamily="34" charset="-120"/>
              </a:rPr>
              <a:t>Manual RDS failover reboot</a:t>
            </a:r>
            <a:endParaRPr lang="en-US" sz="1100" dirty="0"/>
          </a:p>
        </p:txBody>
      </p:sp>
      <p:sp>
        <p:nvSpPr>
          <p:cNvPr id="16" name="Text 12"/>
          <p:cNvSpPr/>
          <p:nvPr/>
        </p:nvSpPr>
        <p:spPr>
          <a:xfrm>
            <a:off x="4937760" y="2514600"/>
            <a:ext cx="3657600" cy="365760"/>
          </a:xfrm>
          <a:prstGeom prst="rect">
            <a:avLst/>
          </a:prstGeom>
          <a:noFill/>
          <a:ln/>
        </p:spPr>
        <p:txBody>
          <a:bodyPr wrap="square" lIns="0" tIns="0" rIns="0" bIns="0" rtlCol="0" anchor="ctr"/>
          <a:lstStyle/>
          <a:p>
            <a:pPr marL="0" indent="0">
              <a:buNone/>
            </a:pPr>
            <a:r>
              <a:rPr lang="en-US" sz="1100" b="1" dirty="0">
                <a:solidFill>
                  <a:srgbClr val="16A085"/>
                </a:solidFill>
                <a:latin typeface="Calibri" pitchFamily="34" charset="0"/>
                <a:ea typeface="Calibri" pitchFamily="34" charset="-122"/>
                <a:cs typeface="Calibri" pitchFamily="34" charset="-120"/>
              </a:rPr>
              <a:t>Expected: </a:t>
            </a:r>
            <a:r>
              <a:rPr lang="en-US" sz="1100" dirty="0">
                <a:solidFill>
                  <a:srgbClr val="1A6B5A"/>
                </a:solidFill>
                <a:latin typeface="Calibri" pitchFamily="34" charset="0"/>
                <a:ea typeface="Calibri" pitchFamily="34" charset="-122"/>
                <a:cs typeface="Calibri" pitchFamily="34" charset="-120"/>
              </a:rPr>
              <a:t>Standby promotes to primary, app reconnects automatically</a:t>
            </a:r>
            <a:endParaRPr lang="en-US" sz="1100" dirty="0"/>
          </a:p>
        </p:txBody>
      </p:sp>
      <p:pic>
        <p:nvPicPr>
          <p:cNvPr id="17" name="Image 2" descr="/home/claude/media/image41.jpg"/>
          <p:cNvPicPr>
            <a:picLocks noChangeAspect="1"/>
          </p:cNvPicPr>
          <p:nvPr/>
        </p:nvPicPr>
        <p:blipFill>
          <a:blip r:embed="rId5"/>
          <a:srcRect/>
          <a:stretch/>
        </p:blipFill>
        <p:spPr>
          <a:xfrm>
            <a:off x="4937760" y="2971800"/>
            <a:ext cx="2414754" cy="1371600"/>
          </a:xfrm>
          <a:prstGeom prst="rect">
            <a:avLst/>
          </a:prstGeom>
        </p:spPr>
      </p:pic>
      <p:sp>
        <p:nvSpPr>
          <p:cNvPr id="18" name="Text 13"/>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5A6B7F"/>
                </a:solidFill>
                <a:latin typeface="Calibri" pitchFamily="34" charset="0"/>
                <a:ea typeface="Calibri" pitchFamily="34" charset="-122"/>
                <a:cs typeface="Calibri" pitchFamily="34" charset="-120"/>
              </a:rPr>
              <a:t>20 / 25</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AF8"/>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F39C12"/>
          </a:solidFill>
          <a:ln/>
        </p:spPr>
        <p:txBody>
          <a:bodyPr/>
          <a:lstStyle/>
          <a:p>
            <a:endParaRPr lang="en-US"/>
          </a:p>
        </p:txBody>
      </p:sp>
      <p:sp>
        <p:nvSpPr>
          <p:cNvPr id="3" name="Text 1"/>
          <p:cNvSpPr/>
          <p:nvPr/>
        </p:nvSpPr>
        <p:spPr>
          <a:xfrm>
            <a:off x="457200" y="182880"/>
            <a:ext cx="5486400" cy="411480"/>
          </a:xfrm>
          <a:prstGeom prst="rect">
            <a:avLst/>
          </a:prstGeom>
          <a:noFill/>
          <a:ln/>
        </p:spPr>
        <p:txBody>
          <a:bodyPr wrap="square" lIns="0" tIns="0" rIns="0" bIns="0" rtlCol="0" anchor="ctr"/>
          <a:lstStyle/>
          <a:p>
            <a:pPr marL="0" indent="0">
              <a:buNone/>
            </a:pPr>
            <a:r>
              <a:rPr lang="en-US" sz="2200" b="1" dirty="0">
                <a:solidFill>
                  <a:srgbClr val="1A2B4A"/>
                </a:solidFill>
                <a:latin typeface="Georgia" pitchFamily="34" charset="0"/>
                <a:ea typeface="Georgia" pitchFamily="34" charset="-122"/>
                <a:cs typeface="Georgia" pitchFamily="34" charset="-120"/>
              </a:rPr>
              <a:t>TEST 1: COMPUTE TIER HA</a:t>
            </a:r>
            <a:endParaRPr lang="en-US" sz="2200" dirty="0"/>
          </a:p>
        </p:txBody>
      </p:sp>
      <p:sp>
        <p:nvSpPr>
          <p:cNvPr id="4" name="Text 2"/>
          <p:cNvSpPr/>
          <p:nvPr/>
        </p:nvSpPr>
        <p:spPr>
          <a:xfrm>
            <a:off x="457200" y="594360"/>
            <a:ext cx="7315200" cy="274320"/>
          </a:xfrm>
          <a:prstGeom prst="rect">
            <a:avLst/>
          </a:prstGeom>
          <a:noFill/>
          <a:ln/>
        </p:spPr>
        <p:txBody>
          <a:bodyPr wrap="square" lIns="0" tIns="0" rIns="0" bIns="0" rtlCol="0" anchor="ctr"/>
          <a:lstStyle/>
          <a:p>
            <a:pPr marL="0" indent="0">
              <a:buNone/>
            </a:pPr>
            <a:r>
              <a:rPr lang="en-US" sz="1100" i="1" dirty="0">
                <a:solidFill>
                  <a:srgbClr val="5A6B7F"/>
                </a:solidFill>
                <a:latin typeface="Calibri" pitchFamily="34" charset="0"/>
                <a:ea typeface="Calibri" pitchFamily="34" charset="-122"/>
                <a:cs typeface="Calibri" pitchFamily="34" charset="-120"/>
              </a:rPr>
              <a:t>Step 1: Instance Termination  →  Step 2: CloudWatch Detection</a:t>
            </a:r>
            <a:endParaRPr lang="en-US" sz="1100" dirty="0"/>
          </a:p>
        </p:txBody>
      </p:sp>
      <p:sp>
        <p:nvSpPr>
          <p:cNvPr id="5" name="Shape 3"/>
          <p:cNvSpPr/>
          <p:nvPr/>
        </p:nvSpPr>
        <p:spPr>
          <a:xfrm>
            <a:off x="365760" y="1005840"/>
            <a:ext cx="4114800" cy="38404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6" name="Shape 4"/>
          <p:cNvSpPr/>
          <p:nvPr/>
        </p:nvSpPr>
        <p:spPr>
          <a:xfrm>
            <a:off x="365760" y="1005840"/>
            <a:ext cx="4114800" cy="54864"/>
          </a:xfrm>
          <a:prstGeom prst="rect">
            <a:avLst/>
          </a:prstGeom>
          <a:solidFill>
            <a:srgbClr val="16A085"/>
          </a:solidFill>
          <a:ln/>
        </p:spPr>
        <p:txBody>
          <a:bodyPr/>
          <a:lstStyle/>
          <a:p>
            <a:endParaRPr lang="en-US"/>
          </a:p>
        </p:txBody>
      </p:sp>
      <p:sp>
        <p:nvSpPr>
          <p:cNvPr id="7" name="Shape 5"/>
          <p:cNvSpPr/>
          <p:nvPr/>
        </p:nvSpPr>
        <p:spPr>
          <a:xfrm>
            <a:off x="548640" y="1188720"/>
            <a:ext cx="411480" cy="411480"/>
          </a:xfrm>
          <a:prstGeom prst="ellipse">
            <a:avLst/>
          </a:prstGeom>
          <a:solidFill>
            <a:srgbClr val="16A085"/>
          </a:solidFill>
          <a:ln/>
        </p:spPr>
        <p:txBody>
          <a:bodyPr/>
          <a:lstStyle/>
          <a:p>
            <a:endParaRPr lang="en-US"/>
          </a:p>
        </p:txBody>
      </p:sp>
      <p:sp>
        <p:nvSpPr>
          <p:cNvPr id="8" name="Text 6"/>
          <p:cNvSpPr/>
          <p:nvPr/>
        </p:nvSpPr>
        <p:spPr>
          <a:xfrm>
            <a:off x="548640" y="1188720"/>
            <a:ext cx="411480" cy="411480"/>
          </a:xfrm>
          <a:prstGeom prst="rect">
            <a:avLst/>
          </a:prstGeom>
          <a:noFill/>
          <a:ln/>
        </p:spPr>
        <p:txBody>
          <a:bodyPr wrap="square" lIns="0" tIns="0" rIns="0" bIns="0" rtlCol="0" anchor="ctr"/>
          <a:lstStyle/>
          <a:p>
            <a:pPr marL="0" indent="0" algn="ctr">
              <a:buNone/>
            </a:pPr>
            <a:r>
              <a:rPr lang="en-US" sz="1600" b="1" dirty="0">
                <a:solidFill>
                  <a:srgbClr val="1A2B4A"/>
                </a:solidFill>
                <a:latin typeface="Georgia" pitchFamily="34" charset="0"/>
                <a:ea typeface="Georgia" pitchFamily="34" charset="-122"/>
                <a:cs typeface="Georgia" pitchFamily="34" charset="-120"/>
              </a:rPr>
              <a:t>1</a:t>
            </a:r>
            <a:endParaRPr lang="en-US" sz="1600" dirty="0"/>
          </a:p>
        </p:txBody>
      </p:sp>
      <p:sp>
        <p:nvSpPr>
          <p:cNvPr id="9" name="Text 7"/>
          <p:cNvSpPr/>
          <p:nvPr/>
        </p:nvSpPr>
        <p:spPr>
          <a:xfrm>
            <a:off x="1097280" y="1188720"/>
            <a:ext cx="3200400" cy="365760"/>
          </a:xfrm>
          <a:prstGeom prst="rect">
            <a:avLst/>
          </a:prstGeom>
          <a:noFill/>
          <a:ln/>
        </p:spPr>
        <p:txBody>
          <a:bodyPr wrap="square" lIns="0" tIns="0" rIns="0" bIns="0" rtlCol="0" anchor="ctr"/>
          <a:lstStyle/>
          <a:p>
            <a:pPr marL="0" indent="0">
              <a:buNone/>
            </a:pPr>
            <a:r>
              <a:rPr lang="en-US" sz="1500" b="1" dirty="0">
                <a:solidFill>
                  <a:srgbClr val="1A2B4A"/>
                </a:solidFill>
                <a:latin typeface="Georgia" pitchFamily="34" charset="0"/>
                <a:ea typeface="Georgia" pitchFamily="34" charset="-122"/>
                <a:cs typeface="Georgia" pitchFamily="34" charset="-120"/>
              </a:rPr>
              <a:t>Instance Terminated</a:t>
            </a:r>
            <a:endParaRPr lang="en-US" sz="1500" dirty="0"/>
          </a:p>
        </p:txBody>
      </p:sp>
      <p:sp>
        <p:nvSpPr>
          <p:cNvPr id="10" name="Text 8"/>
          <p:cNvSpPr/>
          <p:nvPr/>
        </p:nvSpPr>
        <p:spPr>
          <a:xfrm>
            <a:off x="548640" y="1691640"/>
            <a:ext cx="3749040" cy="640080"/>
          </a:xfrm>
          <a:prstGeom prst="rect">
            <a:avLst/>
          </a:prstGeom>
          <a:noFill/>
          <a:ln/>
        </p:spPr>
        <p:txBody>
          <a:bodyPr wrap="square" lIns="0" tIns="0" rIns="0" bIns="0" rtlCol="0" anchor="ctr"/>
          <a:lstStyle/>
          <a:p>
            <a:pPr marL="0" indent="0">
              <a:lnSpc>
                <a:spcPct val="130000"/>
              </a:lnSpc>
              <a:buNone/>
            </a:pPr>
            <a:r>
              <a:rPr lang="en-US" sz="1100" dirty="0">
                <a:solidFill>
                  <a:srgbClr val="5A6B7F"/>
                </a:solidFill>
                <a:latin typeface="Calibri" pitchFamily="34" charset="0"/>
                <a:ea typeface="Calibri" pitchFamily="34" charset="-122"/>
                <a:cs typeface="Calibri" pitchFamily="34" charset="-120"/>
              </a:rPr>
              <a:t>A working EC2 instance (ID ...3556) was manually stopped to simulate an unexpected server crash. Two healthy instances were initially serving traffic via the ASG.</a:t>
            </a:r>
            <a:endParaRPr lang="en-US" sz="1100" dirty="0"/>
          </a:p>
        </p:txBody>
      </p:sp>
      <p:pic>
        <p:nvPicPr>
          <p:cNvPr id="11" name="Image 0" descr="/home/claude/media/image35.jpg"/>
          <p:cNvPicPr>
            <a:picLocks noChangeAspect="1"/>
          </p:cNvPicPr>
          <p:nvPr/>
        </p:nvPicPr>
        <p:blipFill>
          <a:blip r:embed="rId3"/>
          <a:srcRect/>
          <a:stretch/>
        </p:blipFill>
        <p:spPr>
          <a:xfrm>
            <a:off x="548640" y="2423160"/>
            <a:ext cx="3749040" cy="2286000"/>
          </a:xfrm>
          <a:prstGeom prst="rect">
            <a:avLst/>
          </a:prstGeom>
        </p:spPr>
      </p:pic>
      <p:sp>
        <p:nvSpPr>
          <p:cNvPr id="12" name="Shape 9"/>
          <p:cNvSpPr/>
          <p:nvPr/>
        </p:nvSpPr>
        <p:spPr>
          <a:xfrm>
            <a:off x="4663440" y="1005840"/>
            <a:ext cx="4114800" cy="38404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3" name="Shape 10"/>
          <p:cNvSpPr/>
          <p:nvPr/>
        </p:nvSpPr>
        <p:spPr>
          <a:xfrm>
            <a:off x="4663440" y="1005840"/>
            <a:ext cx="4114800" cy="54864"/>
          </a:xfrm>
          <a:prstGeom prst="rect">
            <a:avLst/>
          </a:prstGeom>
          <a:solidFill>
            <a:srgbClr val="16A085"/>
          </a:solidFill>
          <a:ln/>
        </p:spPr>
        <p:txBody>
          <a:bodyPr/>
          <a:lstStyle/>
          <a:p>
            <a:endParaRPr lang="en-US"/>
          </a:p>
        </p:txBody>
      </p:sp>
      <p:sp>
        <p:nvSpPr>
          <p:cNvPr id="14" name="Shape 11"/>
          <p:cNvSpPr/>
          <p:nvPr/>
        </p:nvSpPr>
        <p:spPr>
          <a:xfrm>
            <a:off x="4846320" y="1188720"/>
            <a:ext cx="411480" cy="411480"/>
          </a:xfrm>
          <a:prstGeom prst="ellipse">
            <a:avLst/>
          </a:prstGeom>
          <a:solidFill>
            <a:srgbClr val="16A085"/>
          </a:solidFill>
          <a:ln/>
        </p:spPr>
        <p:txBody>
          <a:bodyPr/>
          <a:lstStyle/>
          <a:p>
            <a:endParaRPr lang="en-US"/>
          </a:p>
        </p:txBody>
      </p:sp>
      <p:sp>
        <p:nvSpPr>
          <p:cNvPr id="15" name="Text 12"/>
          <p:cNvSpPr/>
          <p:nvPr/>
        </p:nvSpPr>
        <p:spPr>
          <a:xfrm>
            <a:off x="4846320" y="1188720"/>
            <a:ext cx="411480" cy="411480"/>
          </a:xfrm>
          <a:prstGeom prst="rect">
            <a:avLst/>
          </a:prstGeom>
          <a:noFill/>
          <a:ln/>
        </p:spPr>
        <p:txBody>
          <a:bodyPr wrap="square" lIns="0" tIns="0" rIns="0" bIns="0" rtlCol="0" anchor="ctr"/>
          <a:lstStyle/>
          <a:p>
            <a:pPr marL="0" indent="0" algn="ctr">
              <a:buNone/>
            </a:pPr>
            <a:r>
              <a:rPr lang="en-US" sz="1600" b="1" dirty="0">
                <a:solidFill>
                  <a:srgbClr val="1A2B4A"/>
                </a:solidFill>
                <a:latin typeface="Georgia" pitchFamily="34" charset="0"/>
                <a:ea typeface="Georgia" pitchFamily="34" charset="-122"/>
                <a:cs typeface="Georgia" pitchFamily="34" charset="-120"/>
              </a:rPr>
              <a:t>2</a:t>
            </a:r>
            <a:endParaRPr lang="en-US" sz="1600" dirty="0"/>
          </a:p>
        </p:txBody>
      </p:sp>
      <p:sp>
        <p:nvSpPr>
          <p:cNvPr id="16" name="Text 13"/>
          <p:cNvSpPr/>
          <p:nvPr/>
        </p:nvSpPr>
        <p:spPr>
          <a:xfrm>
            <a:off x="5394960" y="1188720"/>
            <a:ext cx="3200400" cy="365760"/>
          </a:xfrm>
          <a:prstGeom prst="rect">
            <a:avLst/>
          </a:prstGeom>
          <a:noFill/>
          <a:ln/>
        </p:spPr>
        <p:txBody>
          <a:bodyPr wrap="square" lIns="0" tIns="0" rIns="0" bIns="0" rtlCol="0" anchor="ctr"/>
          <a:lstStyle/>
          <a:p>
            <a:pPr marL="0" indent="0">
              <a:buNone/>
            </a:pPr>
            <a:r>
              <a:rPr lang="en-US" sz="1500" b="1" dirty="0">
                <a:solidFill>
                  <a:srgbClr val="1A2B4A"/>
                </a:solidFill>
                <a:latin typeface="Georgia" pitchFamily="34" charset="0"/>
                <a:ea typeface="Georgia" pitchFamily="34" charset="-122"/>
                <a:cs typeface="Georgia" pitchFamily="34" charset="-120"/>
              </a:rPr>
              <a:t>CloudWatch Alarm Triggered</a:t>
            </a:r>
            <a:endParaRPr lang="en-US" sz="1500" dirty="0"/>
          </a:p>
        </p:txBody>
      </p:sp>
      <p:sp>
        <p:nvSpPr>
          <p:cNvPr id="17" name="Text 14"/>
          <p:cNvSpPr/>
          <p:nvPr/>
        </p:nvSpPr>
        <p:spPr>
          <a:xfrm>
            <a:off x="4846320" y="1691640"/>
            <a:ext cx="3749040" cy="640080"/>
          </a:xfrm>
          <a:prstGeom prst="rect">
            <a:avLst/>
          </a:prstGeom>
          <a:noFill/>
          <a:ln/>
        </p:spPr>
        <p:txBody>
          <a:bodyPr wrap="square" lIns="0" tIns="0" rIns="0" bIns="0" rtlCol="0" anchor="ctr"/>
          <a:lstStyle/>
          <a:p>
            <a:pPr marL="0" indent="0">
              <a:lnSpc>
                <a:spcPct val="130000"/>
              </a:lnSpc>
              <a:buNone/>
            </a:pPr>
            <a:r>
              <a:rPr lang="en-US" sz="1100" dirty="0">
                <a:solidFill>
                  <a:srgbClr val="5A6B7F"/>
                </a:solidFill>
                <a:latin typeface="Calibri" pitchFamily="34" charset="0"/>
                <a:ea typeface="Calibri" pitchFamily="34" charset="-122"/>
                <a:cs typeface="Calibri" pitchFamily="34" charset="-120"/>
              </a:rPr>
              <a:t>The ALB detected the unresponsive instance. The CloudWatch alarm (taskboard-alerts) monitoring UnHealthyHostCount exceeded the threshold and entered ALARM state.</a:t>
            </a:r>
            <a:endParaRPr lang="en-US" sz="1100" dirty="0"/>
          </a:p>
        </p:txBody>
      </p:sp>
      <p:pic>
        <p:nvPicPr>
          <p:cNvPr id="18" name="Image 1" descr="/home/claude/media/image37.jpg"/>
          <p:cNvPicPr>
            <a:picLocks noChangeAspect="1"/>
          </p:cNvPicPr>
          <p:nvPr/>
        </p:nvPicPr>
        <p:blipFill>
          <a:blip r:embed="rId4"/>
          <a:srcRect/>
          <a:stretch/>
        </p:blipFill>
        <p:spPr>
          <a:xfrm>
            <a:off x="4846320" y="2423160"/>
            <a:ext cx="3749040" cy="2286000"/>
          </a:xfrm>
          <a:prstGeom prst="rect">
            <a:avLst/>
          </a:prstGeom>
        </p:spPr>
      </p:pic>
      <p:sp>
        <p:nvSpPr>
          <p:cNvPr id="19" name="Text 15"/>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5A6B7F"/>
                </a:solidFill>
                <a:latin typeface="Calibri" pitchFamily="34" charset="0"/>
                <a:ea typeface="Calibri" pitchFamily="34" charset="-122"/>
                <a:cs typeface="Calibri" pitchFamily="34" charset="-120"/>
              </a:rPr>
              <a:t>21 / 25</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AF8"/>
        </a:solidFill>
        <a:effectLst/>
      </p:bgPr>
    </p:bg>
    <p:spTree>
      <p:nvGrpSpPr>
        <p:cNvPr id="1" name=""/>
        <p:cNvGrpSpPr/>
        <p:nvPr/>
      </p:nvGrpSpPr>
      <p:grpSpPr>
        <a:xfrm>
          <a:off x="0" y="0"/>
          <a:ext cx="0" cy="0"/>
          <a:chOff x="0" y="0"/>
          <a:chExt cx="0" cy="0"/>
        </a:xfrm>
      </p:grpSpPr>
      <p:sp>
        <p:nvSpPr>
          <p:cNvPr id="2" name="Shape 0"/>
          <p:cNvSpPr/>
          <p:nvPr/>
        </p:nvSpPr>
        <p:spPr>
          <a:xfrm>
            <a:off x="0" y="6485"/>
            <a:ext cx="73152" cy="5143500"/>
          </a:xfrm>
          <a:prstGeom prst="rect">
            <a:avLst/>
          </a:prstGeom>
          <a:solidFill>
            <a:srgbClr val="F39C12"/>
          </a:solidFill>
          <a:ln/>
        </p:spPr>
        <p:txBody>
          <a:bodyPr/>
          <a:lstStyle/>
          <a:p>
            <a:endParaRPr lang="en-US"/>
          </a:p>
        </p:txBody>
      </p:sp>
      <p:sp>
        <p:nvSpPr>
          <p:cNvPr id="3" name="Text 1"/>
          <p:cNvSpPr/>
          <p:nvPr/>
        </p:nvSpPr>
        <p:spPr>
          <a:xfrm>
            <a:off x="457200" y="182880"/>
            <a:ext cx="5486400" cy="411480"/>
          </a:xfrm>
          <a:prstGeom prst="rect">
            <a:avLst/>
          </a:prstGeom>
          <a:noFill/>
          <a:ln/>
        </p:spPr>
        <p:txBody>
          <a:bodyPr wrap="square" lIns="0" tIns="0" rIns="0" bIns="0" rtlCol="0" anchor="ctr"/>
          <a:lstStyle/>
          <a:p>
            <a:pPr marL="0" indent="0">
              <a:buNone/>
            </a:pPr>
            <a:r>
              <a:rPr lang="en-US" sz="2200" b="1" dirty="0">
                <a:solidFill>
                  <a:srgbClr val="1A2B4A"/>
                </a:solidFill>
                <a:latin typeface="Georgia" pitchFamily="34" charset="0"/>
                <a:ea typeface="Georgia" pitchFamily="34" charset="-122"/>
                <a:cs typeface="Georgia" pitchFamily="34" charset="-120"/>
              </a:rPr>
              <a:t>TEST 1: COMPUTE TIER HA (cont.)</a:t>
            </a:r>
            <a:endParaRPr lang="en-US" sz="2200" dirty="0"/>
          </a:p>
        </p:txBody>
      </p:sp>
      <p:sp>
        <p:nvSpPr>
          <p:cNvPr id="4" name="Text 2"/>
          <p:cNvSpPr/>
          <p:nvPr/>
        </p:nvSpPr>
        <p:spPr>
          <a:xfrm>
            <a:off x="457200" y="594360"/>
            <a:ext cx="7315200" cy="274320"/>
          </a:xfrm>
          <a:prstGeom prst="rect">
            <a:avLst/>
          </a:prstGeom>
          <a:noFill/>
          <a:ln/>
        </p:spPr>
        <p:txBody>
          <a:bodyPr wrap="square" lIns="0" tIns="0" rIns="0" bIns="0" rtlCol="0" anchor="ctr"/>
          <a:lstStyle/>
          <a:p>
            <a:pPr marL="0" indent="0">
              <a:buNone/>
            </a:pPr>
            <a:r>
              <a:rPr lang="en-US" sz="1100" i="1" dirty="0">
                <a:solidFill>
                  <a:srgbClr val="5A6B7F"/>
                </a:solidFill>
                <a:latin typeface="Calibri" pitchFamily="34" charset="0"/>
                <a:ea typeface="Calibri" pitchFamily="34" charset="-122"/>
                <a:cs typeface="Calibri" pitchFamily="34" charset="-120"/>
              </a:rPr>
              <a:t>Step 3: SNS Notification  →  Step 4: Auto Recovery &amp; Stabilization</a:t>
            </a:r>
            <a:endParaRPr lang="en-US" sz="1100" dirty="0"/>
          </a:p>
        </p:txBody>
      </p:sp>
      <p:sp>
        <p:nvSpPr>
          <p:cNvPr id="5" name="Shape 3"/>
          <p:cNvSpPr/>
          <p:nvPr/>
        </p:nvSpPr>
        <p:spPr>
          <a:xfrm>
            <a:off x="365760" y="1005840"/>
            <a:ext cx="4114800" cy="38404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6" name="Shape 4"/>
          <p:cNvSpPr/>
          <p:nvPr/>
        </p:nvSpPr>
        <p:spPr>
          <a:xfrm>
            <a:off x="365760" y="1005840"/>
            <a:ext cx="4114800" cy="54864"/>
          </a:xfrm>
          <a:prstGeom prst="rect">
            <a:avLst/>
          </a:prstGeom>
          <a:solidFill>
            <a:srgbClr val="16A085"/>
          </a:solidFill>
          <a:ln/>
        </p:spPr>
        <p:txBody>
          <a:bodyPr/>
          <a:lstStyle/>
          <a:p>
            <a:endParaRPr lang="en-US"/>
          </a:p>
        </p:txBody>
      </p:sp>
      <p:sp>
        <p:nvSpPr>
          <p:cNvPr id="7" name="Shape 5"/>
          <p:cNvSpPr/>
          <p:nvPr/>
        </p:nvSpPr>
        <p:spPr>
          <a:xfrm>
            <a:off x="548640" y="1188720"/>
            <a:ext cx="411480" cy="411480"/>
          </a:xfrm>
          <a:prstGeom prst="ellipse">
            <a:avLst/>
          </a:prstGeom>
          <a:solidFill>
            <a:srgbClr val="16A085"/>
          </a:solidFill>
          <a:ln/>
        </p:spPr>
        <p:txBody>
          <a:bodyPr/>
          <a:lstStyle/>
          <a:p>
            <a:endParaRPr lang="en-US"/>
          </a:p>
        </p:txBody>
      </p:sp>
      <p:sp>
        <p:nvSpPr>
          <p:cNvPr id="8" name="Text 6"/>
          <p:cNvSpPr/>
          <p:nvPr/>
        </p:nvSpPr>
        <p:spPr>
          <a:xfrm>
            <a:off x="548640" y="1188720"/>
            <a:ext cx="411480" cy="411480"/>
          </a:xfrm>
          <a:prstGeom prst="rect">
            <a:avLst/>
          </a:prstGeom>
          <a:noFill/>
          <a:ln/>
        </p:spPr>
        <p:txBody>
          <a:bodyPr wrap="square" lIns="0" tIns="0" rIns="0" bIns="0" rtlCol="0" anchor="ctr"/>
          <a:lstStyle/>
          <a:p>
            <a:pPr marL="0" indent="0" algn="ctr">
              <a:buNone/>
            </a:pPr>
            <a:r>
              <a:rPr lang="en-US" sz="1600" b="1" dirty="0">
                <a:solidFill>
                  <a:srgbClr val="1A2B4A"/>
                </a:solidFill>
                <a:latin typeface="Georgia" pitchFamily="34" charset="0"/>
                <a:ea typeface="Georgia" pitchFamily="34" charset="-122"/>
                <a:cs typeface="Georgia" pitchFamily="34" charset="-120"/>
              </a:rPr>
              <a:t>3</a:t>
            </a:r>
            <a:endParaRPr lang="en-US" sz="1600" dirty="0"/>
          </a:p>
        </p:txBody>
      </p:sp>
      <p:sp>
        <p:nvSpPr>
          <p:cNvPr id="9" name="Text 7"/>
          <p:cNvSpPr/>
          <p:nvPr/>
        </p:nvSpPr>
        <p:spPr>
          <a:xfrm>
            <a:off x="1097280" y="1188720"/>
            <a:ext cx="3200400" cy="365760"/>
          </a:xfrm>
          <a:prstGeom prst="rect">
            <a:avLst/>
          </a:prstGeom>
          <a:noFill/>
          <a:ln/>
        </p:spPr>
        <p:txBody>
          <a:bodyPr wrap="square" lIns="0" tIns="0" rIns="0" bIns="0" rtlCol="0" anchor="ctr"/>
          <a:lstStyle/>
          <a:p>
            <a:pPr marL="0" indent="0">
              <a:buNone/>
            </a:pPr>
            <a:r>
              <a:rPr lang="en-US" sz="1500" b="1" dirty="0">
                <a:solidFill>
                  <a:srgbClr val="1A2B4A"/>
                </a:solidFill>
                <a:latin typeface="Georgia" pitchFamily="34" charset="0"/>
                <a:ea typeface="Georgia" pitchFamily="34" charset="-122"/>
                <a:cs typeface="Georgia" pitchFamily="34" charset="-120"/>
              </a:rPr>
              <a:t>SNS Email Notification</a:t>
            </a:r>
            <a:endParaRPr lang="en-US" sz="1500" dirty="0"/>
          </a:p>
        </p:txBody>
      </p:sp>
      <p:sp>
        <p:nvSpPr>
          <p:cNvPr id="10" name="Text 8"/>
          <p:cNvSpPr/>
          <p:nvPr/>
        </p:nvSpPr>
        <p:spPr>
          <a:xfrm>
            <a:off x="548640" y="1691640"/>
            <a:ext cx="3749040" cy="640080"/>
          </a:xfrm>
          <a:prstGeom prst="rect">
            <a:avLst/>
          </a:prstGeom>
          <a:noFill/>
          <a:ln/>
        </p:spPr>
        <p:txBody>
          <a:bodyPr wrap="square" lIns="0" tIns="0" rIns="0" bIns="0" rtlCol="0" anchor="ctr"/>
          <a:lstStyle/>
          <a:p>
            <a:pPr marL="0" indent="0">
              <a:lnSpc>
                <a:spcPct val="130000"/>
              </a:lnSpc>
              <a:buNone/>
            </a:pPr>
            <a:r>
              <a:rPr lang="en-US" sz="1100" dirty="0">
                <a:solidFill>
                  <a:srgbClr val="5A6B7F"/>
                </a:solidFill>
                <a:latin typeface="Calibri" pitchFamily="34" charset="0"/>
                <a:ea typeface="Calibri" pitchFamily="34" charset="-122"/>
                <a:cs typeface="Calibri" pitchFamily="34" charset="-120"/>
              </a:rPr>
              <a:t>An automated SNS email notification was sent to the administrator, alerting them that the UnHealthyHostCount alarm threshold had been breached.</a:t>
            </a:r>
            <a:endParaRPr lang="en-US" sz="1100" dirty="0"/>
          </a:p>
        </p:txBody>
      </p:sp>
      <p:pic>
        <p:nvPicPr>
          <p:cNvPr id="11" name="Image 0" descr="/home/claude/media/image38.jpg"/>
          <p:cNvPicPr>
            <a:picLocks noChangeAspect="1"/>
          </p:cNvPicPr>
          <p:nvPr/>
        </p:nvPicPr>
        <p:blipFill>
          <a:blip r:embed="rId3"/>
          <a:srcRect/>
          <a:stretch/>
        </p:blipFill>
        <p:spPr>
          <a:xfrm>
            <a:off x="548640" y="2423160"/>
            <a:ext cx="3749040" cy="2286000"/>
          </a:xfrm>
          <a:prstGeom prst="rect">
            <a:avLst/>
          </a:prstGeom>
        </p:spPr>
      </p:pic>
      <p:sp>
        <p:nvSpPr>
          <p:cNvPr id="12" name="Shape 9"/>
          <p:cNvSpPr/>
          <p:nvPr/>
        </p:nvSpPr>
        <p:spPr>
          <a:xfrm>
            <a:off x="4663440" y="1005840"/>
            <a:ext cx="4114800" cy="38404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3" name="Shape 10"/>
          <p:cNvSpPr/>
          <p:nvPr/>
        </p:nvSpPr>
        <p:spPr>
          <a:xfrm>
            <a:off x="4663440" y="1005840"/>
            <a:ext cx="4114800" cy="54864"/>
          </a:xfrm>
          <a:prstGeom prst="rect">
            <a:avLst/>
          </a:prstGeom>
          <a:solidFill>
            <a:srgbClr val="16A085"/>
          </a:solidFill>
          <a:ln/>
        </p:spPr>
        <p:txBody>
          <a:bodyPr/>
          <a:lstStyle/>
          <a:p>
            <a:endParaRPr lang="en-US"/>
          </a:p>
        </p:txBody>
      </p:sp>
      <p:sp>
        <p:nvSpPr>
          <p:cNvPr id="14" name="Shape 11"/>
          <p:cNvSpPr/>
          <p:nvPr/>
        </p:nvSpPr>
        <p:spPr>
          <a:xfrm>
            <a:off x="4846320" y="1188720"/>
            <a:ext cx="411480" cy="411480"/>
          </a:xfrm>
          <a:prstGeom prst="ellipse">
            <a:avLst/>
          </a:prstGeom>
          <a:solidFill>
            <a:srgbClr val="16A085"/>
          </a:solidFill>
          <a:ln/>
        </p:spPr>
        <p:txBody>
          <a:bodyPr/>
          <a:lstStyle/>
          <a:p>
            <a:endParaRPr lang="en-US"/>
          </a:p>
        </p:txBody>
      </p:sp>
      <p:sp>
        <p:nvSpPr>
          <p:cNvPr id="15" name="Text 12"/>
          <p:cNvSpPr/>
          <p:nvPr/>
        </p:nvSpPr>
        <p:spPr>
          <a:xfrm>
            <a:off x="4846320" y="1188720"/>
            <a:ext cx="411480" cy="411480"/>
          </a:xfrm>
          <a:prstGeom prst="rect">
            <a:avLst/>
          </a:prstGeom>
          <a:noFill/>
          <a:ln/>
        </p:spPr>
        <p:txBody>
          <a:bodyPr wrap="square" lIns="0" tIns="0" rIns="0" bIns="0" rtlCol="0" anchor="ctr"/>
          <a:lstStyle/>
          <a:p>
            <a:pPr marL="0" indent="0" algn="ctr">
              <a:buNone/>
            </a:pPr>
            <a:r>
              <a:rPr lang="en-US" sz="1600" b="1" dirty="0">
                <a:solidFill>
                  <a:srgbClr val="1A2B4A"/>
                </a:solidFill>
                <a:latin typeface="Georgia" pitchFamily="34" charset="0"/>
                <a:ea typeface="Georgia" pitchFamily="34" charset="-122"/>
                <a:cs typeface="Georgia" pitchFamily="34" charset="-120"/>
              </a:rPr>
              <a:t>4</a:t>
            </a:r>
            <a:endParaRPr lang="en-US" sz="1600" dirty="0"/>
          </a:p>
        </p:txBody>
      </p:sp>
      <p:sp>
        <p:nvSpPr>
          <p:cNvPr id="16" name="Text 13"/>
          <p:cNvSpPr/>
          <p:nvPr/>
        </p:nvSpPr>
        <p:spPr>
          <a:xfrm>
            <a:off x="5394959" y="1188720"/>
            <a:ext cx="3249687" cy="365760"/>
          </a:xfrm>
          <a:prstGeom prst="rect">
            <a:avLst/>
          </a:prstGeom>
          <a:noFill/>
          <a:ln/>
        </p:spPr>
        <p:txBody>
          <a:bodyPr wrap="square" lIns="0" tIns="0" rIns="0" bIns="0" rtlCol="0" anchor="ctr"/>
          <a:lstStyle/>
          <a:p>
            <a:pPr marL="0" indent="0">
              <a:buNone/>
            </a:pPr>
            <a:r>
              <a:rPr lang="en-US" sz="1500" b="1" dirty="0">
                <a:solidFill>
                  <a:srgbClr val="1A2B4A"/>
                </a:solidFill>
                <a:latin typeface="Georgia" pitchFamily="34" charset="0"/>
                <a:ea typeface="Georgia" pitchFamily="34" charset="-122"/>
                <a:cs typeface="Georgia" pitchFamily="34" charset="-120"/>
              </a:rPr>
              <a:t>ASG Recovery: 2 Healthy Targets</a:t>
            </a:r>
            <a:endParaRPr lang="en-US" sz="1500" dirty="0"/>
          </a:p>
        </p:txBody>
      </p:sp>
      <p:sp>
        <p:nvSpPr>
          <p:cNvPr id="17" name="Text 14"/>
          <p:cNvSpPr/>
          <p:nvPr/>
        </p:nvSpPr>
        <p:spPr>
          <a:xfrm>
            <a:off x="4846320" y="1691640"/>
            <a:ext cx="3863178" cy="640080"/>
          </a:xfrm>
          <a:prstGeom prst="rect">
            <a:avLst/>
          </a:prstGeom>
          <a:noFill/>
          <a:ln/>
        </p:spPr>
        <p:txBody>
          <a:bodyPr wrap="square" lIns="0" tIns="0" rIns="0" bIns="0" rtlCol="0" anchor="ctr"/>
          <a:lstStyle/>
          <a:p>
            <a:pPr marL="0" indent="0">
              <a:lnSpc>
                <a:spcPct val="130000"/>
              </a:lnSpc>
              <a:buNone/>
            </a:pPr>
            <a:r>
              <a:rPr lang="en-US" sz="1100" dirty="0">
                <a:solidFill>
                  <a:srgbClr val="5A6B7F"/>
                </a:solidFill>
                <a:latin typeface="Calibri" pitchFamily="34" charset="0"/>
                <a:ea typeface="Calibri" pitchFamily="34" charset="-122"/>
                <a:cs typeface="Calibri" pitchFamily="34" charset="-120"/>
              </a:rPr>
              <a:t>The ASG automatically launched a replacement instance (ID ...fb20). After passing health checks, it registered into the Target Group, restoring two healthy targets with zero manual intervention.</a:t>
            </a:r>
            <a:endParaRPr lang="en-US" sz="1100" dirty="0"/>
          </a:p>
        </p:txBody>
      </p:sp>
      <p:pic>
        <p:nvPicPr>
          <p:cNvPr id="18" name="Image 1" descr="/home/claude/media/image40.jpg"/>
          <p:cNvPicPr>
            <a:picLocks noChangeAspect="1"/>
          </p:cNvPicPr>
          <p:nvPr/>
        </p:nvPicPr>
        <p:blipFill>
          <a:blip r:embed="rId4"/>
          <a:srcRect/>
          <a:stretch/>
        </p:blipFill>
        <p:spPr>
          <a:xfrm>
            <a:off x="4846320" y="2423160"/>
            <a:ext cx="3749040" cy="2286000"/>
          </a:xfrm>
          <a:prstGeom prst="rect">
            <a:avLst/>
          </a:prstGeom>
        </p:spPr>
      </p:pic>
      <p:sp>
        <p:nvSpPr>
          <p:cNvPr id="19" name="Text 15"/>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5A6B7F"/>
                </a:solidFill>
                <a:latin typeface="Calibri" pitchFamily="34" charset="0"/>
                <a:ea typeface="Calibri" pitchFamily="34" charset="-122"/>
                <a:cs typeface="Calibri" pitchFamily="34" charset="-120"/>
              </a:rPr>
              <a:t>22 / 25</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DE8D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39C12"/>
          </a:solidFill>
          <a:ln/>
        </p:spPr>
        <p:txBody>
          <a:bodyPr/>
          <a:lstStyle/>
          <a:p>
            <a:endParaRPr lang="en-US"/>
          </a:p>
        </p:txBody>
      </p:sp>
      <p:sp>
        <p:nvSpPr>
          <p:cNvPr id="3" name="Text 1"/>
          <p:cNvSpPr/>
          <p:nvPr/>
        </p:nvSpPr>
        <p:spPr>
          <a:xfrm>
            <a:off x="457200" y="182880"/>
            <a:ext cx="5486400" cy="411480"/>
          </a:xfrm>
          <a:prstGeom prst="rect">
            <a:avLst/>
          </a:prstGeom>
          <a:noFill/>
          <a:ln/>
        </p:spPr>
        <p:txBody>
          <a:bodyPr wrap="square" lIns="0" tIns="0" rIns="0" bIns="0" rtlCol="0" anchor="ctr"/>
          <a:lstStyle/>
          <a:p>
            <a:pPr marL="0" indent="0">
              <a:buNone/>
            </a:pPr>
            <a:r>
              <a:rPr lang="en-US" sz="2200" b="1" dirty="0">
                <a:solidFill>
                  <a:srgbClr val="1A2B4A"/>
                </a:solidFill>
                <a:latin typeface="Georgia" pitchFamily="34" charset="0"/>
                <a:ea typeface="Georgia" pitchFamily="34" charset="-122"/>
                <a:cs typeface="Georgia" pitchFamily="34" charset="-120"/>
              </a:rPr>
              <a:t>TEST 2 — DATABASE TIER HA</a:t>
            </a:r>
            <a:endParaRPr lang="en-US" sz="2200" dirty="0"/>
          </a:p>
        </p:txBody>
      </p:sp>
      <p:sp>
        <p:nvSpPr>
          <p:cNvPr id="4" name="Text 2"/>
          <p:cNvSpPr/>
          <p:nvPr/>
        </p:nvSpPr>
        <p:spPr>
          <a:xfrm>
            <a:off x="457200" y="594360"/>
            <a:ext cx="7315200" cy="274320"/>
          </a:xfrm>
          <a:prstGeom prst="rect">
            <a:avLst/>
          </a:prstGeom>
          <a:noFill/>
          <a:ln/>
        </p:spPr>
        <p:txBody>
          <a:bodyPr wrap="square" lIns="0" tIns="0" rIns="0" bIns="0" rtlCol="0" anchor="ctr"/>
          <a:lstStyle/>
          <a:p>
            <a:pPr marL="0" indent="0">
              <a:buNone/>
            </a:pPr>
            <a:r>
              <a:rPr lang="en-US" sz="1100" i="1" dirty="0">
                <a:solidFill>
                  <a:srgbClr val="1A6B5A"/>
                </a:solidFill>
                <a:latin typeface="Calibri" pitchFamily="34" charset="0"/>
                <a:ea typeface="Calibri" pitchFamily="34" charset="-122"/>
                <a:cs typeface="Calibri" pitchFamily="34" charset="-120"/>
              </a:rPr>
              <a:t>Step 1: Failover Initiated  →  Step 2: Expected Disruption</a:t>
            </a:r>
            <a:endParaRPr lang="en-US" sz="1100" dirty="0"/>
          </a:p>
        </p:txBody>
      </p:sp>
      <p:sp>
        <p:nvSpPr>
          <p:cNvPr id="5" name="Shape 3"/>
          <p:cNvSpPr/>
          <p:nvPr/>
        </p:nvSpPr>
        <p:spPr>
          <a:xfrm>
            <a:off x="365760" y="1005840"/>
            <a:ext cx="4114800" cy="3840480"/>
          </a:xfrm>
          <a:prstGeom prst="rect">
            <a:avLst/>
          </a:prstGeom>
          <a:solidFill>
            <a:srgbClr val="F8F4EC"/>
          </a:solidFill>
          <a:ln/>
          <a:effectLst>
            <a:outerShdw blurRad="76200" dist="25400" dir="8100000" algn="bl" rotWithShape="0">
              <a:srgbClr val="000000">
                <a:alpha val="12000"/>
              </a:srgbClr>
            </a:outerShdw>
          </a:effectLst>
        </p:spPr>
        <p:txBody>
          <a:bodyPr/>
          <a:lstStyle/>
          <a:p>
            <a:endParaRPr lang="en-US"/>
          </a:p>
        </p:txBody>
      </p:sp>
      <p:sp>
        <p:nvSpPr>
          <p:cNvPr id="6" name="Shape 4"/>
          <p:cNvSpPr/>
          <p:nvPr/>
        </p:nvSpPr>
        <p:spPr>
          <a:xfrm>
            <a:off x="365760" y="1005840"/>
            <a:ext cx="4114800" cy="54864"/>
          </a:xfrm>
          <a:prstGeom prst="rect">
            <a:avLst/>
          </a:prstGeom>
          <a:solidFill>
            <a:srgbClr val="F39C12"/>
          </a:solidFill>
          <a:ln/>
        </p:spPr>
        <p:txBody>
          <a:bodyPr/>
          <a:lstStyle/>
          <a:p>
            <a:endParaRPr lang="en-US"/>
          </a:p>
        </p:txBody>
      </p:sp>
      <p:sp>
        <p:nvSpPr>
          <p:cNvPr id="7" name="Shape 5"/>
          <p:cNvSpPr/>
          <p:nvPr/>
        </p:nvSpPr>
        <p:spPr>
          <a:xfrm>
            <a:off x="548640" y="1188720"/>
            <a:ext cx="411480" cy="411480"/>
          </a:xfrm>
          <a:prstGeom prst="ellipse">
            <a:avLst/>
          </a:prstGeom>
          <a:solidFill>
            <a:srgbClr val="F39C12"/>
          </a:solidFill>
          <a:ln/>
        </p:spPr>
        <p:txBody>
          <a:bodyPr/>
          <a:lstStyle/>
          <a:p>
            <a:endParaRPr lang="en-US"/>
          </a:p>
        </p:txBody>
      </p:sp>
      <p:sp>
        <p:nvSpPr>
          <p:cNvPr id="8" name="Text 6"/>
          <p:cNvSpPr/>
          <p:nvPr/>
        </p:nvSpPr>
        <p:spPr>
          <a:xfrm>
            <a:off x="548640" y="1188720"/>
            <a:ext cx="411480" cy="411480"/>
          </a:xfrm>
          <a:prstGeom prst="rect">
            <a:avLst/>
          </a:prstGeom>
          <a:noFill/>
          <a:ln/>
        </p:spPr>
        <p:txBody>
          <a:bodyPr wrap="square" lIns="0" tIns="0" rIns="0" bIns="0" rtlCol="0" anchor="ctr"/>
          <a:lstStyle/>
          <a:p>
            <a:pPr marL="0" indent="0" algn="ctr">
              <a:buNone/>
            </a:pPr>
            <a:r>
              <a:rPr lang="en-US" sz="1600" b="1" dirty="0">
                <a:solidFill>
                  <a:srgbClr val="1A2B4A"/>
                </a:solidFill>
                <a:latin typeface="Georgia" pitchFamily="34" charset="0"/>
                <a:ea typeface="Georgia" pitchFamily="34" charset="-122"/>
                <a:cs typeface="Georgia" pitchFamily="34" charset="-120"/>
              </a:rPr>
              <a:t>1</a:t>
            </a:r>
            <a:endParaRPr lang="en-US" sz="1600" dirty="0"/>
          </a:p>
        </p:txBody>
      </p:sp>
      <p:sp>
        <p:nvSpPr>
          <p:cNvPr id="9" name="Text 7"/>
          <p:cNvSpPr/>
          <p:nvPr/>
        </p:nvSpPr>
        <p:spPr>
          <a:xfrm>
            <a:off x="1097280" y="1188720"/>
            <a:ext cx="3200400" cy="365760"/>
          </a:xfrm>
          <a:prstGeom prst="rect">
            <a:avLst/>
          </a:prstGeom>
          <a:noFill/>
          <a:ln/>
        </p:spPr>
        <p:txBody>
          <a:bodyPr wrap="square" lIns="0" tIns="0" rIns="0" bIns="0" rtlCol="0" anchor="ctr"/>
          <a:lstStyle/>
          <a:p>
            <a:pPr marL="0" indent="0">
              <a:buNone/>
            </a:pPr>
            <a:r>
              <a:rPr lang="en-US" sz="1500" b="1" dirty="0">
                <a:solidFill>
                  <a:srgbClr val="1A2B4A"/>
                </a:solidFill>
                <a:latin typeface="Georgia" pitchFamily="34" charset="0"/>
                <a:ea typeface="Georgia" pitchFamily="34" charset="-122"/>
                <a:cs typeface="Georgia" pitchFamily="34" charset="-120"/>
              </a:rPr>
              <a:t>Failover Initiated</a:t>
            </a:r>
            <a:endParaRPr lang="en-US" sz="1500" dirty="0"/>
          </a:p>
        </p:txBody>
      </p:sp>
      <p:sp>
        <p:nvSpPr>
          <p:cNvPr id="10" name="Text 8"/>
          <p:cNvSpPr/>
          <p:nvPr/>
        </p:nvSpPr>
        <p:spPr>
          <a:xfrm>
            <a:off x="548640" y="1691640"/>
            <a:ext cx="3749040" cy="731520"/>
          </a:xfrm>
          <a:prstGeom prst="rect">
            <a:avLst/>
          </a:prstGeom>
          <a:noFill/>
          <a:ln/>
        </p:spPr>
        <p:txBody>
          <a:bodyPr wrap="square" lIns="0" tIns="0" rIns="0" bIns="0" rtlCol="0" anchor="ctr"/>
          <a:lstStyle/>
          <a:p>
            <a:pPr marL="0" indent="0">
              <a:lnSpc>
                <a:spcPct val="130000"/>
              </a:lnSpc>
              <a:buNone/>
            </a:pPr>
            <a:r>
              <a:rPr lang="en-US" sz="1100" dirty="0">
                <a:solidFill>
                  <a:srgbClr val="1A6B5A"/>
                </a:solidFill>
                <a:latin typeface="Calibri" pitchFamily="34" charset="0"/>
                <a:ea typeface="Calibri" pitchFamily="34" charset="-122"/>
                <a:cs typeface="Calibri" pitchFamily="34" charset="-120"/>
              </a:rPr>
              <a:t>The RDS primary instance was rebooted with the failover option selected. The Multi-AZ deployment ensured a synchronous standby replica existed in a secondary AZ. Status changed to "Rebooting."</a:t>
            </a:r>
            <a:endParaRPr lang="en-US" sz="1100" dirty="0"/>
          </a:p>
        </p:txBody>
      </p:sp>
      <p:pic>
        <p:nvPicPr>
          <p:cNvPr id="11" name="Image 0" descr="/home/claude/media/image42.jpg"/>
          <p:cNvPicPr>
            <a:picLocks noChangeAspect="1"/>
          </p:cNvPicPr>
          <p:nvPr/>
        </p:nvPicPr>
        <p:blipFill>
          <a:blip r:embed="rId3"/>
          <a:srcRect/>
          <a:stretch/>
        </p:blipFill>
        <p:spPr>
          <a:xfrm>
            <a:off x="548640" y="2514600"/>
            <a:ext cx="3749040" cy="2194560"/>
          </a:xfrm>
          <a:prstGeom prst="rect">
            <a:avLst/>
          </a:prstGeom>
        </p:spPr>
      </p:pic>
      <p:sp>
        <p:nvSpPr>
          <p:cNvPr id="12" name="Shape 9"/>
          <p:cNvSpPr/>
          <p:nvPr/>
        </p:nvSpPr>
        <p:spPr>
          <a:xfrm>
            <a:off x="4663440" y="1005840"/>
            <a:ext cx="4114800" cy="3840480"/>
          </a:xfrm>
          <a:prstGeom prst="rect">
            <a:avLst/>
          </a:prstGeom>
          <a:solidFill>
            <a:srgbClr val="F8F4EC"/>
          </a:solidFill>
          <a:ln/>
          <a:effectLst>
            <a:outerShdw blurRad="76200" dist="25400" dir="8100000" algn="bl" rotWithShape="0">
              <a:srgbClr val="000000">
                <a:alpha val="12000"/>
              </a:srgbClr>
            </a:outerShdw>
          </a:effectLst>
        </p:spPr>
        <p:txBody>
          <a:bodyPr/>
          <a:lstStyle/>
          <a:p>
            <a:endParaRPr lang="en-US"/>
          </a:p>
        </p:txBody>
      </p:sp>
      <p:sp>
        <p:nvSpPr>
          <p:cNvPr id="13" name="Shape 10"/>
          <p:cNvSpPr/>
          <p:nvPr/>
        </p:nvSpPr>
        <p:spPr>
          <a:xfrm>
            <a:off x="4663440" y="1005840"/>
            <a:ext cx="4114800" cy="54864"/>
          </a:xfrm>
          <a:prstGeom prst="rect">
            <a:avLst/>
          </a:prstGeom>
          <a:solidFill>
            <a:srgbClr val="F39C12"/>
          </a:solidFill>
          <a:ln/>
        </p:spPr>
        <p:txBody>
          <a:bodyPr/>
          <a:lstStyle/>
          <a:p>
            <a:endParaRPr lang="en-US"/>
          </a:p>
        </p:txBody>
      </p:sp>
      <p:sp>
        <p:nvSpPr>
          <p:cNvPr id="14" name="Shape 11"/>
          <p:cNvSpPr/>
          <p:nvPr/>
        </p:nvSpPr>
        <p:spPr>
          <a:xfrm>
            <a:off x="4846320" y="1188720"/>
            <a:ext cx="411480" cy="411480"/>
          </a:xfrm>
          <a:prstGeom prst="ellipse">
            <a:avLst/>
          </a:prstGeom>
          <a:solidFill>
            <a:srgbClr val="F39C12"/>
          </a:solidFill>
          <a:ln/>
        </p:spPr>
        <p:txBody>
          <a:bodyPr/>
          <a:lstStyle/>
          <a:p>
            <a:endParaRPr lang="en-US"/>
          </a:p>
        </p:txBody>
      </p:sp>
      <p:sp>
        <p:nvSpPr>
          <p:cNvPr id="15" name="Text 12"/>
          <p:cNvSpPr/>
          <p:nvPr/>
        </p:nvSpPr>
        <p:spPr>
          <a:xfrm>
            <a:off x="4846320" y="1188720"/>
            <a:ext cx="411480" cy="411480"/>
          </a:xfrm>
          <a:prstGeom prst="rect">
            <a:avLst/>
          </a:prstGeom>
          <a:noFill/>
          <a:ln/>
        </p:spPr>
        <p:txBody>
          <a:bodyPr wrap="square" lIns="0" tIns="0" rIns="0" bIns="0" rtlCol="0" anchor="ctr"/>
          <a:lstStyle/>
          <a:p>
            <a:pPr marL="0" indent="0" algn="ctr">
              <a:buNone/>
            </a:pPr>
            <a:r>
              <a:rPr lang="en-US" sz="1600" b="1" dirty="0">
                <a:solidFill>
                  <a:srgbClr val="1A2B4A"/>
                </a:solidFill>
                <a:latin typeface="Georgia" pitchFamily="34" charset="0"/>
                <a:ea typeface="Georgia" pitchFamily="34" charset="-122"/>
                <a:cs typeface="Georgia" pitchFamily="34" charset="-120"/>
              </a:rPr>
              <a:t>2</a:t>
            </a:r>
            <a:endParaRPr lang="en-US" sz="1600" dirty="0"/>
          </a:p>
        </p:txBody>
      </p:sp>
      <p:sp>
        <p:nvSpPr>
          <p:cNvPr id="16" name="Text 13"/>
          <p:cNvSpPr/>
          <p:nvPr/>
        </p:nvSpPr>
        <p:spPr>
          <a:xfrm>
            <a:off x="5394960" y="1188720"/>
            <a:ext cx="3200400" cy="365760"/>
          </a:xfrm>
          <a:prstGeom prst="rect">
            <a:avLst/>
          </a:prstGeom>
          <a:noFill/>
          <a:ln/>
        </p:spPr>
        <p:txBody>
          <a:bodyPr wrap="square" lIns="0" tIns="0" rIns="0" bIns="0" rtlCol="0" anchor="ctr"/>
          <a:lstStyle/>
          <a:p>
            <a:pPr marL="0" indent="0">
              <a:buNone/>
            </a:pPr>
            <a:r>
              <a:rPr lang="en-US" sz="1500" b="1" dirty="0">
                <a:solidFill>
                  <a:srgbClr val="1A2B4A"/>
                </a:solidFill>
                <a:latin typeface="Georgia" pitchFamily="34" charset="0"/>
                <a:ea typeface="Georgia" pitchFamily="34" charset="-122"/>
                <a:cs typeface="Georgia" pitchFamily="34" charset="-120"/>
              </a:rPr>
              <a:t>Brief Expected Disruption</a:t>
            </a:r>
            <a:endParaRPr lang="en-US" sz="1500" dirty="0"/>
          </a:p>
        </p:txBody>
      </p:sp>
      <p:sp>
        <p:nvSpPr>
          <p:cNvPr id="17" name="Text 14"/>
          <p:cNvSpPr/>
          <p:nvPr/>
        </p:nvSpPr>
        <p:spPr>
          <a:xfrm>
            <a:off x="4846320" y="1691640"/>
            <a:ext cx="3749040" cy="731520"/>
          </a:xfrm>
          <a:prstGeom prst="rect">
            <a:avLst/>
          </a:prstGeom>
          <a:noFill/>
          <a:ln/>
        </p:spPr>
        <p:txBody>
          <a:bodyPr wrap="square" lIns="0" tIns="0" rIns="0" bIns="0" rtlCol="0" anchor="ctr"/>
          <a:lstStyle/>
          <a:p>
            <a:pPr marL="0" indent="0">
              <a:lnSpc>
                <a:spcPct val="130000"/>
              </a:lnSpc>
              <a:buNone/>
            </a:pPr>
            <a:r>
              <a:rPr lang="en-US" sz="1100" dirty="0">
                <a:solidFill>
                  <a:srgbClr val="1A6B5A"/>
                </a:solidFill>
                <a:latin typeface="Calibri" pitchFamily="34" charset="0"/>
                <a:ea typeface="Calibri" pitchFamily="34" charset="-122"/>
                <a:cs typeface="Calibri" pitchFamily="34" charset="-120"/>
              </a:rPr>
              <a:t>During DNS propagation to the standby instance, the application temporarily lost database connectivity. Users saw a brief server error. This is expected and confirms the failover process was in progress.</a:t>
            </a:r>
            <a:endParaRPr lang="en-US" sz="1100" dirty="0"/>
          </a:p>
        </p:txBody>
      </p:sp>
      <p:pic>
        <p:nvPicPr>
          <p:cNvPr id="18" name="Image 1" descr="/home/claude/media/image43.jpg"/>
          <p:cNvPicPr>
            <a:picLocks noChangeAspect="1"/>
          </p:cNvPicPr>
          <p:nvPr/>
        </p:nvPicPr>
        <p:blipFill>
          <a:blip r:embed="rId4"/>
          <a:srcRect/>
          <a:stretch/>
        </p:blipFill>
        <p:spPr>
          <a:xfrm>
            <a:off x="4846320" y="2514600"/>
            <a:ext cx="3749040" cy="2194560"/>
          </a:xfrm>
          <a:prstGeom prst="rect">
            <a:avLst/>
          </a:prstGeom>
        </p:spPr>
      </p:pic>
      <p:sp>
        <p:nvSpPr>
          <p:cNvPr id="19" name="Text 15"/>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5A6B7F"/>
                </a:solidFill>
                <a:latin typeface="Calibri" pitchFamily="34" charset="0"/>
                <a:ea typeface="Calibri" pitchFamily="34" charset="-122"/>
                <a:cs typeface="Calibri" pitchFamily="34" charset="-120"/>
              </a:rPr>
              <a:t>23 / 25</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DE8D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39C12"/>
          </a:solidFill>
          <a:ln/>
        </p:spPr>
        <p:txBody>
          <a:bodyPr/>
          <a:lstStyle/>
          <a:p>
            <a:endParaRPr lang="en-US"/>
          </a:p>
        </p:txBody>
      </p:sp>
      <p:sp>
        <p:nvSpPr>
          <p:cNvPr id="3" name="Text 1"/>
          <p:cNvSpPr/>
          <p:nvPr/>
        </p:nvSpPr>
        <p:spPr>
          <a:xfrm>
            <a:off x="457200" y="182880"/>
            <a:ext cx="5486400" cy="411480"/>
          </a:xfrm>
          <a:prstGeom prst="rect">
            <a:avLst/>
          </a:prstGeom>
          <a:noFill/>
          <a:ln/>
        </p:spPr>
        <p:txBody>
          <a:bodyPr wrap="square" lIns="0" tIns="0" rIns="0" bIns="0" rtlCol="0" anchor="ctr"/>
          <a:lstStyle/>
          <a:p>
            <a:pPr marL="0" indent="0">
              <a:buNone/>
            </a:pPr>
            <a:r>
              <a:rPr lang="en-US" sz="2200" b="1" dirty="0">
                <a:solidFill>
                  <a:srgbClr val="1A2B4A"/>
                </a:solidFill>
                <a:latin typeface="Georgia" pitchFamily="34" charset="0"/>
                <a:ea typeface="Georgia" pitchFamily="34" charset="-122"/>
                <a:cs typeface="Georgia" pitchFamily="34" charset="-120"/>
              </a:rPr>
              <a:t>TEST 2: DATABASE TIER HA (cont.)</a:t>
            </a:r>
            <a:endParaRPr lang="en-US" sz="2200" dirty="0"/>
          </a:p>
        </p:txBody>
      </p:sp>
      <p:sp>
        <p:nvSpPr>
          <p:cNvPr id="4" name="Text 2"/>
          <p:cNvSpPr/>
          <p:nvPr/>
        </p:nvSpPr>
        <p:spPr>
          <a:xfrm>
            <a:off x="457200" y="594360"/>
            <a:ext cx="7315200" cy="274320"/>
          </a:xfrm>
          <a:prstGeom prst="rect">
            <a:avLst/>
          </a:prstGeom>
          <a:noFill/>
          <a:ln/>
        </p:spPr>
        <p:txBody>
          <a:bodyPr wrap="square" lIns="0" tIns="0" rIns="0" bIns="0" rtlCol="0" anchor="ctr"/>
          <a:lstStyle/>
          <a:p>
            <a:pPr marL="0" indent="0">
              <a:buNone/>
            </a:pPr>
            <a:r>
              <a:rPr lang="en-US" sz="1100" i="1" dirty="0">
                <a:solidFill>
                  <a:srgbClr val="1A6B5A"/>
                </a:solidFill>
                <a:latin typeface="Calibri" pitchFamily="34" charset="0"/>
                <a:ea typeface="Calibri" pitchFamily="34" charset="-122"/>
                <a:cs typeface="Calibri" pitchFamily="34" charset="-120"/>
              </a:rPr>
              <a:t>Step 3: SNS Alert  →  Step 4: Full Recovery with Zero Data Loss</a:t>
            </a:r>
            <a:endParaRPr lang="en-US" sz="1100" dirty="0"/>
          </a:p>
        </p:txBody>
      </p:sp>
      <p:sp>
        <p:nvSpPr>
          <p:cNvPr id="5" name="Shape 3"/>
          <p:cNvSpPr/>
          <p:nvPr/>
        </p:nvSpPr>
        <p:spPr>
          <a:xfrm>
            <a:off x="365760" y="1005840"/>
            <a:ext cx="4114800" cy="3840480"/>
          </a:xfrm>
          <a:prstGeom prst="rect">
            <a:avLst/>
          </a:prstGeom>
          <a:solidFill>
            <a:srgbClr val="F8F4EC"/>
          </a:solidFill>
          <a:ln/>
          <a:effectLst>
            <a:outerShdw blurRad="76200" dist="25400" dir="8100000" algn="bl" rotWithShape="0">
              <a:srgbClr val="000000">
                <a:alpha val="12000"/>
              </a:srgbClr>
            </a:outerShdw>
          </a:effectLst>
        </p:spPr>
        <p:txBody>
          <a:bodyPr/>
          <a:lstStyle/>
          <a:p>
            <a:endParaRPr lang="en-US"/>
          </a:p>
        </p:txBody>
      </p:sp>
      <p:sp>
        <p:nvSpPr>
          <p:cNvPr id="6" name="Shape 4"/>
          <p:cNvSpPr/>
          <p:nvPr/>
        </p:nvSpPr>
        <p:spPr>
          <a:xfrm>
            <a:off x="365760" y="1005840"/>
            <a:ext cx="4114800" cy="54864"/>
          </a:xfrm>
          <a:prstGeom prst="rect">
            <a:avLst/>
          </a:prstGeom>
          <a:solidFill>
            <a:srgbClr val="F39C12"/>
          </a:solidFill>
          <a:ln/>
        </p:spPr>
        <p:txBody>
          <a:bodyPr/>
          <a:lstStyle/>
          <a:p>
            <a:endParaRPr lang="en-US"/>
          </a:p>
        </p:txBody>
      </p:sp>
      <p:sp>
        <p:nvSpPr>
          <p:cNvPr id="7" name="Shape 5"/>
          <p:cNvSpPr/>
          <p:nvPr/>
        </p:nvSpPr>
        <p:spPr>
          <a:xfrm>
            <a:off x="548640" y="1188720"/>
            <a:ext cx="411480" cy="411480"/>
          </a:xfrm>
          <a:prstGeom prst="ellipse">
            <a:avLst/>
          </a:prstGeom>
          <a:solidFill>
            <a:srgbClr val="F39C12"/>
          </a:solidFill>
          <a:ln/>
        </p:spPr>
        <p:txBody>
          <a:bodyPr/>
          <a:lstStyle/>
          <a:p>
            <a:endParaRPr lang="en-US"/>
          </a:p>
        </p:txBody>
      </p:sp>
      <p:sp>
        <p:nvSpPr>
          <p:cNvPr id="8" name="Text 6"/>
          <p:cNvSpPr/>
          <p:nvPr/>
        </p:nvSpPr>
        <p:spPr>
          <a:xfrm>
            <a:off x="548640" y="1188720"/>
            <a:ext cx="411480" cy="411480"/>
          </a:xfrm>
          <a:prstGeom prst="rect">
            <a:avLst/>
          </a:prstGeom>
          <a:noFill/>
          <a:ln/>
        </p:spPr>
        <p:txBody>
          <a:bodyPr wrap="square" lIns="0" tIns="0" rIns="0" bIns="0" rtlCol="0" anchor="ctr"/>
          <a:lstStyle/>
          <a:p>
            <a:pPr marL="0" indent="0" algn="ctr">
              <a:buNone/>
            </a:pPr>
            <a:r>
              <a:rPr lang="en-US" sz="1600" b="1" dirty="0">
                <a:solidFill>
                  <a:srgbClr val="1A2B4A"/>
                </a:solidFill>
                <a:latin typeface="Georgia" pitchFamily="34" charset="0"/>
                <a:ea typeface="Georgia" pitchFamily="34" charset="-122"/>
                <a:cs typeface="Georgia" pitchFamily="34" charset="-120"/>
              </a:rPr>
              <a:t>3</a:t>
            </a:r>
            <a:endParaRPr lang="en-US" sz="1600" dirty="0"/>
          </a:p>
        </p:txBody>
      </p:sp>
      <p:sp>
        <p:nvSpPr>
          <p:cNvPr id="9" name="Text 7"/>
          <p:cNvSpPr/>
          <p:nvPr/>
        </p:nvSpPr>
        <p:spPr>
          <a:xfrm>
            <a:off x="1097280" y="1188720"/>
            <a:ext cx="3200400" cy="365760"/>
          </a:xfrm>
          <a:prstGeom prst="rect">
            <a:avLst/>
          </a:prstGeom>
          <a:noFill/>
          <a:ln/>
        </p:spPr>
        <p:txBody>
          <a:bodyPr wrap="square" lIns="0" tIns="0" rIns="0" bIns="0" rtlCol="0" anchor="ctr"/>
          <a:lstStyle/>
          <a:p>
            <a:pPr marL="0" indent="0">
              <a:buNone/>
            </a:pPr>
            <a:r>
              <a:rPr lang="en-US" sz="1500" b="1" dirty="0">
                <a:solidFill>
                  <a:srgbClr val="1A2B4A"/>
                </a:solidFill>
                <a:latin typeface="Georgia" pitchFamily="34" charset="0"/>
                <a:ea typeface="Georgia" pitchFamily="34" charset="-122"/>
                <a:cs typeface="Georgia" pitchFamily="34" charset="-120"/>
              </a:rPr>
              <a:t>SNS Notification: DB Alarm</a:t>
            </a:r>
            <a:endParaRPr lang="en-US" sz="1500" dirty="0"/>
          </a:p>
        </p:txBody>
      </p:sp>
      <p:sp>
        <p:nvSpPr>
          <p:cNvPr id="10" name="Text 8"/>
          <p:cNvSpPr/>
          <p:nvPr/>
        </p:nvSpPr>
        <p:spPr>
          <a:xfrm>
            <a:off x="548640" y="1691640"/>
            <a:ext cx="3749040" cy="640080"/>
          </a:xfrm>
          <a:prstGeom prst="rect">
            <a:avLst/>
          </a:prstGeom>
          <a:noFill/>
          <a:ln/>
        </p:spPr>
        <p:txBody>
          <a:bodyPr wrap="square" lIns="0" tIns="0" rIns="0" bIns="0" rtlCol="0" anchor="ctr"/>
          <a:lstStyle/>
          <a:p>
            <a:pPr marL="0" indent="0">
              <a:lnSpc>
                <a:spcPct val="130000"/>
              </a:lnSpc>
              <a:buNone/>
            </a:pPr>
            <a:r>
              <a:rPr lang="en-US" sz="1100" dirty="0">
                <a:solidFill>
                  <a:srgbClr val="1A6B5A"/>
                </a:solidFill>
                <a:latin typeface="Calibri" pitchFamily="34" charset="0"/>
                <a:ea typeface="Calibri" pitchFamily="34" charset="-122"/>
                <a:cs typeface="Calibri" pitchFamily="34" charset="-120"/>
              </a:rPr>
              <a:t>The CloudWatch alarm (taskboard-db-connections-down) detected zero active database connections and triggered an SNS email notification to the administrator.</a:t>
            </a:r>
            <a:endParaRPr lang="en-US" sz="1100" dirty="0"/>
          </a:p>
        </p:txBody>
      </p:sp>
      <p:pic>
        <p:nvPicPr>
          <p:cNvPr id="11" name="Image 0" descr="/home/claude/media/image44.jpg"/>
          <p:cNvPicPr>
            <a:picLocks noChangeAspect="1"/>
          </p:cNvPicPr>
          <p:nvPr/>
        </p:nvPicPr>
        <p:blipFill>
          <a:blip r:embed="rId3"/>
          <a:srcRect/>
          <a:stretch/>
        </p:blipFill>
        <p:spPr>
          <a:xfrm>
            <a:off x="548640" y="2423160"/>
            <a:ext cx="3749040" cy="2286000"/>
          </a:xfrm>
          <a:prstGeom prst="rect">
            <a:avLst/>
          </a:prstGeom>
        </p:spPr>
      </p:pic>
      <p:sp>
        <p:nvSpPr>
          <p:cNvPr id="12" name="Shape 9"/>
          <p:cNvSpPr/>
          <p:nvPr/>
        </p:nvSpPr>
        <p:spPr>
          <a:xfrm>
            <a:off x="4663440" y="1005840"/>
            <a:ext cx="4114800" cy="3840480"/>
          </a:xfrm>
          <a:prstGeom prst="rect">
            <a:avLst/>
          </a:prstGeom>
          <a:solidFill>
            <a:srgbClr val="F8F4EC"/>
          </a:solidFill>
          <a:ln/>
          <a:effectLst>
            <a:outerShdw blurRad="76200" dist="25400" dir="8100000" algn="bl" rotWithShape="0">
              <a:srgbClr val="000000">
                <a:alpha val="12000"/>
              </a:srgbClr>
            </a:outerShdw>
          </a:effectLst>
        </p:spPr>
        <p:txBody>
          <a:bodyPr/>
          <a:lstStyle/>
          <a:p>
            <a:endParaRPr lang="en-US"/>
          </a:p>
        </p:txBody>
      </p:sp>
      <p:sp>
        <p:nvSpPr>
          <p:cNvPr id="13" name="Shape 10"/>
          <p:cNvSpPr/>
          <p:nvPr/>
        </p:nvSpPr>
        <p:spPr>
          <a:xfrm>
            <a:off x="4663440" y="1005840"/>
            <a:ext cx="4114800" cy="54864"/>
          </a:xfrm>
          <a:prstGeom prst="rect">
            <a:avLst/>
          </a:prstGeom>
          <a:solidFill>
            <a:srgbClr val="F39C12"/>
          </a:solidFill>
          <a:ln/>
        </p:spPr>
        <p:txBody>
          <a:bodyPr/>
          <a:lstStyle/>
          <a:p>
            <a:endParaRPr lang="en-US"/>
          </a:p>
        </p:txBody>
      </p:sp>
      <p:sp>
        <p:nvSpPr>
          <p:cNvPr id="14" name="Shape 11"/>
          <p:cNvSpPr/>
          <p:nvPr/>
        </p:nvSpPr>
        <p:spPr>
          <a:xfrm>
            <a:off x="4846320" y="1188720"/>
            <a:ext cx="411480" cy="411480"/>
          </a:xfrm>
          <a:prstGeom prst="ellipse">
            <a:avLst/>
          </a:prstGeom>
          <a:solidFill>
            <a:srgbClr val="F39C12"/>
          </a:solidFill>
          <a:ln/>
        </p:spPr>
        <p:txBody>
          <a:bodyPr/>
          <a:lstStyle/>
          <a:p>
            <a:endParaRPr lang="en-US"/>
          </a:p>
        </p:txBody>
      </p:sp>
      <p:sp>
        <p:nvSpPr>
          <p:cNvPr id="15" name="Text 12"/>
          <p:cNvSpPr/>
          <p:nvPr/>
        </p:nvSpPr>
        <p:spPr>
          <a:xfrm>
            <a:off x="4846320" y="1188720"/>
            <a:ext cx="411480" cy="411480"/>
          </a:xfrm>
          <a:prstGeom prst="rect">
            <a:avLst/>
          </a:prstGeom>
          <a:noFill/>
          <a:ln/>
        </p:spPr>
        <p:txBody>
          <a:bodyPr wrap="square" lIns="0" tIns="0" rIns="0" bIns="0" rtlCol="0" anchor="ctr"/>
          <a:lstStyle/>
          <a:p>
            <a:pPr marL="0" indent="0" algn="ctr">
              <a:buNone/>
            </a:pPr>
            <a:r>
              <a:rPr lang="en-US" sz="1600" b="1" dirty="0">
                <a:solidFill>
                  <a:srgbClr val="1A2B4A"/>
                </a:solidFill>
                <a:latin typeface="Georgia" pitchFamily="34" charset="0"/>
                <a:ea typeface="Georgia" pitchFamily="34" charset="-122"/>
                <a:cs typeface="Georgia" pitchFamily="34" charset="-120"/>
              </a:rPr>
              <a:t>4</a:t>
            </a:r>
            <a:endParaRPr lang="en-US" sz="1600" dirty="0"/>
          </a:p>
        </p:txBody>
      </p:sp>
      <p:sp>
        <p:nvSpPr>
          <p:cNvPr id="16" name="Text 13"/>
          <p:cNvSpPr/>
          <p:nvPr/>
        </p:nvSpPr>
        <p:spPr>
          <a:xfrm>
            <a:off x="5394960" y="1188720"/>
            <a:ext cx="3200400" cy="365760"/>
          </a:xfrm>
          <a:prstGeom prst="rect">
            <a:avLst/>
          </a:prstGeom>
          <a:noFill/>
          <a:ln/>
        </p:spPr>
        <p:txBody>
          <a:bodyPr wrap="square" lIns="0" tIns="0" rIns="0" bIns="0" rtlCol="0" anchor="ctr"/>
          <a:lstStyle/>
          <a:p>
            <a:pPr marL="0" indent="0">
              <a:buNone/>
            </a:pPr>
            <a:r>
              <a:rPr lang="en-US" sz="1500" b="1" dirty="0">
                <a:solidFill>
                  <a:srgbClr val="1A2B4A"/>
                </a:solidFill>
                <a:latin typeface="Georgia" pitchFamily="34" charset="0"/>
                <a:ea typeface="Georgia" pitchFamily="34" charset="-122"/>
                <a:cs typeface="Georgia" pitchFamily="34" charset="-120"/>
              </a:rPr>
              <a:t>Fully Restored: Zero Data Loss</a:t>
            </a:r>
            <a:endParaRPr lang="en-US" sz="1500" dirty="0"/>
          </a:p>
        </p:txBody>
      </p:sp>
      <p:sp>
        <p:nvSpPr>
          <p:cNvPr id="17" name="Text 14"/>
          <p:cNvSpPr/>
          <p:nvPr/>
        </p:nvSpPr>
        <p:spPr>
          <a:xfrm>
            <a:off x="4846320" y="1691640"/>
            <a:ext cx="3749040" cy="640080"/>
          </a:xfrm>
          <a:prstGeom prst="rect">
            <a:avLst/>
          </a:prstGeom>
          <a:noFill/>
          <a:ln/>
        </p:spPr>
        <p:txBody>
          <a:bodyPr wrap="square" lIns="0" tIns="0" rIns="0" bIns="0" rtlCol="0" anchor="ctr"/>
          <a:lstStyle/>
          <a:p>
            <a:pPr marL="0" indent="0">
              <a:lnSpc>
                <a:spcPct val="130000"/>
              </a:lnSpc>
              <a:buNone/>
            </a:pPr>
            <a:r>
              <a:rPr lang="en-US" sz="1100" dirty="0">
                <a:solidFill>
                  <a:srgbClr val="1A6B5A"/>
                </a:solidFill>
                <a:latin typeface="Calibri" pitchFamily="34" charset="0"/>
                <a:ea typeface="Calibri" pitchFamily="34" charset="-122"/>
                <a:cs typeface="Calibri" pitchFamily="34" charset="-120"/>
              </a:rPr>
              <a:t>The standby instance promoted to primary. RDS status returned to "Available" and the application automatically reconnected. Refreshing the app confirmed all job listings displayed correctly with zero data loss.</a:t>
            </a:r>
            <a:endParaRPr lang="en-US" sz="1100" dirty="0"/>
          </a:p>
        </p:txBody>
      </p:sp>
      <p:pic>
        <p:nvPicPr>
          <p:cNvPr id="18" name="Image 1" descr="/home/claude/media/image47.jpg"/>
          <p:cNvPicPr>
            <a:picLocks noChangeAspect="1"/>
          </p:cNvPicPr>
          <p:nvPr/>
        </p:nvPicPr>
        <p:blipFill>
          <a:blip r:embed="rId4"/>
          <a:srcRect/>
          <a:stretch/>
        </p:blipFill>
        <p:spPr>
          <a:xfrm>
            <a:off x="4846320" y="2423160"/>
            <a:ext cx="3749040" cy="2286000"/>
          </a:xfrm>
          <a:prstGeom prst="rect">
            <a:avLst/>
          </a:prstGeom>
        </p:spPr>
      </p:pic>
      <p:sp>
        <p:nvSpPr>
          <p:cNvPr id="19" name="Text 15"/>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5A6B7F"/>
                </a:solidFill>
                <a:latin typeface="Calibri" pitchFamily="34" charset="0"/>
                <a:ea typeface="Calibri" pitchFamily="34" charset="-122"/>
                <a:cs typeface="Calibri" pitchFamily="34" charset="-120"/>
              </a:rPr>
              <a:t>24 / 25</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EDE8D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6A085"/>
          </a:solidFill>
          <a:ln/>
        </p:spPr>
        <p:txBody>
          <a:bodyPr/>
          <a:lstStyle/>
          <a:p>
            <a:endParaRPr lang="en-US"/>
          </a:p>
        </p:txBody>
      </p:sp>
      <p:sp>
        <p:nvSpPr>
          <p:cNvPr id="3" name="Shape 1"/>
          <p:cNvSpPr/>
          <p:nvPr/>
        </p:nvSpPr>
        <p:spPr>
          <a:xfrm>
            <a:off x="-1828800" y="1828800"/>
            <a:ext cx="5486400" cy="5486400"/>
          </a:xfrm>
          <a:prstGeom prst="ellipse">
            <a:avLst/>
          </a:prstGeom>
          <a:solidFill>
            <a:srgbClr val="F8F4EC">
              <a:alpha val="50000"/>
            </a:srgbClr>
          </a:solidFill>
          <a:ln/>
        </p:spPr>
        <p:txBody>
          <a:bodyPr/>
          <a:lstStyle/>
          <a:p>
            <a:endParaRPr lang="en-US"/>
          </a:p>
        </p:txBody>
      </p:sp>
      <p:sp>
        <p:nvSpPr>
          <p:cNvPr id="4" name="Shape 2"/>
          <p:cNvSpPr/>
          <p:nvPr/>
        </p:nvSpPr>
        <p:spPr>
          <a:xfrm>
            <a:off x="6400800" y="-914400"/>
            <a:ext cx="4572000" cy="4572000"/>
          </a:xfrm>
          <a:prstGeom prst="ellipse">
            <a:avLst/>
          </a:prstGeom>
          <a:solidFill>
            <a:srgbClr val="16A085">
              <a:alpha val="15000"/>
            </a:srgbClr>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3977640" y="731520"/>
            <a:ext cx="640080" cy="640080"/>
          </a:xfrm>
          <a:prstGeom prst="rect">
            <a:avLst/>
          </a:prstGeom>
        </p:spPr>
      </p:pic>
      <p:sp>
        <p:nvSpPr>
          <p:cNvPr id="6" name="Text 3"/>
          <p:cNvSpPr/>
          <p:nvPr/>
        </p:nvSpPr>
        <p:spPr>
          <a:xfrm>
            <a:off x="914400" y="1463040"/>
            <a:ext cx="7315200" cy="640080"/>
          </a:xfrm>
          <a:prstGeom prst="rect">
            <a:avLst/>
          </a:prstGeom>
          <a:noFill/>
          <a:ln/>
        </p:spPr>
        <p:txBody>
          <a:bodyPr wrap="square" lIns="0" tIns="0" rIns="0" bIns="0" rtlCol="0" anchor="ctr"/>
          <a:lstStyle/>
          <a:p>
            <a:pPr marL="0" indent="0" algn="ctr">
              <a:buNone/>
            </a:pPr>
            <a:r>
              <a:rPr lang="en-US" sz="3600" b="1" dirty="0">
                <a:solidFill>
                  <a:srgbClr val="1A2B4A"/>
                </a:solidFill>
                <a:latin typeface="Georgia" pitchFamily="34" charset="0"/>
                <a:ea typeface="Georgia" pitchFamily="34" charset="-122"/>
                <a:cs typeface="Georgia" pitchFamily="34" charset="-120"/>
              </a:rPr>
              <a:t>CONCLUSION</a:t>
            </a:r>
            <a:endParaRPr lang="en-US" sz="3600" dirty="0"/>
          </a:p>
        </p:txBody>
      </p:sp>
      <p:sp>
        <p:nvSpPr>
          <p:cNvPr id="7" name="Shape 4"/>
          <p:cNvSpPr/>
          <p:nvPr/>
        </p:nvSpPr>
        <p:spPr>
          <a:xfrm>
            <a:off x="3931920" y="2194560"/>
            <a:ext cx="1280160" cy="36576"/>
          </a:xfrm>
          <a:prstGeom prst="rect">
            <a:avLst/>
          </a:prstGeom>
          <a:solidFill>
            <a:srgbClr val="16A085"/>
          </a:solidFill>
          <a:ln/>
        </p:spPr>
        <p:txBody>
          <a:bodyPr/>
          <a:lstStyle/>
          <a:p>
            <a:endParaRPr lang="en-US"/>
          </a:p>
        </p:txBody>
      </p:sp>
      <p:sp>
        <p:nvSpPr>
          <p:cNvPr id="8" name="Text 5"/>
          <p:cNvSpPr/>
          <p:nvPr/>
        </p:nvSpPr>
        <p:spPr>
          <a:xfrm>
            <a:off x="1371600" y="2468880"/>
            <a:ext cx="6400800" cy="914400"/>
          </a:xfrm>
          <a:prstGeom prst="rect">
            <a:avLst/>
          </a:prstGeom>
          <a:noFill/>
          <a:ln/>
        </p:spPr>
        <p:txBody>
          <a:bodyPr wrap="square" lIns="0" tIns="0" rIns="0" bIns="0" rtlCol="0" anchor="ctr"/>
          <a:lstStyle/>
          <a:p>
            <a:pPr marL="0" indent="0" algn="ctr">
              <a:lnSpc>
                <a:spcPct val="140000"/>
              </a:lnSpc>
              <a:buNone/>
            </a:pPr>
            <a:r>
              <a:rPr lang="en-US" sz="1300" dirty="0">
                <a:solidFill>
                  <a:srgbClr val="1A6B5A"/>
                </a:solidFill>
                <a:latin typeface="Calibri" pitchFamily="34" charset="0"/>
                <a:ea typeface="Calibri" pitchFamily="34" charset="-122"/>
                <a:cs typeface="Calibri" pitchFamily="34" charset="-120"/>
              </a:rPr>
              <a:t>TaskMatch successfully demonstrates a production-grade, multi-tier AWS deployment with high availability, automated scaling, layered security, and verified fault tolerance across both compute and database tiers.</a:t>
            </a:r>
            <a:endParaRPr lang="en-US" sz="1300" dirty="0"/>
          </a:p>
        </p:txBody>
      </p:sp>
      <p:pic>
        <p:nvPicPr>
          <p:cNvPr id="9" name="Image 1" descr="preencoded.png"/>
          <p:cNvPicPr>
            <a:picLocks noChangeAspect="1"/>
          </p:cNvPicPr>
          <p:nvPr/>
        </p:nvPicPr>
        <p:blipFill>
          <a:blip r:embed="rId4"/>
          <a:stretch>
            <a:fillRect/>
          </a:stretch>
        </p:blipFill>
        <p:spPr>
          <a:xfrm>
            <a:off x="1234440" y="3566160"/>
            <a:ext cx="365760" cy="365760"/>
          </a:xfrm>
          <a:prstGeom prst="rect">
            <a:avLst/>
          </a:prstGeom>
        </p:spPr>
      </p:pic>
      <p:sp>
        <p:nvSpPr>
          <p:cNvPr id="10" name="Text 6"/>
          <p:cNvSpPr/>
          <p:nvPr/>
        </p:nvSpPr>
        <p:spPr>
          <a:xfrm>
            <a:off x="731520" y="3977640"/>
            <a:ext cx="1554480" cy="365760"/>
          </a:xfrm>
          <a:prstGeom prst="rect">
            <a:avLst/>
          </a:prstGeom>
          <a:noFill/>
          <a:ln/>
        </p:spPr>
        <p:txBody>
          <a:bodyPr wrap="square" lIns="0" tIns="0" rIns="0" bIns="0" rtlCol="0" anchor="ctr"/>
          <a:lstStyle/>
          <a:p>
            <a:pPr marL="0" indent="0" algn="ctr">
              <a:buNone/>
            </a:pPr>
            <a:r>
              <a:rPr lang="en-US" sz="1000" dirty="0">
                <a:solidFill>
                  <a:srgbClr val="1A6B5A"/>
                </a:solidFill>
                <a:latin typeface="Calibri" pitchFamily="34" charset="0"/>
                <a:ea typeface="Calibri" pitchFamily="34" charset="-122"/>
                <a:cs typeface="Calibri" pitchFamily="34" charset="-120"/>
              </a:rPr>
              <a:t>Multi-AZ High Availability</a:t>
            </a:r>
            <a:endParaRPr lang="en-US" sz="1000" dirty="0"/>
          </a:p>
        </p:txBody>
      </p:sp>
      <p:pic>
        <p:nvPicPr>
          <p:cNvPr id="11" name="Image 2" descr="preencoded.png"/>
          <p:cNvPicPr>
            <a:picLocks noChangeAspect="1"/>
          </p:cNvPicPr>
          <p:nvPr/>
        </p:nvPicPr>
        <p:blipFill>
          <a:blip r:embed="rId5"/>
          <a:stretch>
            <a:fillRect/>
          </a:stretch>
        </p:blipFill>
        <p:spPr>
          <a:xfrm>
            <a:off x="3246120" y="3566160"/>
            <a:ext cx="365760" cy="365760"/>
          </a:xfrm>
          <a:prstGeom prst="rect">
            <a:avLst/>
          </a:prstGeom>
        </p:spPr>
      </p:pic>
      <p:sp>
        <p:nvSpPr>
          <p:cNvPr id="12" name="Text 7"/>
          <p:cNvSpPr/>
          <p:nvPr/>
        </p:nvSpPr>
        <p:spPr>
          <a:xfrm>
            <a:off x="2743200" y="3977640"/>
            <a:ext cx="1554480" cy="365760"/>
          </a:xfrm>
          <a:prstGeom prst="rect">
            <a:avLst/>
          </a:prstGeom>
          <a:noFill/>
          <a:ln/>
        </p:spPr>
        <p:txBody>
          <a:bodyPr wrap="square" lIns="0" tIns="0" rIns="0" bIns="0" rtlCol="0" anchor="ctr"/>
          <a:lstStyle/>
          <a:p>
            <a:pPr marL="0" indent="0" algn="ctr">
              <a:buNone/>
            </a:pPr>
            <a:r>
              <a:rPr lang="en-US" sz="1000" dirty="0">
                <a:solidFill>
                  <a:srgbClr val="1A6B5A"/>
                </a:solidFill>
                <a:latin typeface="Calibri" pitchFamily="34" charset="0"/>
                <a:ea typeface="Calibri" pitchFamily="34" charset="-122"/>
                <a:cs typeface="Calibri" pitchFamily="34" charset="-120"/>
              </a:rPr>
              <a:t>Three-Tier Security</a:t>
            </a:r>
            <a:endParaRPr lang="en-US" sz="1000" dirty="0"/>
          </a:p>
        </p:txBody>
      </p:sp>
      <p:pic>
        <p:nvPicPr>
          <p:cNvPr id="13" name="Image 3" descr="preencoded.png"/>
          <p:cNvPicPr>
            <a:picLocks noChangeAspect="1"/>
          </p:cNvPicPr>
          <p:nvPr/>
        </p:nvPicPr>
        <p:blipFill>
          <a:blip r:embed="rId6"/>
          <a:stretch>
            <a:fillRect/>
          </a:stretch>
        </p:blipFill>
        <p:spPr>
          <a:xfrm>
            <a:off x="5257800" y="3566160"/>
            <a:ext cx="365760" cy="365760"/>
          </a:xfrm>
          <a:prstGeom prst="rect">
            <a:avLst/>
          </a:prstGeom>
        </p:spPr>
      </p:pic>
      <p:sp>
        <p:nvSpPr>
          <p:cNvPr id="14" name="Text 8"/>
          <p:cNvSpPr/>
          <p:nvPr/>
        </p:nvSpPr>
        <p:spPr>
          <a:xfrm>
            <a:off x="4754880" y="3977640"/>
            <a:ext cx="1554480" cy="365760"/>
          </a:xfrm>
          <a:prstGeom prst="rect">
            <a:avLst/>
          </a:prstGeom>
          <a:noFill/>
          <a:ln/>
        </p:spPr>
        <p:txBody>
          <a:bodyPr wrap="square" lIns="0" tIns="0" rIns="0" bIns="0" rtlCol="0" anchor="ctr"/>
          <a:lstStyle/>
          <a:p>
            <a:pPr marL="0" indent="0" algn="ctr">
              <a:buNone/>
            </a:pPr>
            <a:r>
              <a:rPr lang="en-US" sz="1000" dirty="0">
                <a:solidFill>
                  <a:srgbClr val="1A6B5A"/>
                </a:solidFill>
                <a:latin typeface="Calibri" pitchFamily="34" charset="0"/>
                <a:ea typeface="Calibri" pitchFamily="34" charset="-122"/>
                <a:cs typeface="Calibri" pitchFamily="34" charset="-120"/>
              </a:rPr>
              <a:t>Auto Scaling &amp; Recovery</a:t>
            </a:r>
            <a:endParaRPr lang="en-US" sz="1000" dirty="0"/>
          </a:p>
        </p:txBody>
      </p:sp>
      <p:pic>
        <p:nvPicPr>
          <p:cNvPr id="15" name="Image 4" descr="preencoded.png"/>
          <p:cNvPicPr>
            <a:picLocks noChangeAspect="1"/>
          </p:cNvPicPr>
          <p:nvPr/>
        </p:nvPicPr>
        <p:blipFill>
          <a:blip r:embed="rId7"/>
          <a:stretch>
            <a:fillRect/>
          </a:stretch>
        </p:blipFill>
        <p:spPr>
          <a:xfrm>
            <a:off x="7269480" y="3566160"/>
            <a:ext cx="365760" cy="365760"/>
          </a:xfrm>
          <a:prstGeom prst="rect">
            <a:avLst/>
          </a:prstGeom>
        </p:spPr>
      </p:pic>
      <p:sp>
        <p:nvSpPr>
          <p:cNvPr id="16" name="Text 9"/>
          <p:cNvSpPr/>
          <p:nvPr/>
        </p:nvSpPr>
        <p:spPr>
          <a:xfrm>
            <a:off x="6766560" y="3977640"/>
            <a:ext cx="1554480" cy="365760"/>
          </a:xfrm>
          <a:prstGeom prst="rect">
            <a:avLst/>
          </a:prstGeom>
          <a:noFill/>
          <a:ln/>
        </p:spPr>
        <p:txBody>
          <a:bodyPr wrap="square" lIns="0" tIns="0" rIns="0" bIns="0" rtlCol="0" anchor="ctr"/>
          <a:lstStyle/>
          <a:p>
            <a:pPr marL="0" indent="0" algn="ctr">
              <a:buNone/>
            </a:pPr>
            <a:r>
              <a:rPr lang="en-US" sz="1000" dirty="0">
                <a:solidFill>
                  <a:srgbClr val="1A6B5A"/>
                </a:solidFill>
                <a:latin typeface="Calibri" pitchFamily="34" charset="0"/>
                <a:ea typeface="Calibri" pitchFamily="34" charset="-122"/>
                <a:cs typeface="Calibri" pitchFamily="34" charset="-120"/>
              </a:rPr>
              <a:t>Managed RDS with Failover</a:t>
            </a:r>
            <a:endParaRPr lang="en-US" sz="1000" dirty="0"/>
          </a:p>
        </p:txBody>
      </p:sp>
      <p:sp>
        <p:nvSpPr>
          <p:cNvPr id="17" name="Text 10"/>
          <p:cNvSpPr/>
          <p:nvPr/>
        </p:nvSpPr>
        <p:spPr>
          <a:xfrm>
            <a:off x="1828800" y="4572000"/>
            <a:ext cx="5486400" cy="274320"/>
          </a:xfrm>
          <a:prstGeom prst="rect">
            <a:avLst/>
          </a:prstGeom>
          <a:noFill/>
          <a:ln/>
        </p:spPr>
        <p:txBody>
          <a:bodyPr wrap="square" lIns="0" tIns="0" rIns="0" bIns="0" rtlCol="0" anchor="ctr"/>
          <a:lstStyle/>
          <a:p>
            <a:pPr marL="0" indent="0" algn="ctr">
              <a:buNone/>
            </a:pPr>
            <a:r>
              <a:rPr lang="en-US" sz="1000" dirty="0">
                <a:solidFill>
                  <a:srgbClr val="5A6B7F"/>
                </a:solidFill>
                <a:latin typeface="Calibri" pitchFamily="34" charset="0"/>
                <a:ea typeface="Calibri" pitchFamily="34" charset="-122"/>
                <a:cs typeface="Calibri" pitchFamily="34" charset="-120"/>
              </a:rPr>
              <a:t>github.com/devsharma1209/taskmatch-aws-deployment</a:t>
            </a:r>
            <a:endParaRPr lang="en-US" sz="1000" dirty="0"/>
          </a:p>
        </p:txBody>
      </p:sp>
      <p:sp>
        <p:nvSpPr>
          <p:cNvPr id="18" name="Text 11"/>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5A6B7F"/>
                </a:solidFill>
                <a:latin typeface="Calibri" pitchFamily="34" charset="0"/>
                <a:ea typeface="Calibri" pitchFamily="34" charset="-122"/>
                <a:cs typeface="Calibri" pitchFamily="34" charset="-120"/>
              </a:rPr>
              <a:t>25 / 25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1630</Words>
  <Application>Microsoft Office PowerPoint</Application>
  <PresentationFormat>On-screen Show (16:9)</PresentationFormat>
  <Paragraphs>319</Paragraphs>
  <Slides>25</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TaskMatch - AWS Cloud Deployment</dc:title>
  <dc:subject>PptxGenJS Presentation</dc:subject>
  <dc:creator>TaskMatch Team</dc:creator>
  <cp:lastModifiedBy>Karrnidh Arora</cp:lastModifiedBy>
  <cp:revision>4</cp:revision>
  <dcterms:created xsi:type="dcterms:W3CDTF">2026-04-13T23:43:40Z</dcterms:created>
  <dcterms:modified xsi:type="dcterms:W3CDTF">2026-04-14T03:51:30Z</dcterms:modified>
</cp:coreProperties>
</file>